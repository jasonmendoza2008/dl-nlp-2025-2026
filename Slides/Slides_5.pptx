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8" r:id="rId3"/>
    <p:sldId id="268" r:id="rId4"/>
    <p:sldId id="269" r:id="rId5"/>
    <p:sldId id="270" r:id="rId6"/>
    <p:sldId id="274" r:id="rId7"/>
    <p:sldId id="271" r:id="rId8"/>
    <p:sldId id="272" r:id="rId9"/>
    <p:sldId id="273" r:id="rId10"/>
    <p:sldId id="280" r:id="rId11"/>
    <p:sldId id="275" r:id="rId12"/>
    <p:sldId id="277" r:id="rId13"/>
    <p:sldId id="278" r:id="rId14"/>
    <p:sldId id="279" r:id="rId15"/>
    <p:sldId id="281" r:id="rId16"/>
    <p:sldId id="260" r:id="rId17"/>
    <p:sldId id="282" r:id="rId18"/>
    <p:sldId id="283" r:id="rId19"/>
    <p:sldId id="297" r:id="rId20"/>
    <p:sldId id="284" r:id="rId21"/>
    <p:sldId id="285" r:id="rId22"/>
    <p:sldId id="286" r:id="rId23"/>
    <p:sldId id="263" r:id="rId24"/>
    <p:sldId id="265" r:id="rId25"/>
    <p:sldId id="266" r:id="rId26"/>
    <p:sldId id="267" r:id="rId27"/>
    <p:sldId id="264" r:id="rId28"/>
    <p:sldId id="367" r:id="rId29"/>
    <p:sldId id="368" r:id="rId3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volutions" id="{0A2168E3-FD8B-4F3D-8874-D289E3EA4470}">
          <p14:sldIdLst>
            <p14:sldId id="256"/>
            <p14:sldId id="258"/>
            <p14:sldId id="268"/>
            <p14:sldId id="269"/>
            <p14:sldId id="270"/>
            <p14:sldId id="274"/>
            <p14:sldId id="271"/>
            <p14:sldId id="272"/>
            <p14:sldId id="273"/>
            <p14:sldId id="280"/>
            <p14:sldId id="275"/>
            <p14:sldId id="277"/>
            <p14:sldId id="278"/>
            <p14:sldId id="279"/>
            <p14:sldId id="281"/>
            <p14:sldId id="260"/>
            <p14:sldId id="282"/>
            <p14:sldId id="283"/>
          </p14:sldIdLst>
        </p14:section>
        <p14:section name="SoftMax (reminder)" id="{9BF23EA0-711E-4C37-9BF1-E2FBB77C0D06}">
          <p14:sldIdLst>
            <p14:sldId id="297"/>
            <p14:sldId id="284"/>
            <p14:sldId id="285"/>
            <p14:sldId id="286"/>
          </p14:sldIdLst>
        </p14:section>
        <p14:section name="Data" id="{8607F6A5-12B9-4C53-A352-5F78A0541508}">
          <p14:sldIdLst>
            <p14:sldId id="263"/>
            <p14:sldId id="265"/>
            <p14:sldId id="266"/>
            <p14:sldId id="267"/>
            <p14:sldId id="264"/>
            <p14:sldId id="367"/>
            <p14:sldId id="3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028" autoAdjust="0"/>
  </p:normalViewPr>
  <p:slideViewPr>
    <p:cSldViewPr snapToGrid="0">
      <p:cViewPr varScale="1">
        <p:scale>
          <a:sx n="81" d="100"/>
          <a:sy n="81" d="100"/>
        </p:scale>
        <p:origin x="11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80C5B7-93EB-4041-B67E-DF3D3FCDBF73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507D58-F6A9-421C-A0F4-1C7055BD6DA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5857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dirty="0"/>
              <a:t>When you do a convolution from 3 input channels to 16 output channels, you have 16 filters, each filter has 3 channel-wise kernels (one per input channel).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07D58-F6A9-421C-A0F4-1C7055BD6DAC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0153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that we understand the general principle of convolutions, let’s look at addons.</a:t>
            </a:r>
          </a:p>
          <a:p>
            <a:r>
              <a:rPr lang="en-US" dirty="0"/>
              <a:t>First, we see that the output is smaller than the input (unless the kernel is 1x1); can we try to have an output image that is the same size as the input image?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47D23-764C-4404-9D36-DEB150D4E17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799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Yes! By adding some padding. NB: we can add different type of padding: zeros; specific values; torus; reflection; edges…</a:t>
            </a:r>
          </a:p>
          <a:p>
            <a:r>
              <a:rPr lang="en-US" dirty="0"/>
              <a:t>This also enables us to better capture what is happening near the edges.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NB: this padding technique is not always used, as not much is happening on the edges, and we usually want to reduce the size of images.</a:t>
            </a:r>
          </a:p>
          <a:p>
            <a:r>
              <a:rPr lang="en-US" dirty="0"/>
              <a:t>Now, the images are usually very big, we would like to reduce their dimension, how can we do that?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47D23-764C-4404-9D36-DEB150D4E17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9873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Striding manages to reduce the dimension</a:t>
            </a:r>
          </a:p>
          <a:p>
            <a:r>
              <a:rPr lang="en-US" dirty="0"/>
              <a:t>Can we try to produce better kernels?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47D23-764C-4404-9D36-DEB150D4E17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88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Dilation enables us to have larger kernels without increasing the number of parameters.</a:t>
            </a:r>
          </a:p>
          <a:p>
            <a:r>
              <a:rPr lang="en-US" dirty="0"/>
              <a:t>NB: this dilation technique is not commonly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47D23-764C-4404-9D36-DEB150D4E17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53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Convolution enables us to have smaller kernels thus reducing the number of parameters.</a:t>
            </a:r>
          </a:p>
          <a:p>
            <a:r>
              <a:rPr lang="en-US" dirty="0"/>
              <a:t>NB: this grouping technique is not commonly used, as convolutions have few parameters (compared to dense, for example)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47D23-764C-4404-9D36-DEB150D4E17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8722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47D23-764C-4404-9D36-DEB150D4E17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4362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47D23-764C-4404-9D36-DEB150D4E17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176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47D23-764C-4404-9D36-DEB150D4E17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5761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47D23-764C-4404-9D36-DEB150D4E17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2843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47D23-764C-4404-9D36-DEB150D4E17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0326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Another technique to reduce the images dimension is to add pooling layers: divide the images to rectangles, and either take the average value, or the maximum.</a:t>
            </a:r>
          </a:p>
          <a:p>
            <a:r>
              <a:rPr lang="en-US" dirty="0"/>
              <a:t>Note that max pooling is much more popular than the average.</a:t>
            </a:r>
          </a:p>
          <a:p>
            <a:r>
              <a:rPr lang="en-US" dirty="0"/>
              <a:t>In fact, average pooling is a convolution, with a uniform kernel, while max pooling introduces non-linearity.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47D23-764C-4404-9D36-DEB150D4E17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5921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47D23-764C-4404-9D36-DEB150D4E17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5286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Harmonic Mean: H = n/(1/x_1 + 1/x_2 + 1/x_3 + … + 1/</a:t>
            </a:r>
            <a:r>
              <a:rPr lang="en-US" dirty="0" err="1"/>
              <a:t>x_n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71428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A3F42-3D06-EA74-3C3D-0722F23CF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F73EB0-67B6-6BDE-DB40-BD559493C1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1DFAB-C834-FB01-886D-3D4F56C36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2F1C6-E0F5-24F4-7728-691DFEDF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49016-2564-FBA2-44D3-638364000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2993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6AE9E-5825-71EA-776B-D95AE15D5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3116B-7583-2F1E-2AFC-F0066F27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304F8-010B-E6D2-2297-6E3A34B52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9F0D5-A277-287B-8E2E-8E188F0ED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D7522-ECB9-B822-095E-A81A7C29D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1848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1DD8C-296F-3531-924D-37EF7CD7E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CA013-4E49-3868-5296-B086A891C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CDFF5-0455-4165-9DAD-4ADB3D2D3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4E52E-41A5-868E-2358-DD6B9F097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F0FEA-024E-239E-2B2A-9032DC656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9007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274A1-B06A-4690-7434-246A9B514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FE0E7-80C4-B2B7-9949-395726DB03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C94A9-1DAF-2264-62C7-3A470A1EAF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654BD-BED6-3258-8687-54B87FD4D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6B4132-4D53-8FDD-77DD-D67DB6942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0FA33-4234-502D-4639-E25770F61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7640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D04BF-B7AF-D3E5-090F-D64F0B8DF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04370-63E9-4F74-D36F-643C43AD3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62497-2020-A1E9-672F-68CA20D12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AEFAA2-58F3-7455-33D8-F4BC3F2B29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D34CFC-418C-B667-9769-DA569E618F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015868-F992-8495-6500-A7027D1A8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7306C5-5398-8D8C-9C05-6A0193E39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3840BC-997A-CA46-C0FD-6F3B2DC3E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0880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B4F65-6EA5-CCF5-5E52-0F85B0C3E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E37277-EDFB-EA63-980A-EE9CF4196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4D9623-6DF6-A41B-E7D9-340FDB553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210CA-4141-6263-8B30-AAFC8DC87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1736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CC07F4-7D8B-E013-BBA8-39ABBB195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BFBD5D-7F74-5306-2DC8-1791360C6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2CA79-606A-0362-B0CE-AD4B91681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9769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29752-5A9D-A57A-38D3-01EE72561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D5B8E-9D12-5537-B63E-1E55F5F09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1A795C-5C89-024B-E433-3208E1993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D1207-CB06-B7D6-D8DE-5A6CE48F0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67B28-B228-7AA6-C87B-DCBF7C1D4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1C915-2A73-A852-18ED-7AE298528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252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3DD8D-B968-590E-7787-E3FD18229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CDEEDC-24F6-FD14-34FF-F63246C7F4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5307A1-7082-8449-463E-CDE7CAAB46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54B0AD-43EF-B2EA-9C18-5F25DC6DC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4AA20-AD1C-6620-1C1B-696CE2863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8F35D1-2042-62E1-9F27-F9DC4CAD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7650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5D18E-C2DD-0233-9F72-B65E93BBB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DAC55-1CFB-61AD-B5B0-D4D6E3E8D2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4743D-A838-891D-B4B6-8653A6041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5FB9B-2E0A-1C9B-AB3F-2C680C88A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A0EE8-CD3F-576C-18C5-7E8280EF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8623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07E964-48B2-A01E-4D5A-1CB5E9BB3D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E28F7C-FA40-2B98-920E-E8F3FAC5BA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83C3B-6B0D-23AD-7F72-28BE30849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FB89A-59D9-7A4C-FFF5-87C1454DC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F1CE8-A44D-4973-4F73-CC9A010A6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2702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6322A6-F073-F6A7-E4CD-4073861B7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20E9E-4921-3F53-F8D6-3BD0305C5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86421-B13B-8962-42DE-6E25375CEC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64DF5-B1B5-4139-B72F-69308A643D97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09008-08C6-3ED7-454B-2F34643CA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EB2FD-69D4-F317-5868-549121CCE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F5805F-15B5-5A1B-776A-06117A64BB0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676190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a-comprehensive-guide-to-convolutional-neural-networks-the-eli5-way-3bd2b1164a53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github.com/vdumoulin/conv_arithmetic/blob/master/README.md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4A0A2-C176-FB16-D910-3F43F50B9C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Layers Types II</a:t>
            </a:r>
            <a:endParaRPr lang="en-US" sz="6000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A1A83F-9FEE-6699-0C1A-127ABB21B2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Lecture 5/10</a:t>
            </a:r>
          </a:p>
        </p:txBody>
      </p:sp>
    </p:spTree>
    <p:extLst>
      <p:ext uri="{BB962C8B-B14F-4D97-AF65-F5344CB8AC3E}">
        <p14:creationId xmlns:p14="http://schemas.microsoft.com/office/powerpoint/2010/main" val="3667752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5C877-FCC4-8B10-50C2-924FFD68C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layer</a:t>
            </a:r>
          </a:p>
        </p:txBody>
      </p:sp>
      <p:pic>
        <p:nvPicPr>
          <p:cNvPr id="7" name="Content Placeholder 6" descr="Diagram, engineering drawing&#10;&#10;Description automatically generated">
            <a:extLst>
              <a:ext uri="{FF2B5EF4-FFF2-40B4-BE49-F238E27FC236}">
                <a16:creationId xmlns:a16="http://schemas.microsoft.com/office/drawing/2014/main" id="{E3663BC4-474B-BC4A-F6F9-169B39248D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27981"/>
            <a:ext cx="10515600" cy="3546625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110AF0-E3A4-4C57-0020-1FAE7C1DC7B0}"/>
              </a:ext>
            </a:extLst>
          </p:cNvPr>
          <p:cNvSpPr txBox="1"/>
          <p:nvPr/>
        </p:nvSpPr>
        <p:spPr>
          <a:xfrm>
            <a:off x="0" y="6065089"/>
            <a:ext cx="115148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credit for this section: “</a:t>
            </a:r>
            <a:r>
              <a:rPr lang="en-US" b="1" dirty="0"/>
              <a:t>A Comprehensive Guide to Convolutional Neural Networks</a:t>
            </a:r>
            <a:r>
              <a:rPr lang="en-US" dirty="0"/>
              <a:t>“</a:t>
            </a:r>
          </a:p>
          <a:p>
            <a:r>
              <a:rPr lang="en-US" dirty="0">
                <a:hlinkClick r:id="rId3"/>
              </a:rPr>
              <a:t>https://towardsdatascience.com/a-comprehensive-guide-to-convolutional-neural-networks-the-eli5-way-3bd2b1164a53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73564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98E56-9D12-BDBD-1B31-D67024B6B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wrong with dense layers?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E77D1B06-6218-DA0F-0EAE-78A99E9861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63" y="1825625"/>
            <a:ext cx="5268713" cy="4351338"/>
          </a:xfrm>
        </p:spPr>
      </p:pic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66211A17-5C57-8254-ABCE-7B1AE1B844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0318" y="1825624"/>
            <a:ext cx="5983089" cy="435133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DA56396-BF6C-2DD3-443B-1B47AE49C94B}"/>
              </a:ext>
            </a:extLst>
          </p:cNvPr>
          <p:cNvCxnSpPr/>
          <p:nvPr/>
        </p:nvCxnSpPr>
        <p:spPr>
          <a:xfrm>
            <a:off x="5397876" y="1534160"/>
            <a:ext cx="0" cy="504952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622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8BE8C-A721-B74D-3006-F67AD9484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convolution?</a:t>
            </a:r>
          </a:p>
        </p:txBody>
      </p:sp>
      <p:pic>
        <p:nvPicPr>
          <p:cNvPr id="5" name="Content Placeholder 4" descr="A picture containing shape&#10;&#10;Description automatically generated">
            <a:extLst>
              <a:ext uri="{FF2B5EF4-FFF2-40B4-BE49-F238E27FC236}">
                <a16:creationId xmlns:a16="http://schemas.microsoft.com/office/drawing/2014/main" id="{D6B23995-AF73-C360-56EA-0281A0ABA6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9853" y="1509713"/>
            <a:ext cx="6825894" cy="4983162"/>
          </a:xfrm>
        </p:spPr>
      </p:pic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21B69939-B5EF-8029-2542-71190747CB43}"/>
              </a:ext>
            </a:extLst>
          </p:cNvPr>
          <p:cNvGraphicFramePr>
            <a:graphicFrameLocks noGrp="1"/>
          </p:cNvGraphicFramePr>
          <p:nvPr/>
        </p:nvGraphicFramePr>
        <p:xfrm>
          <a:off x="1911810" y="2761615"/>
          <a:ext cx="1784697" cy="186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899">
                  <a:extLst>
                    <a:ext uri="{9D8B030D-6E8A-4147-A177-3AD203B41FA5}">
                      <a16:colId xmlns:a16="http://schemas.microsoft.com/office/drawing/2014/main" val="3444401050"/>
                    </a:ext>
                  </a:extLst>
                </a:gridCol>
                <a:gridCol w="594899">
                  <a:extLst>
                    <a:ext uri="{9D8B030D-6E8A-4147-A177-3AD203B41FA5}">
                      <a16:colId xmlns:a16="http://schemas.microsoft.com/office/drawing/2014/main" val="955021344"/>
                    </a:ext>
                  </a:extLst>
                </a:gridCol>
                <a:gridCol w="594899">
                  <a:extLst>
                    <a:ext uri="{9D8B030D-6E8A-4147-A177-3AD203B41FA5}">
                      <a16:colId xmlns:a16="http://schemas.microsoft.com/office/drawing/2014/main" val="562493384"/>
                    </a:ext>
                  </a:extLst>
                </a:gridCol>
              </a:tblGrid>
              <a:tr h="620395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bg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marL="152974" marR="152974" marT="76487" marB="764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bg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marL="152974" marR="152974" marT="76487" marB="764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bg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marL="152974" marR="152974" marT="76487" marB="764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288027"/>
                  </a:ext>
                </a:extLst>
              </a:tr>
              <a:tr h="620395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bg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marL="152974" marR="152974" marT="76487" marB="764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bg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marL="152974" marR="152974" marT="76487" marB="764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bg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marL="152974" marR="152974" marT="76487" marB="764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531531"/>
                  </a:ext>
                </a:extLst>
              </a:tr>
              <a:tr h="620395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bg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marL="152974" marR="152974" marT="76487" marB="764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bg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marL="152974" marR="152974" marT="76487" marB="764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bg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marL="152974" marR="152974" marT="76487" marB="764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19915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FF052F6-DC23-D053-A126-89085658566D}"/>
              </a:ext>
            </a:extLst>
          </p:cNvPr>
          <p:cNvSpPr txBox="1"/>
          <p:nvPr/>
        </p:nvSpPr>
        <p:spPr>
          <a:xfrm>
            <a:off x="2172350" y="4876800"/>
            <a:ext cx="12636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“Kernel”</a:t>
            </a:r>
          </a:p>
        </p:txBody>
      </p:sp>
    </p:spTree>
    <p:extLst>
      <p:ext uri="{BB962C8B-B14F-4D97-AF65-F5344CB8AC3E}">
        <p14:creationId xmlns:p14="http://schemas.microsoft.com/office/powerpoint/2010/main" val="4116401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F7210-EBD1-B3B0-559F-4D169A9D6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image is RGB?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4F2A7F37-9AF8-A9D3-A10E-A866655EB8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64" y="1825625"/>
            <a:ext cx="3063792" cy="4351338"/>
          </a:xfrm>
        </p:spPr>
      </p:pic>
      <p:pic>
        <p:nvPicPr>
          <p:cNvPr id="7" name="Picture 6" descr="A picture containing calendar&#10;&#10;Description automatically generated">
            <a:extLst>
              <a:ext uri="{FF2B5EF4-FFF2-40B4-BE49-F238E27FC236}">
                <a16:creationId xmlns:a16="http://schemas.microsoft.com/office/drawing/2014/main" id="{5346C863-616C-F451-094F-F19956EDD6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9196" y="1690688"/>
            <a:ext cx="7985279" cy="448627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E894D3-F8CD-32A1-8355-6CEABE54DA73}"/>
              </a:ext>
            </a:extLst>
          </p:cNvPr>
          <p:cNvCxnSpPr/>
          <p:nvPr/>
        </p:nvCxnSpPr>
        <p:spPr>
          <a:xfrm>
            <a:off x="3660516" y="1534160"/>
            <a:ext cx="0" cy="504952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538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361E-6177-BFF2-2081-85EAB8C4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Plain Convolution</a:t>
            </a:r>
          </a:p>
        </p:txBody>
      </p:sp>
      <p:pic>
        <p:nvPicPr>
          <p:cNvPr id="4" name="Picture 3" descr="A picture containing businesscard&#10;&#10;Description automatically generated">
            <a:extLst>
              <a:ext uri="{FF2B5EF4-FFF2-40B4-BE49-F238E27FC236}">
                <a16:creationId xmlns:a16="http://schemas.microsoft.com/office/drawing/2014/main" id="{4E4ED7A5-A217-EEE7-683E-85AF140523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2562" y="1997025"/>
            <a:ext cx="3946875" cy="41895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51904B-2969-FBA6-9659-DB331A370135}"/>
              </a:ext>
            </a:extLst>
          </p:cNvPr>
          <p:cNvSpPr txBox="1"/>
          <p:nvPr/>
        </p:nvSpPr>
        <p:spPr>
          <a:xfrm>
            <a:off x="838200" y="6492875"/>
            <a:ext cx="10499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Animations credits for this section: </a:t>
            </a:r>
            <a:r>
              <a:rPr lang="en-US" dirty="0">
                <a:hlinkClick r:id="rId4"/>
              </a:rPr>
              <a:t>https://github.com/vdumoulin/conv_arithmetic/blob/master/README.md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84810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11F70D-CF62-CFA6-9C6D-545A68F56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Padding</a:t>
            </a:r>
          </a:p>
        </p:txBody>
      </p:sp>
      <p:pic>
        <p:nvPicPr>
          <p:cNvPr id="12" name="Content Placeholder 11" descr="Shape&#10;&#10;Description automatically generated">
            <a:extLst>
              <a:ext uri="{FF2B5EF4-FFF2-40B4-BE49-F238E27FC236}">
                <a16:creationId xmlns:a16="http://schemas.microsoft.com/office/drawing/2014/main" id="{5A81BF17-E37C-B5CB-2A04-87966CAFA2FA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041" y="1690688"/>
            <a:ext cx="4224641" cy="4802187"/>
          </a:xfr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80E5926-C89F-4A97-7F84-54213108446C}"/>
              </a:ext>
            </a:extLst>
          </p:cNvPr>
          <p:cNvCxnSpPr>
            <a:cxnSpLocks/>
          </p:cNvCxnSpPr>
          <p:nvPr/>
        </p:nvCxnSpPr>
        <p:spPr>
          <a:xfrm>
            <a:off x="4309041" y="3455670"/>
            <a:ext cx="1136329" cy="1028045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C705306-FD60-98EA-4088-99B7E1CF568D}"/>
              </a:ext>
            </a:extLst>
          </p:cNvPr>
          <p:cNvSpPr txBox="1"/>
          <p:nvPr/>
        </p:nvSpPr>
        <p:spPr>
          <a:xfrm>
            <a:off x="2793228" y="2870895"/>
            <a:ext cx="1823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Padding</a:t>
            </a:r>
          </a:p>
        </p:txBody>
      </p:sp>
    </p:spTree>
    <p:extLst>
      <p:ext uri="{BB962C8B-B14F-4D97-AF65-F5344CB8AC3E}">
        <p14:creationId xmlns:p14="http://schemas.microsoft.com/office/powerpoint/2010/main" val="4258309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11F70D-CF62-CFA6-9C6D-545A68F56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Striding</a:t>
            </a:r>
          </a:p>
        </p:txBody>
      </p:sp>
      <p:pic>
        <p:nvPicPr>
          <p:cNvPr id="8" name="Content Placeholder 7" descr="A picture containing businesscard&#10;&#10;Description automatically generated">
            <a:extLst>
              <a:ext uri="{FF2B5EF4-FFF2-40B4-BE49-F238E27FC236}">
                <a16:creationId xmlns:a16="http://schemas.microsoft.com/office/drawing/2014/main" id="{35645857-1A77-7F31-04AE-3D4319AB6C24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08" y="2035818"/>
            <a:ext cx="4550384" cy="4457057"/>
          </a:xfr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19CA3E3-8D0F-A4F5-80C1-3290AD5727B7}"/>
              </a:ext>
            </a:extLst>
          </p:cNvPr>
          <p:cNvCxnSpPr>
            <a:cxnSpLocks/>
          </p:cNvCxnSpPr>
          <p:nvPr/>
        </p:nvCxnSpPr>
        <p:spPr>
          <a:xfrm flipV="1">
            <a:off x="5310822" y="4336866"/>
            <a:ext cx="914400" cy="4397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B48D519-C45A-FE01-05AD-E95D8526E106}"/>
              </a:ext>
            </a:extLst>
          </p:cNvPr>
          <p:cNvCxnSpPr>
            <a:cxnSpLocks/>
          </p:cNvCxnSpPr>
          <p:nvPr/>
        </p:nvCxnSpPr>
        <p:spPr>
          <a:xfrm>
            <a:off x="5368814" y="4845128"/>
            <a:ext cx="532765" cy="474742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50B949F-1E43-ADDF-1307-61D12EBA1FC0}"/>
              </a:ext>
            </a:extLst>
          </p:cNvPr>
          <p:cNvSpPr txBox="1"/>
          <p:nvPr/>
        </p:nvSpPr>
        <p:spPr>
          <a:xfrm>
            <a:off x="2265543" y="4264346"/>
            <a:ext cx="1624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Striding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20A396C-A258-2C16-2256-A2DAB4457D80}"/>
              </a:ext>
            </a:extLst>
          </p:cNvPr>
          <p:cNvCxnSpPr>
            <a:cxnSpLocks/>
          </p:cNvCxnSpPr>
          <p:nvPr/>
        </p:nvCxnSpPr>
        <p:spPr>
          <a:xfrm flipV="1">
            <a:off x="5936118" y="4880136"/>
            <a:ext cx="914400" cy="4397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71A6907-DB81-7771-6171-42FA09C52319}"/>
              </a:ext>
            </a:extLst>
          </p:cNvPr>
          <p:cNvCxnSpPr>
            <a:cxnSpLocks/>
          </p:cNvCxnSpPr>
          <p:nvPr/>
        </p:nvCxnSpPr>
        <p:spPr>
          <a:xfrm>
            <a:off x="6317753" y="4370386"/>
            <a:ext cx="532765" cy="474742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4022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4E105-B120-27A0-F63C-880A5DA0C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Dilation</a:t>
            </a:r>
          </a:p>
        </p:txBody>
      </p:sp>
      <p:pic>
        <p:nvPicPr>
          <p:cNvPr id="4" name="Picture 3" descr="A picture containing businesscard, envelope&#10;&#10;Description automatically generated">
            <a:extLst>
              <a:ext uri="{FF2B5EF4-FFF2-40B4-BE49-F238E27FC236}">
                <a16:creationId xmlns:a16="http://schemas.microsoft.com/office/drawing/2014/main" id="{867E87EB-9BD6-1A3A-F664-E48FB83BBF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7177" y="1614487"/>
            <a:ext cx="5057646" cy="4878388"/>
          </a:xfrm>
          <a:prstGeom prst="rect">
            <a:avLst/>
          </a:prstGeom>
        </p:spPr>
      </p:pic>
      <p:graphicFrame>
        <p:nvGraphicFramePr>
          <p:cNvPr id="12" name="Table 7">
            <a:extLst>
              <a:ext uri="{FF2B5EF4-FFF2-40B4-BE49-F238E27FC236}">
                <a16:creationId xmlns:a16="http://schemas.microsoft.com/office/drawing/2014/main" id="{55979FEF-9B3E-7936-E54F-A2B657F8528D}"/>
              </a:ext>
            </a:extLst>
          </p:cNvPr>
          <p:cNvGraphicFramePr>
            <a:graphicFrameLocks noGrp="1"/>
          </p:cNvGraphicFramePr>
          <p:nvPr/>
        </p:nvGraphicFramePr>
        <p:xfrm>
          <a:off x="1043710" y="1777768"/>
          <a:ext cx="1213353" cy="1265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451">
                  <a:extLst>
                    <a:ext uri="{9D8B030D-6E8A-4147-A177-3AD203B41FA5}">
                      <a16:colId xmlns:a16="http://schemas.microsoft.com/office/drawing/2014/main" val="3444401050"/>
                    </a:ext>
                  </a:extLst>
                </a:gridCol>
                <a:gridCol w="404451">
                  <a:extLst>
                    <a:ext uri="{9D8B030D-6E8A-4147-A177-3AD203B41FA5}">
                      <a16:colId xmlns:a16="http://schemas.microsoft.com/office/drawing/2014/main" val="955021344"/>
                    </a:ext>
                  </a:extLst>
                </a:gridCol>
                <a:gridCol w="404451">
                  <a:extLst>
                    <a:ext uri="{9D8B030D-6E8A-4147-A177-3AD203B41FA5}">
                      <a16:colId xmlns:a16="http://schemas.microsoft.com/office/drawing/2014/main" val="562493384"/>
                    </a:ext>
                  </a:extLst>
                </a:gridCol>
              </a:tblGrid>
              <a:tr h="42178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marL="104002" marR="104002" marT="52001" marB="52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marL="104002" marR="104002" marT="52001" marB="52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marL="104002" marR="104002" marT="52001" marB="52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288027"/>
                  </a:ext>
                </a:extLst>
              </a:tr>
              <a:tr h="42178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marL="104002" marR="104002" marT="52001" marB="52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marL="104002" marR="104002" marT="52001" marB="52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marL="104002" marR="104002" marT="52001" marB="52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531531"/>
                  </a:ext>
                </a:extLst>
              </a:tr>
              <a:tr h="42178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marL="104002" marR="104002" marT="52001" marB="52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marL="104002" marR="104002" marT="52001" marB="52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marL="104002" marR="104002" marT="52001" marB="52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199157"/>
                  </a:ext>
                </a:extLst>
              </a:tr>
            </a:tbl>
          </a:graphicData>
        </a:graphic>
      </p:graphicFrame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193A0F58-38AC-3195-6C47-413F91866C80}"/>
              </a:ext>
            </a:extLst>
          </p:cNvPr>
          <p:cNvGraphicFramePr>
            <a:graphicFrameLocks noGrp="1"/>
          </p:cNvGraphicFramePr>
          <p:nvPr/>
        </p:nvGraphicFramePr>
        <p:xfrm>
          <a:off x="559793" y="4381515"/>
          <a:ext cx="2181185" cy="211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237">
                  <a:extLst>
                    <a:ext uri="{9D8B030D-6E8A-4147-A177-3AD203B41FA5}">
                      <a16:colId xmlns:a16="http://schemas.microsoft.com/office/drawing/2014/main" val="3023780635"/>
                    </a:ext>
                  </a:extLst>
                </a:gridCol>
                <a:gridCol w="436237">
                  <a:extLst>
                    <a:ext uri="{9D8B030D-6E8A-4147-A177-3AD203B41FA5}">
                      <a16:colId xmlns:a16="http://schemas.microsoft.com/office/drawing/2014/main" val="2153506369"/>
                    </a:ext>
                  </a:extLst>
                </a:gridCol>
                <a:gridCol w="436237">
                  <a:extLst>
                    <a:ext uri="{9D8B030D-6E8A-4147-A177-3AD203B41FA5}">
                      <a16:colId xmlns:a16="http://schemas.microsoft.com/office/drawing/2014/main" val="3872066670"/>
                    </a:ext>
                  </a:extLst>
                </a:gridCol>
                <a:gridCol w="436237">
                  <a:extLst>
                    <a:ext uri="{9D8B030D-6E8A-4147-A177-3AD203B41FA5}">
                      <a16:colId xmlns:a16="http://schemas.microsoft.com/office/drawing/2014/main" val="2002218314"/>
                    </a:ext>
                  </a:extLst>
                </a:gridCol>
                <a:gridCol w="436237">
                  <a:extLst>
                    <a:ext uri="{9D8B030D-6E8A-4147-A177-3AD203B41FA5}">
                      <a16:colId xmlns:a16="http://schemas.microsoft.com/office/drawing/2014/main" val="364554277"/>
                    </a:ext>
                  </a:extLst>
                </a:gridCol>
              </a:tblGrid>
              <a:tr h="42227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426826"/>
                  </a:ext>
                </a:extLst>
              </a:tr>
              <a:tr h="422272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389192"/>
                  </a:ext>
                </a:extLst>
              </a:tr>
              <a:tr h="42227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709669"/>
                  </a:ext>
                </a:extLst>
              </a:tr>
              <a:tr h="422272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851017"/>
                  </a:ext>
                </a:extLst>
              </a:tr>
              <a:tr h="42227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49706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7B8F329-2103-B0EA-D06B-27BC82247DF2}"/>
              </a:ext>
            </a:extLst>
          </p:cNvPr>
          <p:cNvSpPr txBox="1"/>
          <p:nvPr/>
        </p:nvSpPr>
        <p:spPr>
          <a:xfrm>
            <a:off x="2390375" y="3419932"/>
            <a:ext cx="15274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C000"/>
                </a:solidFill>
              </a:rPr>
              <a:t>Dilation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FAA6DCE-CF1C-6194-D421-62F250DB6EB7}"/>
              </a:ext>
            </a:extLst>
          </p:cNvPr>
          <p:cNvSpPr/>
          <p:nvPr/>
        </p:nvSpPr>
        <p:spPr>
          <a:xfrm>
            <a:off x="2016366" y="3093073"/>
            <a:ext cx="372645" cy="1238491"/>
          </a:xfrm>
          <a:custGeom>
            <a:avLst/>
            <a:gdLst>
              <a:gd name="connsiteX0" fmla="*/ 0 w 372645"/>
              <a:gd name="connsiteY0" fmla="*/ 0 h 1238491"/>
              <a:gd name="connsiteX1" fmla="*/ 370390 w 372645"/>
              <a:gd name="connsiteY1" fmla="*/ 555585 h 1238491"/>
              <a:gd name="connsiteX2" fmla="*/ 127322 w 372645"/>
              <a:gd name="connsiteY2" fmla="*/ 1238491 h 1238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2645" h="1238491">
                <a:moveTo>
                  <a:pt x="0" y="0"/>
                </a:moveTo>
                <a:cubicBezTo>
                  <a:pt x="174585" y="174585"/>
                  <a:pt x="349170" y="349170"/>
                  <a:pt x="370390" y="555585"/>
                </a:cubicBezTo>
                <a:cubicBezTo>
                  <a:pt x="391610" y="762000"/>
                  <a:pt x="259466" y="1000245"/>
                  <a:pt x="127322" y="1238491"/>
                </a:cubicBezTo>
              </a:path>
            </a:pathLst>
          </a:custGeom>
          <a:noFill/>
          <a:ln w="57150"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116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DDE1E-AF8B-9476-B6CD-5B398B08F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convolution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8E1D5053-C403-2697-DEEF-FD17532D28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958" y="1848153"/>
            <a:ext cx="9146084" cy="4306281"/>
          </a:xfrm>
        </p:spPr>
      </p:pic>
    </p:spTree>
    <p:extLst>
      <p:ext uri="{BB962C8B-B14F-4D97-AF65-F5344CB8AC3E}">
        <p14:creationId xmlns:p14="http://schemas.microsoft.com/office/powerpoint/2010/main" val="496462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BA092-8276-1750-487C-FD6B2148A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 output formula: plain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BCBD0E-EB29-6951-EAC5-9C7D4BCEDF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dirty="0"/>
                  <a:t>Kernel: 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	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 marL="0" indent="0" algn="ctr">
                  <a:buNone/>
                </a:pPr>
                <a:r>
                  <a:rPr lang="en-US" dirty="0"/>
                  <a:t>Input image: 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𝑜𝑢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ker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∗ 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1≤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BCBD0E-EB29-6951-EAC5-9C7D4BCEDF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3"/>
                <a:stretch>
                  <a:fillRect t="-169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6101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BA092-8276-1750-487C-FD6B2148A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 output formula: padding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BCBD0E-EB29-6951-EAC5-9C7D4BCEDF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dirty="0"/>
                  <a:t>Kernel: 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	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 marL="0" indent="0" algn="ctr">
                  <a:buNone/>
                </a:pPr>
                <a:r>
                  <a:rPr lang="en-US" dirty="0"/>
                  <a:t>Input image: 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 algn="ctr">
                  <a:buNone/>
                </a:pPr>
                <a:r>
                  <a:rPr lang="en-US" dirty="0"/>
                  <a:t>Padding: 	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𝑜𝑢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ker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∗ 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1≤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BCBD0E-EB29-6951-EAC5-9C7D4BCEDF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3"/>
                <a:stretch>
                  <a:fillRect t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9783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BA092-8276-1750-487C-FD6B2148A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 output formula: striding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BCBD0E-EB29-6951-EAC5-9C7D4BCEDF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 algn="ctr">
                  <a:buNone/>
                </a:pPr>
                <a:r>
                  <a:rPr lang="en-US" dirty="0"/>
                  <a:t>Kernel: 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	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 marL="0" indent="0" algn="ctr">
                  <a:buNone/>
                </a:pPr>
                <a:r>
                  <a:rPr lang="en-US" dirty="0"/>
                  <a:t>Input image: 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 algn="ctr">
                  <a:buNone/>
                </a:pPr>
                <a:r>
                  <a:rPr lang="en-US" dirty="0"/>
                  <a:t>Padding: 	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Striding:	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𝑜𝑢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ker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∗ 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1≤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sz="1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BCBD0E-EB29-6951-EAC5-9C7D4BCEDF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3"/>
                <a:stretch>
                  <a:fillRect t="-2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8025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BA092-8276-1750-487C-FD6B2148A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Convolution output formula: dilation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BCBD0E-EB29-6951-EAC5-9C7D4BCEDF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25564"/>
                <a:ext cx="10515600" cy="5532436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 algn="ctr">
                  <a:buNone/>
                </a:pPr>
                <a:r>
                  <a:rPr lang="en-US" dirty="0"/>
                  <a:t>Kernel: 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Input image: 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Padding: 	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Striding:	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Dilation:	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𝑜𝑢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ker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∗ 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1≤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sz="1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BCBD0E-EB29-6951-EAC5-9C7D4BCEDF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25564"/>
                <a:ext cx="10515600" cy="5532436"/>
              </a:xfrm>
              <a:blipFill>
                <a:blip r:embed="rId3"/>
                <a:stretch>
                  <a:fillRect t="-1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0637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BA092-8276-1750-487C-FD6B2148A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Convolution output formula: bias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BCBD0E-EB29-6951-EAC5-9C7D4BCEDF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25564"/>
                <a:ext cx="10515600" cy="5532436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 algn="ctr">
                  <a:buNone/>
                </a:pPr>
                <a:r>
                  <a:rPr lang="en-US" dirty="0"/>
                  <a:t>Kernel: 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Input image: 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Padding: 	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Striding:	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Dilation:	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Bias:		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𝑜𝑢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ker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∗ 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1≤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sz="1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BCBD0E-EB29-6951-EAC5-9C7D4BCEDF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25564"/>
                <a:ext cx="10515600" cy="5532436"/>
              </a:xfrm>
              <a:blipFill>
                <a:blip r:embed="rId3"/>
                <a:stretch>
                  <a:fillRect t="-18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7989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64117-189B-1877-CA45-9F7123D63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Pooling layer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9CE90F7-8855-D8CF-3866-C9E757FF04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24447" y="2234160"/>
            <a:ext cx="3591426" cy="3534268"/>
          </a:xfr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9EA3EA03-ADCB-F00C-68DE-D034BFD97534}"/>
              </a:ext>
            </a:extLst>
          </p:cNvPr>
          <p:cNvGrpSpPr/>
          <p:nvPr/>
        </p:nvGrpSpPr>
        <p:grpSpPr>
          <a:xfrm>
            <a:off x="5615873" y="1690688"/>
            <a:ext cx="6175980" cy="2017712"/>
            <a:chOff x="5615873" y="1690688"/>
            <a:chExt cx="6175980" cy="2017712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A804472-FEA4-B489-AB97-65BDB3459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39490" y="1690688"/>
              <a:ext cx="1895740" cy="1848108"/>
            </a:xfrm>
            <a:prstGeom prst="rect">
              <a:avLst/>
            </a:prstGeom>
          </p:spPr>
        </p:pic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DF20C32-ABE7-C7BC-EEAE-D93230E4EC74}"/>
                </a:ext>
              </a:extLst>
            </p:cNvPr>
            <p:cNvCxnSpPr>
              <a:endCxn id="13" idx="1"/>
            </p:cNvCxnSpPr>
            <p:nvPr/>
          </p:nvCxnSpPr>
          <p:spPr>
            <a:xfrm flipV="1">
              <a:off x="5615873" y="2614742"/>
              <a:ext cx="1523617" cy="1093658"/>
            </a:xfrm>
            <a:prstGeom prst="straightConnector1">
              <a:avLst/>
            </a:prstGeom>
            <a:ln w="7620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C8012E3-79F1-827E-B801-753A5DE7AA5E}"/>
                </a:ext>
              </a:extLst>
            </p:cNvPr>
            <p:cNvSpPr txBox="1"/>
            <p:nvPr/>
          </p:nvSpPr>
          <p:spPr>
            <a:xfrm>
              <a:off x="9207299" y="2353132"/>
              <a:ext cx="25845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Average pooling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D3ABE77-D095-4157-B05C-4CCD9D3CE7B9}"/>
              </a:ext>
            </a:extLst>
          </p:cNvPr>
          <p:cNvGrpSpPr/>
          <p:nvPr/>
        </p:nvGrpSpPr>
        <p:grpSpPr>
          <a:xfrm>
            <a:off x="5615871" y="4328603"/>
            <a:ext cx="5627433" cy="2012026"/>
            <a:chOff x="5615871" y="4328603"/>
            <a:chExt cx="5627433" cy="201202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543E820-E920-5C04-2D3E-9760F28079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39488" y="4483777"/>
              <a:ext cx="1895739" cy="1856852"/>
            </a:xfrm>
            <a:prstGeom prst="rect">
              <a:avLst/>
            </a:prstGeom>
          </p:spPr>
        </p:pic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F950472-49C4-9ADD-7358-81B585D9A77F}"/>
                </a:ext>
              </a:extLst>
            </p:cNvPr>
            <p:cNvCxnSpPr>
              <a:cxnSpLocks/>
            </p:cNvCxnSpPr>
            <p:nvPr/>
          </p:nvCxnSpPr>
          <p:spPr>
            <a:xfrm>
              <a:off x="5615871" y="4328603"/>
              <a:ext cx="1523617" cy="1093658"/>
            </a:xfrm>
            <a:prstGeom prst="straightConnector1">
              <a:avLst/>
            </a:prstGeom>
            <a:ln w="7620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F4B4F44-6A1F-0B40-B8D1-634DF58DAFDD}"/>
                </a:ext>
              </a:extLst>
            </p:cNvPr>
            <p:cNvSpPr txBox="1"/>
            <p:nvPr/>
          </p:nvSpPr>
          <p:spPr>
            <a:xfrm>
              <a:off x="9207297" y="5150593"/>
              <a:ext cx="203600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Max pooling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2517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BA092-8276-1750-487C-FD6B2148A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Max pooling output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BCBD0E-EB29-6951-EAC5-9C7D4BCEDF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25564"/>
                <a:ext cx="10515600" cy="5532436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 algn="ctr">
                  <a:buNone/>
                </a:pPr>
                <a:r>
                  <a:rPr lang="en-US" dirty="0"/>
                  <a:t>Input image:	 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Kernel: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Padding: 	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Striding:	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Dilation:	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𝑜𝑢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1≤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≤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1≤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≤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eqAr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1≤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sz="1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BCBD0E-EB29-6951-EAC5-9C7D4BCEDF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25564"/>
                <a:ext cx="10515600" cy="5532436"/>
              </a:xfrm>
              <a:blipFill>
                <a:blip r:embed="rId3"/>
                <a:stretch>
                  <a:fillRect t="-25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6941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F1C5C-5441-2C27-6A40-3FB543624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with dense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01C2C0-7D80-E069-2559-9E34202FC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335" y="1845809"/>
            <a:ext cx="2191327" cy="22987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7D4409-5176-F675-2FF2-EB153BFEC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168" y="4299674"/>
            <a:ext cx="11697659" cy="14622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4AF5F73-4F29-A33B-1470-60E06B85272E}"/>
              </a:ext>
            </a:extLst>
          </p:cNvPr>
          <p:cNvSpPr txBox="1"/>
          <p:nvPr/>
        </p:nvSpPr>
        <p:spPr>
          <a:xfrm>
            <a:off x="7836060" y="2035106"/>
            <a:ext cx="19924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Convolution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21E3757-166A-EABC-C6B4-BDC9C0ADB1EA}"/>
              </a:ext>
            </a:extLst>
          </p:cNvPr>
          <p:cNvSpPr/>
          <p:nvPr/>
        </p:nvSpPr>
        <p:spPr>
          <a:xfrm>
            <a:off x="5833641" y="1902901"/>
            <a:ext cx="2071868" cy="342588"/>
          </a:xfrm>
          <a:custGeom>
            <a:avLst/>
            <a:gdLst>
              <a:gd name="connsiteX0" fmla="*/ 2071868 w 2071868"/>
              <a:gd name="connsiteY0" fmla="*/ 342588 h 342588"/>
              <a:gd name="connsiteX1" fmla="*/ 1226916 w 2071868"/>
              <a:gd name="connsiteY1" fmla="*/ 30071 h 342588"/>
              <a:gd name="connsiteX2" fmla="*/ 0 w 2071868"/>
              <a:gd name="connsiteY2" fmla="*/ 30071 h 34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71868" h="342588">
                <a:moveTo>
                  <a:pt x="2071868" y="342588"/>
                </a:moveTo>
                <a:cubicBezTo>
                  <a:pt x="1822047" y="212372"/>
                  <a:pt x="1572227" y="82157"/>
                  <a:pt x="1226916" y="30071"/>
                </a:cubicBezTo>
                <a:cubicBezTo>
                  <a:pt x="881605" y="-22015"/>
                  <a:pt x="440802" y="4028"/>
                  <a:pt x="0" y="30071"/>
                </a:cubicBezTo>
              </a:path>
            </a:pathLst>
          </a:custGeom>
          <a:noFill/>
          <a:ln w="57150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54B59FB-A687-819F-99B3-C5881AF39E6B}"/>
              </a:ext>
            </a:extLst>
          </p:cNvPr>
          <p:cNvSpPr/>
          <p:nvPr/>
        </p:nvSpPr>
        <p:spPr>
          <a:xfrm rot="5400000" flipV="1">
            <a:off x="6694004" y="5491005"/>
            <a:ext cx="995316" cy="420151"/>
          </a:xfrm>
          <a:custGeom>
            <a:avLst/>
            <a:gdLst>
              <a:gd name="connsiteX0" fmla="*/ 2071868 w 2071868"/>
              <a:gd name="connsiteY0" fmla="*/ 342588 h 342588"/>
              <a:gd name="connsiteX1" fmla="*/ 1226916 w 2071868"/>
              <a:gd name="connsiteY1" fmla="*/ 30071 h 342588"/>
              <a:gd name="connsiteX2" fmla="*/ 0 w 2071868"/>
              <a:gd name="connsiteY2" fmla="*/ 30071 h 34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71868" h="342588">
                <a:moveTo>
                  <a:pt x="2071868" y="342588"/>
                </a:moveTo>
                <a:cubicBezTo>
                  <a:pt x="1822047" y="212372"/>
                  <a:pt x="1572227" y="82157"/>
                  <a:pt x="1226916" y="30071"/>
                </a:cubicBezTo>
                <a:cubicBezTo>
                  <a:pt x="881605" y="-22015"/>
                  <a:pt x="440802" y="4028"/>
                  <a:pt x="0" y="30071"/>
                </a:cubicBezTo>
              </a:path>
            </a:pathLst>
          </a:custGeom>
          <a:noFill/>
          <a:ln w="57150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42CD30-10A8-04B4-0395-A8FB80422B05}"/>
              </a:ext>
            </a:extLst>
          </p:cNvPr>
          <p:cNvSpPr txBox="1"/>
          <p:nvPr/>
        </p:nvSpPr>
        <p:spPr>
          <a:xfrm>
            <a:off x="7401738" y="5969655"/>
            <a:ext cx="27697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Dense equivalent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6EA8B9-B847-5C5C-27BA-D2BDCA62E56D}"/>
              </a:ext>
            </a:extLst>
          </p:cNvPr>
          <p:cNvCxnSpPr>
            <a:cxnSpLocks/>
          </p:cNvCxnSpPr>
          <p:nvPr/>
        </p:nvCxnSpPr>
        <p:spPr>
          <a:xfrm>
            <a:off x="351220" y="4254192"/>
            <a:ext cx="11489561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303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1BA05-7638-0136-E7AA-B527B0596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SoftMax Layer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854B02C-464B-306C-A1CD-B723CE122F0E}"/>
              </a:ext>
            </a:extLst>
          </p:cNvPr>
          <p:cNvGraphicFramePr>
            <a:graphicFrameLocks noGrp="1"/>
          </p:cNvGraphicFramePr>
          <p:nvPr/>
        </p:nvGraphicFramePr>
        <p:xfrm>
          <a:off x="1364960" y="1690688"/>
          <a:ext cx="753207" cy="4604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3207">
                  <a:extLst>
                    <a:ext uri="{9D8B030D-6E8A-4147-A177-3AD203B41FA5}">
                      <a16:colId xmlns:a16="http://schemas.microsoft.com/office/drawing/2014/main" val="722411162"/>
                    </a:ext>
                  </a:extLst>
                </a:gridCol>
              </a:tblGrid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004469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118035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3.2</a:t>
                      </a: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595484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9.8</a:t>
                      </a: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411660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1.7</a:t>
                      </a: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5953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4.2</a:t>
                      </a: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57815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7F0C801-8190-FE66-08C7-9C86C7817D49}"/>
              </a:ext>
            </a:extLst>
          </p:cNvPr>
          <p:cNvGraphicFramePr>
            <a:graphicFrameLocks noGrp="1"/>
          </p:cNvGraphicFramePr>
          <p:nvPr/>
        </p:nvGraphicFramePr>
        <p:xfrm>
          <a:off x="5342793" y="1690688"/>
          <a:ext cx="1602017" cy="4604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017">
                  <a:extLst>
                    <a:ext uri="{9D8B030D-6E8A-4147-A177-3AD203B41FA5}">
                      <a16:colId xmlns:a16="http://schemas.microsoft.com/office/drawing/2014/main" val="722411162"/>
                    </a:ext>
                  </a:extLst>
                </a:gridCol>
              </a:tblGrid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0.09345794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004469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0.02336449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118035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0.14953271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595484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0.45794393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411660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0.07943925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5953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0.19626168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578153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A5EB76F-D4FB-BA6C-0B67-065A661FEA6F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118167" y="3993032"/>
            <a:ext cx="3224626" cy="0"/>
          </a:xfrm>
          <a:prstGeom prst="straightConnector1">
            <a:avLst/>
          </a:prstGeom>
          <a:ln w="762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4316D48-F6AA-F053-EA68-2821CFCD8EA6}"/>
              </a:ext>
            </a:extLst>
          </p:cNvPr>
          <p:cNvSpPr txBox="1"/>
          <p:nvPr/>
        </p:nvSpPr>
        <p:spPr>
          <a:xfrm>
            <a:off x="2334135" y="3013501"/>
            <a:ext cx="27926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Normalize</a:t>
            </a:r>
          </a:p>
          <a:p>
            <a:pPr algn="ctr"/>
            <a:r>
              <a:rPr lang="en-US" sz="2400" b="1" dirty="0">
                <a:solidFill>
                  <a:schemeClr val="accent1"/>
                </a:solidFill>
              </a:rPr>
              <a:t>(divide by the norm)</a:t>
            </a:r>
          </a:p>
        </p:txBody>
      </p:sp>
    </p:spTree>
    <p:extLst>
      <p:ext uri="{BB962C8B-B14F-4D97-AF65-F5344CB8AC3E}">
        <p14:creationId xmlns:p14="http://schemas.microsoft.com/office/powerpoint/2010/main" val="3949010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1BA05-7638-0136-E7AA-B527B0596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SoftMax Layer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854B02C-464B-306C-A1CD-B723CE122F0E}"/>
              </a:ext>
            </a:extLst>
          </p:cNvPr>
          <p:cNvGraphicFramePr>
            <a:graphicFrameLocks noGrp="1"/>
          </p:cNvGraphicFramePr>
          <p:nvPr/>
        </p:nvGraphicFramePr>
        <p:xfrm>
          <a:off x="1364960" y="1690688"/>
          <a:ext cx="753207" cy="4604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3207">
                  <a:extLst>
                    <a:ext uri="{9D8B030D-6E8A-4147-A177-3AD203B41FA5}">
                      <a16:colId xmlns:a16="http://schemas.microsoft.com/office/drawing/2014/main" val="722411162"/>
                    </a:ext>
                  </a:extLst>
                </a:gridCol>
              </a:tblGrid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004469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118035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3.2</a:t>
                      </a: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595484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9.8</a:t>
                      </a: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411660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1.7</a:t>
                      </a: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5953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4.2</a:t>
                      </a: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57815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7F0C801-8190-FE66-08C7-9C86C7817D49}"/>
              </a:ext>
            </a:extLst>
          </p:cNvPr>
          <p:cNvGraphicFramePr>
            <a:graphicFrameLocks noGrp="1"/>
          </p:cNvGraphicFramePr>
          <p:nvPr/>
        </p:nvGraphicFramePr>
        <p:xfrm>
          <a:off x="5342793" y="1690688"/>
          <a:ext cx="1602017" cy="4604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017">
                  <a:extLst>
                    <a:ext uri="{9D8B030D-6E8A-4147-A177-3AD203B41FA5}">
                      <a16:colId xmlns:a16="http://schemas.microsoft.com/office/drawing/2014/main" val="722411162"/>
                    </a:ext>
                  </a:extLst>
                </a:gridCol>
              </a:tblGrid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-0.11494253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004469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0.02873563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118035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0.18390805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595484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0.56321839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411660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0.09770115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5953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0.24137931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578153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A5EB76F-D4FB-BA6C-0B67-065A661FEA6F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118167" y="3993032"/>
            <a:ext cx="3224626" cy="0"/>
          </a:xfrm>
          <a:prstGeom prst="straightConnector1">
            <a:avLst/>
          </a:prstGeom>
          <a:ln w="762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4316D48-F6AA-F053-EA68-2821CFCD8EA6}"/>
              </a:ext>
            </a:extLst>
          </p:cNvPr>
          <p:cNvSpPr txBox="1"/>
          <p:nvPr/>
        </p:nvSpPr>
        <p:spPr>
          <a:xfrm>
            <a:off x="2334135" y="3013501"/>
            <a:ext cx="27926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Normalize</a:t>
            </a:r>
          </a:p>
          <a:p>
            <a:pPr algn="ctr"/>
            <a:r>
              <a:rPr lang="en-US" sz="2400" b="1" dirty="0">
                <a:solidFill>
                  <a:schemeClr val="accent1"/>
                </a:solidFill>
              </a:rPr>
              <a:t>(divide by the norm)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1F99B88-3F56-2973-4B4C-FEEAD72A8B76}"/>
              </a:ext>
            </a:extLst>
          </p:cNvPr>
          <p:cNvSpPr/>
          <p:nvPr/>
        </p:nvSpPr>
        <p:spPr>
          <a:xfrm>
            <a:off x="5458540" y="1805650"/>
            <a:ext cx="1393673" cy="555585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037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1BA05-7638-0136-E7AA-B527B0596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SoftMax Layer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854B02C-464B-306C-A1CD-B723CE122F0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690688"/>
          <a:ext cx="753207" cy="4604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3207">
                  <a:extLst>
                    <a:ext uri="{9D8B030D-6E8A-4147-A177-3AD203B41FA5}">
                      <a16:colId xmlns:a16="http://schemas.microsoft.com/office/drawing/2014/main" val="722411162"/>
                    </a:ext>
                  </a:extLst>
                </a:gridCol>
              </a:tblGrid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004469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118035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3.2</a:t>
                      </a: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595484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9.8</a:t>
                      </a: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411660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1.7</a:t>
                      </a: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5953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4.2</a:t>
                      </a: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57815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7F0C801-8190-FE66-08C7-9C86C7817D49}"/>
              </a:ext>
            </a:extLst>
          </p:cNvPr>
          <p:cNvGraphicFramePr>
            <a:graphicFrameLocks noGrp="1"/>
          </p:cNvGraphicFramePr>
          <p:nvPr/>
        </p:nvGraphicFramePr>
        <p:xfrm>
          <a:off x="4358099" y="1690688"/>
          <a:ext cx="2150774" cy="4604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0774">
                  <a:extLst>
                    <a:ext uri="{9D8B030D-6E8A-4147-A177-3AD203B41FA5}">
                      <a16:colId xmlns:a16="http://schemas.microsoft.com/office/drawing/2014/main" val="722411162"/>
                    </a:ext>
                  </a:extLst>
                </a:gridCol>
              </a:tblGrid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0.135335283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004469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1.64872127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118035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24.5325302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595484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18033.7449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411660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5.47394739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5953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66.6863310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578153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A5EB76F-D4FB-BA6C-0B67-065A661FEA6F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1591407" y="3993032"/>
            <a:ext cx="2766692" cy="0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4316D48-F6AA-F053-EA68-2821CFCD8EA6}"/>
              </a:ext>
            </a:extLst>
          </p:cNvPr>
          <p:cNvSpPr txBox="1"/>
          <p:nvPr/>
        </p:nvSpPr>
        <p:spPr>
          <a:xfrm>
            <a:off x="1802445" y="3428995"/>
            <a:ext cx="23446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Take Exponential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6920D1-BBC0-1EFA-BBC6-931DD822A11B}"/>
              </a:ext>
            </a:extLst>
          </p:cNvPr>
          <p:cNvGraphicFramePr>
            <a:graphicFrameLocks noGrp="1"/>
          </p:cNvGraphicFramePr>
          <p:nvPr/>
        </p:nvGraphicFramePr>
        <p:xfrm>
          <a:off x="9243426" y="1690688"/>
          <a:ext cx="2110374" cy="4604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0374">
                  <a:extLst>
                    <a:ext uri="{9D8B030D-6E8A-4147-A177-3AD203B41FA5}">
                      <a16:colId xmlns:a16="http://schemas.microsoft.com/office/drawing/2014/main" val="722411162"/>
                    </a:ext>
                  </a:extLst>
                </a:gridCol>
              </a:tblGrid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0.0000746380034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004469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0.0000909277026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118035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0.00135297982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595484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0.994568958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411660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0.000301890604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5953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0.00367778046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578153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EA33B63-19D8-13E9-2225-4D14D58802E7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>
            <a:off x="6508873" y="3993032"/>
            <a:ext cx="2734553" cy="0"/>
          </a:xfrm>
          <a:prstGeom prst="straightConnector1">
            <a:avLst/>
          </a:prstGeom>
          <a:ln w="762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42E3810-14C3-F776-A4EC-867979E0DA12}"/>
              </a:ext>
            </a:extLst>
          </p:cNvPr>
          <p:cNvSpPr txBox="1"/>
          <p:nvPr/>
        </p:nvSpPr>
        <p:spPr>
          <a:xfrm>
            <a:off x="7133446" y="3428996"/>
            <a:ext cx="1485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Normalize</a:t>
            </a:r>
          </a:p>
        </p:txBody>
      </p:sp>
    </p:spTree>
    <p:extLst>
      <p:ext uri="{BB962C8B-B14F-4D97-AF65-F5344CB8AC3E}">
        <p14:creationId xmlns:p14="http://schemas.microsoft.com/office/powerpoint/2010/main" val="1376686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1BA05-7638-0136-E7AA-B527B0596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SoftMax Layer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854B02C-464B-306C-A1CD-B723CE122F0E}"/>
              </a:ext>
            </a:extLst>
          </p:cNvPr>
          <p:cNvGraphicFramePr>
            <a:graphicFrameLocks noGrp="1"/>
          </p:cNvGraphicFramePr>
          <p:nvPr/>
        </p:nvGraphicFramePr>
        <p:xfrm>
          <a:off x="1364960" y="1690688"/>
          <a:ext cx="753207" cy="4604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3207">
                  <a:extLst>
                    <a:ext uri="{9D8B030D-6E8A-4147-A177-3AD203B41FA5}">
                      <a16:colId xmlns:a16="http://schemas.microsoft.com/office/drawing/2014/main" val="722411162"/>
                    </a:ext>
                  </a:extLst>
                </a:gridCol>
              </a:tblGrid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004469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118035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3.2</a:t>
                      </a: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595484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9.8</a:t>
                      </a: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411660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1.7</a:t>
                      </a: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5953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4.2</a:t>
                      </a: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57815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7F0C801-8190-FE66-08C7-9C86C7817D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429542"/>
              </p:ext>
            </p:extLst>
          </p:nvPr>
        </p:nvGraphicFramePr>
        <p:xfrm>
          <a:off x="9225023" y="1690688"/>
          <a:ext cx="2128777" cy="4604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8777">
                  <a:extLst>
                    <a:ext uri="{9D8B030D-6E8A-4147-A177-3AD203B41FA5}">
                      <a16:colId xmlns:a16="http://schemas.microsoft.com/office/drawing/2014/main" val="722411162"/>
                    </a:ext>
                  </a:extLst>
                </a:gridCol>
              </a:tblGrid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0.0000746380034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004469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0.0000909277026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118035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0.00135297982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595484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0.994568958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411660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0.000301890604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5953"/>
                  </a:ext>
                </a:extLst>
              </a:tr>
              <a:tr h="767448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0.00367778046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89234" marR="189234" marT="94617" marB="946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578153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A5EB76F-D4FB-BA6C-0B67-065A661FEA6F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118167" y="3993032"/>
            <a:ext cx="7106856" cy="0"/>
          </a:xfrm>
          <a:prstGeom prst="straightConnector1">
            <a:avLst/>
          </a:prstGeom>
          <a:ln w="76200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4316D48-F6AA-F053-EA68-2821CFCD8EA6}"/>
              </a:ext>
            </a:extLst>
          </p:cNvPr>
          <p:cNvSpPr txBox="1"/>
          <p:nvPr/>
        </p:nvSpPr>
        <p:spPr>
          <a:xfrm>
            <a:off x="4057948" y="2595876"/>
            <a:ext cx="32272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7030A0"/>
                </a:solidFill>
              </a:rPr>
              <a:t>Take SoftMax</a:t>
            </a:r>
          </a:p>
          <a:p>
            <a:pPr algn="ctr"/>
            <a:r>
              <a:rPr lang="en-US" sz="2400" b="1" dirty="0">
                <a:solidFill>
                  <a:srgbClr val="7030A0"/>
                </a:solidFill>
              </a:rPr>
              <a:t>(take exponential, then </a:t>
            </a:r>
          </a:p>
          <a:p>
            <a:pPr algn="ctr"/>
            <a:r>
              <a:rPr lang="en-US" sz="2400" b="1" dirty="0">
                <a:solidFill>
                  <a:srgbClr val="7030A0"/>
                </a:solidFill>
              </a:rPr>
              <a:t>divide by the norm)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EE23EB-A2A2-EC2B-6CE3-D1B3A1DD1BD4}"/>
                  </a:ext>
                </a:extLst>
              </p:cNvPr>
              <p:cNvSpPr txBox="1"/>
              <p:nvPr/>
            </p:nvSpPr>
            <p:spPr>
              <a:xfrm>
                <a:off x="3923968" y="4098139"/>
                <a:ext cx="2892587" cy="1119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𝑜𝑢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EE23EB-A2A2-EC2B-6CE3-D1B3A1DD1B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68" y="4098139"/>
                <a:ext cx="2892587" cy="11194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21282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0CDA1-3788-7874-AD2E-E3713B0B1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095" y="851517"/>
            <a:ext cx="5238466" cy="29914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0BBF93C-E307-D89C-71AF-DCD9F29BB8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06153" y="2129307"/>
            <a:ext cx="2668032" cy="321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4065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042A4-3BC4-5DB9-A063-CE81FC74B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Augmentation: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98CC8-6297-0262-86BE-0CCA329C1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>
            <a:normAutofit/>
          </a:bodyPr>
          <a:lstStyle/>
          <a:p>
            <a:r>
              <a:rPr lang="en-US" dirty="0"/>
              <a:t>Flip horizontal / vertical</a:t>
            </a:r>
          </a:p>
          <a:p>
            <a:r>
              <a:rPr lang="en-US" dirty="0"/>
              <a:t>Rotate</a:t>
            </a:r>
          </a:p>
          <a:p>
            <a:r>
              <a:rPr lang="en-US" dirty="0"/>
              <a:t>Rescale</a:t>
            </a:r>
          </a:p>
          <a:p>
            <a:r>
              <a:rPr lang="en-US" dirty="0"/>
              <a:t>Crop</a:t>
            </a:r>
          </a:p>
          <a:p>
            <a:r>
              <a:rPr lang="en-US" dirty="0"/>
              <a:t>Dilate/shrink</a:t>
            </a:r>
          </a:p>
          <a:p>
            <a:r>
              <a:rPr lang="en-US" dirty="0"/>
              <a:t>Add white noise</a:t>
            </a:r>
          </a:p>
          <a:p>
            <a:r>
              <a:rPr lang="en-US" dirty="0"/>
              <a:t>Add salt/pepper noise</a:t>
            </a:r>
          </a:p>
          <a:p>
            <a:r>
              <a:rPr lang="en-US" dirty="0"/>
              <a:t>Add white/black boxes</a:t>
            </a:r>
          </a:p>
          <a:p>
            <a:r>
              <a:rPr lang="en-US" dirty="0"/>
              <a:t>+ anything that you can think of!</a:t>
            </a:r>
          </a:p>
        </p:txBody>
      </p:sp>
    </p:spTree>
    <p:extLst>
      <p:ext uri="{BB962C8B-B14F-4D97-AF65-F5344CB8AC3E}">
        <p14:creationId xmlns:p14="http://schemas.microsoft.com/office/powerpoint/2010/main" val="33143432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042A4-3BC4-5DB9-A063-CE81FC74B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Augmentation: Audio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98CC8-6297-0262-86BE-0CCA329C1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Add white noise</a:t>
            </a:r>
          </a:p>
          <a:p>
            <a:r>
              <a:rPr lang="en-US" dirty="0"/>
              <a:t>Shifting tone</a:t>
            </a:r>
          </a:p>
          <a:p>
            <a:r>
              <a:rPr lang="en-US" dirty="0"/>
              <a:t>Vary speed</a:t>
            </a:r>
          </a:p>
          <a:p>
            <a:r>
              <a:rPr lang="en-US" dirty="0"/>
              <a:t>Filter frequencies (drop/add low/high frequencies)</a:t>
            </a:r>
          </a:p>
        </p:txBody>
      </p:sp>
    </p:spTree>
    <p:extLst>
      <p:ext uri="{BB962C8B-B14F-4D97-AF65-F5344CB8AC3E}">
        <p14:creationId xmlns:p14="http://schemas.microsoft.com/office/powerpoint/2010/main" val="40706586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042A4-3BC4-5DB9-A063-CE81FC74B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Augmentation: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98CC8-6297-0262-86BE-0CCA329C1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Synonym substitute</a:t>
            </a:r>
          </a:p>
          <a:p>
            <a:r>
              <a:rPr lang="en-US" dirty="0"/>
              <a:t>Random insertion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1209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46923-FEA6-3DCE-3534-51087F7A4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Imbalanced Data: Definition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D00515-5CBA-624C-430E-00C5B1534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Binary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72A1C494-F1C1-54A9-CE13-AB51DC21216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788" y="2798161"/>
            <a:ext cx="5157787" cy="3098416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3706D7C-265B-5F49-D1C2-C4D58C4A7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Non-Binary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CE0CCB1B-25AE-B0A7-C5DE-0B0F68E8375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2200" y="2789589"/>
            <a:ext cx="5183188" cy="3115560"/>
          </a:xfrm>
        </p:spPr>
      </p:pic>
    </p:spTree>
    <p:extLst>
      <p:ext uri="{BB962C8B-B14F-4D97-AF65-F5344CB8AC3E}">
        <p14:creationId xmlns:p14="http://schemas.microsoft.com/office/powerpoint/2010/main" val="38446576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78724-7213-77EC-2D43-207B2AD96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Imbalanced Data: Binary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A9AF7-AC3B-799E-4181-49A9F999A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Precision:</a:t>
            </a:r>
            <a:r>
              <a:rPr lang="en-US" dirty="0"/>
              <a:t> Number of true positive predictions divided by the sum of true positive and false positive predictions.</a:t>
            </a:r>
          </a:p>
          <a:p>
            <a:r>
              <a:rPr lang="en-US" b="1" dirty="0"/>
              <a:t>Recall (or Sensitivity): </a:t>
            </a:r>
            <a:r>
              <a:rPr lang="en-US" dirty="0"/>
              <a:t>Number of true positive predictions divided by the sum of true positive predictions and false negative predictions.</a:t>
            </a:r>
          </a:p>
          <a:p>
            <a:r>
              <a:rPr lang="en-US" b="1" dirty="0"/>
              <a:t>F1 Score:</a:t>
            </a:r>
            <a:r>
              <a:rPr lang="en-US" dirty="0"/>
              <a:t> Harmonic mean of precision and recall.</a:t>
            </a:r>
          </a:p>
          <a:p>
            <a:r>
              <a:rPr lang="en-US" b="1" dirty="0"/>
              <a:t>ROC (Receiver Operating Characteristic): </a:t>
            </a:r>
            <a:r>
              <a:rPr lang="en-US" dirty="0"/>
              <a:t>ROC curve plots the true positive rate (TPR) against the false positive rate (FPR).</a:t>
            </a:r>
          </a:p>
          <a:p>
            <a:r>
              <a:rPr lang="en-US" b="1" dirty="0"/>
              <a:t>AUC-ROC (Area Under the ROC Curve): </a:t>
            </a:r>
            <a:r>
              <a:rPr lang="en-US" dirty="0"/>
              <a:t>AUC-ROC summarizes the ROC curve as a single metric by computing the area under the curve.</a:t>
            </a:r>
          </a:p>
          <a:p>
            <a:r>
              <a:rPr lang="en-US" b="1" dirty="0"/>
              <a:t>G-mean: </a:t>
            </a:r>
            <a:r>
              <a:rPr lang="en-US" dirty="0"/>
              <a:t>Geometric mean of the recall for the positive class and the recall for the negative class.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2727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46923-FEA6-3DCE-3534-51087F7A4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Imbalanced Data: Compensation Techniques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A802A5-D5EC-06A0-460D-57536E4DE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Data-level:</a:t>
            </a:r>
          </a:p>
          <a:p>
            <a:r>
              <a:rPr lang="en-US" dirty="0"/>
              <a:t>Over sampling / Under sampling</a:t>
            </a:r>
          </a:p>
          <a:p>
            <a:r>
              <a:rPr lang="en-US" dirty="0"/>
              <a:t>Synthetic data generation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Algorithm-level</a:t>
            </a:r>
          </a:p>
          <a:p>
            <a:r>
              <a:rPr lang="en-US" dirty="0"/>
              <a:t>Cost-sensitive learning / Class weight adjustment</a:t>
            </a:r>
          </a:p>
        </p:txBody>
      </p:sp>
    </p:spTree>
    <p:extLst>
      <p:ext uri="{BB962C8B-B14F-4D97-AF65-F5344CB8AC3E}">
        <p14:creationId xmlns:p14="http://schemas.microsoft.com/office/powerpoint/2010/main" val="3502573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1185</Words>
  <Application>Microsoft Office PowerPoint</Application>
  <PresentationFormat>Widescreen</PresentationFormat>
  <Paragraphs>249</Paragraphs>
  <Slides>29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Office Theme</vt:lpstr>
      <vt:lpstr>Layers Types II</vt:lpstr>
      <vt:lpstr>Convolutional layer</vt:lpstr>
      <vt:lpstr>What is wrong with dense layers?</vt:lpstr>
      <vt:lpstr>What is a convolution?</vt:lpstr>
      <vt:lpstr>What if image is RGB?</vt:lpstr>
      <vt:lpstr>Plain Convolution</vt:lpstr>
      <vt:lpstr>Padding</vt:lpstr>
      <vt:lpstr>Striding</vt:lpstr>
      <vt:lpstr>Dilation</vt:lpstr>
      <vt:lpstr>Group convolution</vt:lpstr>
      <vt:lpstr>Convolution output formula: plain</vt:lpstr>
      <vt:lpstr>Convolution output formula: padding</vt:lpstr>
      <vt:lpstr>Convolution output formula: striding</vt:lpstr>
      <vt:lpstr>Convolution output formula: dilation</vt:lpstr>
      <vt:lpstr>Convolution output formula: bias</vt:lpstr>
      <vt:lpstr>Pooling layer</vt:lpstr>
      <vt:lpstr>Max pooling output formula</vt:lpstr>
      <vt:lpstr>Comparison with dense</vt:lpstr>
      <vt:lpstr>SoftMax Layer</vt:lpstr>
      <vt:lpstr>SoftMax Layer</vt:lpstr>
      <vt:lpstr>SoftMax Layer</vt:lpstr>
      <vt:lpstr>SoftMax Layer</vt:lpstr>
      <vt:lpstr>Data</vt:lpstr>
      <vt:lpstr>Data Augmentation: Images</vt:lpstr>
      <vt:lpstr>Data Augmentation: Audio</vt:lpstr>
      <vt:lpstr>Data Augmentation: Text</vt:lpstr>
      <vt:lpstr>Imbalanced Data: Definition</vt:lpstr>
      <vt:lpstr>Imbalanced Data: Binary Metrics</vt:lpstr>
      <vt:lpstr>Imbalanced Data: Compensation Techniques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Layers Types</dc:title>
  <dc:creator>Romain Lhotte</dc:creator>
  <cp:lastModifiedBy>Romain Lhotte</cp:lastModifiedBy>
  <cp:revision>14</cp:revision>
  <dcterms:created xsi:type="dcterms:W3CDTF">2024-01-21T17:44:30Z</dcterms:created>
  <dcterms:modified xsi:type="dcterms:W3CDTF">2026-01-18T12:00:24Z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f116e0e-72df-4d64-8d95-ec79a49a5ebe_Enabled">
    <vt:lpwstr>true</vt:lpwstr>
  </property>
  <property fmtid="{D5CDD505-2E9C-101B-9397-08002B2CF9AE}" pid="3" name="MSIP_Label_df116e0e-72df-4d64-8d95-ec79a49a5ebe_SetDate">
    <vt:lpwstr>2025-01-10T18:11:09Z</vt:lpwstr>
  </property>
  <property fmtid="{D5CDD505-2E9C-101B-9397-08002B2CF9AE}" pid="4" name="MSIP_Label_df116e0e-72df-4d64-8d95-ec79a49a5ebe_Method">
    <vt:lpwstr>Standard</vt:lpwstr>
  </property>
  <property fmtid="{D5CDD505-2E9C-101B-9397-08002B2CF9AE}" pid="5" name="MSIP_Label_df116e0e-72df-4d64-8d95-ec79a49a5ebe_Name">
    <vt:lpwstr>Internal</vt:lpwstr>
  </property>
  <property fmtid="{D5CDD505-2E9C-101B-9397-08002B2CF9AE}" pid="6" name="MSIP_Label_df116e0e-72df-4d64-8d95-ec79a49a5ebe_SiteId">
    <vt:lpwstr>efa39904-64bd-4449-9e11-a0567cf564b6</vt:lpwstr>
  </property>
  <property fmtid="{D5CDD505-2E9C-101B-9397-08002B2CF9AE}" pid="7" name="MSIP_Label_df116e0e-72df-4d64-8d95-ec79a49a5ebe_ActionId">
    <vt:lpwstr>632a8ed9-cd96-4268-8f2d-3d092ef99e83</vt:lpwstr>
  </property>
  <property fmtid="{D5CDD505-2E9C-101B-9397-08002B2CF9AE}" pid="8" name="MSIP_Label_df116e0e-72df-4d64-8d95-ec79a49a5ebe_ContentBits">
    <vt:lpwstr>2</vt:lpwstr>
  </property>
  <property fmtid="{D5CDD505-2E9C-101B-9397-08002B2CF9AE}" pid="9" name="ClassificationContentMarkingFooterLocations">
    <vt:lpwstr>Office Theme:8</vt:lpwstr>
  </property>
  <property fmtid="{D5CDD505-2E9C-101B-9397-08002B2CF9AE}" pid="10" name="ClassificationContentMarkingFooterText">
    <vt:lpwstr>Internal</vt:lpwstr>
  </property>
</Properties>
</file>