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ink/ink1.xml" ContentType="application/inkml+xml"/>
  <Override PartName="/ppt/notesSlides/notesSlide3.xml" ContentType="application/vnd.openxmlformats-officedocument.presentationml.notesSlide+xml"/>
  <Override PartName="/ppt/ink/ink2.xml" ContentType="application/inkml+xml"/>
  <Override PartName="/ppt/notesSlides/notesSlide4.xml" ContentType="application/vnd.openxmlformats-officedocument.presentationml.notesSlide+xml"/>
  <Override PartName="/ppt/ink/ink3.xml" ContentType="application/inkml+xml"/>
  <Override PartName="/ppt/notesSlides/notesSlide5.xml" ContentType="application/vnd.openxmlformats-officedocument.presentationml.notesSlide+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ink/ink31.xml" ContentType="application/inkml+xml"/>
  <Override PartName="/ppt/ink/ink32.xml" ContentType="application/inkml+xml"/>
  <Override PartName="/ppt/ink/ink33.xml" ContentType="application/inkml+xml"/>
  <Override PartName="/ppt/notesSlides/notesSlide19.xml" ContentType="application/vnd.openxmlformats-officedocument.presentationml.notesSlide+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2">
  <p:sldMasterIdLst>
    <p:sldMasterId id="2147483648" r:id="rId1"/>
  </p:sldMasterIdLst>
  <p:notesMasterIdLst>
    <p:notesMasterId r:id="rId27"/>
  </p:notesMasterIdLst>
  <p:sldIdLst>
    <p:sldId id="332" r:id="rId2"/>
    <p:sldId id="357" r:id="rId3"/>
    <p:sldId id="256" r:id="rId4"/>
    <p:sldId id="333" r:id="rId5"/>
    <p:sldId id="334" r:id="rId6"/>
    <p:sldId id="335" r:id="rId7"/>
    <p:sldId id="336" r:id="rId8"/>
    <p:sldId id="337" r:id="rId9"/>
    <p:sldId id="358" r:id="rId10"/>
    <p:sldId id="345" r:id="rId11"/>
    <p:sldId id="338" r:id="rId12"/>
    <p:sldId id="346" r:id="rId13"/>
    <p:sldId id="340" r:id="rId14"/>
    <p:sldId id="341" r:id="rId15"/>
    <p:sldId id="355" r:id="rId16"/>
    <p:sldId id="342" r:id="rId17"/>
    <p:sldId id="343" r:id="rId18"/>
    <p:sldId id="344" r:id="rId19"/>
    <p:sldId id="347" r:id="rId20"/>
    <p:sldId id="349" r:id="rId21"/>
    <p:sldId id="350" r:id="rId22"/>
    <p:sldId id="351" r:id="rId23"/>
    <p:sldId id="352" r:id="rId24"/>
    <p:sldId id="353" r:id="rId25"/>
    <p:sldId id="356"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204" autoAdjust="0"/>
    <p:restoredTop sz="94915" autoAdjust="0"/>
  </p:normalViewPr>
  <p:slideViewPr>
    <p:cSldViewPr snapToGrid="0">
      <p:cViewPr varScale="1">
        <p:scale>
          <a:sx n="91" d="100"/>
          <a:sy n="91" d="100"/>
        </p:scale>
        <p:origin x="788"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1-16T15:17:59.867"/>
    </inkml:context>
    <inkml:brush xml:id="br0">
      <inkml:brushProperty name="width" value="0.2" units="cm"/>
      <inkml:brushProperty name="height" value="0.2" units="cm"/>
      <inkml:brushProperty name="color" value="#E71224"/>
    </inkml:brush>
  </inkml:definitions>
  <inkml:trace contextRef="#ctx0" brushRef="#br0">6128 450 24575,'-1'-3'0,"0"-1"0,0 1 0,0 0 0,-1 1 0,1-1 0,-1 0 0,0 0 0,0 0 0,0 1 0,0-1 0,0 1 0,0 0 0,-1 0 0,-3-3 0,-14-9-356,-1 0-1,0 2 0,-43-18 1,-74-18-1941,58 22 1737,34 12 560,-58-10 0,28 8 0,-211-46-3592,67 16 1081,161 36 1666,0 3 1,-76 0-1,53 3 427,-186-30-874,2-1-107,-235 31 1053,284 6 338,134-1 8,1 3 0,-1 3 0,-153 36 0,-35 35 0,157-46 0,1 4 0,-160 76 0,163-62 0,-76 39 0,-216 177 0,198-122 0,130-93 0,-71 62 0,45-26 0,-92 84 0,143-123 0,-75 97 0,-245 389 0,337-476 0,4 2 0,-24 69 0,34-82 0,-3 17 59,3 0 0,-16 107 0,25-106-59,-1 71 0,9 67 0,1-196 0,1 32 0,2-1 0,2 1 0,1-1 0,2 0 0,2-1 0,1 0 0,25 55 0,98 168-89,-101-208 60,2-1-1,73 80 1,-38-62 29,3-3 0,82 58 0,-92-80 0,2-3 0,74 34 0,145 50 0,-168-82 0,1-5 0,203 38 0,-205-54 0,241 38 0,324-3 0,73-55 0,-428-4 0,202-23 0,-2-33 0,-91-13 0,-203 31 0,269-58 0,-413 79 0,532-133 0,-504 122 0,903-293 0,-322 20 0,-636 272-4,104-71 0,44-54 85,-191 142-59,20-18 112,-1-1 0,-2-1 0,-2-2 1,-1-1-1,-2-2 0,28-48 0,-44 65-116,-2-1 0,0 0 0,-2-1 0,0 0 0,-2 0 0,7-34 0,-7 10-21,-2-1-1,-1-64 1,-5 94 16,0 0 1,-2 0-1,0 0 1,-1 1 0,-1 0-1,0 0 1,-2 0-1,0 0 1,-1 1-1,-20-32 1,-4 2 35,-3 1 1,-53-53 0,36 48-228,-96-72 1,79 67 44,8 10-267,-69-41 0,-71-28 233,83 48 174,-379-193-7,-157-8 0,207 133 0,307 95 0,-150-43 1803,217 62 4586</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1-17T10:57:26.743"/>
    </inkml:context>
    <inkml:brush xml:id="br0">
      <inkml:brushProperty name="width" value="0.2" units="cm"/>
      <inkml:brushProperty name="height" value="0.2" units="cm"/>
      <inkml:brushProperty name="color" value="#E71224"/>
    </inkml:brush>
  </inkml:definitions>
  <inkml:trace contextRef="#ctx0" brushRef="#br0">6128 450 24575,'-1'-3'0,"0"-1"0,0 1 0,0 0 0,-1 1 0,1-1 0,-1 0 0,0 0 0,0 0 0,0 1 0,0-1 0,0 1 0,0 0 0,-1 0 0,-3-3 0,-14-9-356,-1 0-1,0 2 0,-43-18 1,-74-18-1941,58 22 1737,34 12 560,-58-10 0,28 8 0,-211-46-3592,67 16 1081,161 36 1666,0 3 1,-76 0-1,53 3 427,-186-30-874,2-1-107,-235 31 1053,284 6 338,134-1 8,1 3 0,-1 3 0,-153 36 0,-35 35 0,157-46 0,1 4 0,-160 76 0,163-62 0,-76 39 0,-216 177 0,198-122 0,130-93 0,-71 62 0,45-26 0,-92 84 0,143-123 0,-75 97 0,-245 389 0,337-476 0,4 2 0,-24 69 0,34-82 0,-3 17 59,3 0 0,-16 107 0,25-106-59,-1 71 0,9 67 0,1-196 0,1 32 0,2-1 0,2 1 0,1-1 0,2 0 0,2-1 0,1 0 0,25 55 0,98 168-89,-101-208 60,2-1-1,73 80 1,-38-62 29,3-3 0,82 58 0,-92-80 0,2-3 0,74 34 0,145 50 0,-168-82 0,1-5 0,203 38 0,-205-54 0,241 38 0,324-3 0,73-55 0,-428-4 0,202-23 0,-2-33 0,-91-13 0,-203 31 0,269-58 0,-413 79 0,532-133 0,-504 122 0,903-293 0,-322 20 0,-636 272-4,104-71 0,44-54 85,-191 142-59,20-18 112,-1-1 0,-2-1 0,-2-2 1,-1-1-1,-2-2 0,28-48 0,-44 65-116,-2-1 0,0 0 0,-2-1 0,0 0 0,-2 0 0,7-34 0,-7 10-21,-2-1-1,-1-64 1,-5 94 16,0 0 1,-2 0-1,0 0 1,-1 1 0,-1 0-1,0 0 1,-2 0-1,0 0 1,-1 1-1,-20-32 1,-4 2 35,-3 1 1,-53-53 0,36 48-228,-96-72 1,79 67 44,8 10-267,-69-41 0,-71-28 233,83 48 174,-379-193-7,-157-8 0,207 133 0,307 95 0,-150-43 1803,217 62 4586</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3-01-17T15:01:03.624"/>
    </inkml:context>
    <inkml:brush xml:id="br0">
      <inkml:brushProperty name="width" value="0.2" units="cm"/>
      <inkml:brushProperty name="height" value="0.2" units="cm"/>
      <inkml:brushProperty name="color" value="#E71224"/>
      <inkml:brushProperty name="ignorePressure" value="1"/>
    </inkml:brush>
  </inkml:definitions>
  <inkml:trace contextRef="#ctx0" brushRef="#br0">0 1,'2683'0,"-2660"0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1:39.681"/>
    </inkml:context>
    <inkml:brush xml:id="br0">
      <inkml:brushProperty name="width" value="0.035" units="cm"/>
      <inkml:brushProperty name="height" value="0.035" units="cm"/>
      <inkml:brushProperty name="color" value="#E71224"/>
    </inkml:brush>
  </inkml:definitions>
  <inkml:trace contextRef="#ctx0" brushRef="#br0">47 426 24575,'-1'-4'0,"0"1"0,0-1 0,0 1 0,-1-1 0,1 1 0,-1 0 0,0 0 0,0 0 0,-4-5 0,-6-11 0,9 10 0,0 0 0,0 0 0,1 0 0,0 0 0,1 0 0,0-1 0,0-9 0,5-68 0,-3 79 0,0-1 0,1 1 0,0-1 0,0 1 0,1 0 0,0 0 0,0 0 0,1 0 0,0 0 0,0 1 0,1 0 0,0 0 0,0 0 0,1 0 0,0 1 0,0 0 0,0 0 0,1 1 0,0 0 0,11-7 0,-8 6 0,0 1 0,1-1 0,-1 2 0,1-1 0,0 2 0,0-1 0,0 2 0,1-1 0,-1 1 0,1 1 0,0 0 0,-1 1 0,1 0 0,11 2 0,-16 0 0,-1 0 0,1 0 0,-1 1 0,0 0 0,1 0 0,-1 0 0,-1 1 0,1 0 0,-1 0 0,1 1 0,-1-1 0,0 1 0,-1 0 0,1 0 0,-1 1 0,6 9 0,2 5 0,-1 0 0,-1 0 0,13 38 0,-7-3 0,-3 1 0,11 98 0,-1 0 0,-17-116 0,-3 0 0,-1 60 0,0-4 0,12 57 0,-7-34 0,0 17 0,-8-35 0,2 108 0,1-194 0,0-1 0,1 1 0,1-1 0,0 0 0,0 0 0,1-1 0,1 1 0,0-1 0,0 0 0,1-1 0,1 0 0,0 0 0,15 16 0,-19-24 0,-1 1 0,1-1 0,0 0 0,0 0 0,0-1 0,0 1 0,0-1 0,0 1 0,1-1 0,-1-1 0,0 1 0,1-1 0,-1 1 0,9-2 0,-4 1 0,1-1 0,0 0 0,0 0 0,-1-1 0,16-5 0,-23 6 0,-1 0 0,1 1 0,-1-1 0,1 0 0,-1 0 0,0 0 0,1 0 0,-1 0 0,0 0 0,0 0 0,0 0 0,0-1 0,0 1 0,0 0 0,0-1 0,0 1 0,0-1 0,-1 1 0,2-3 0,-22 20 0,10-5 0,0 0 0,0 0 0,1 1 0,0 0 0,1 0 0,0 1 0,1 0 0,1 1 0,0-1 0,1 1 0,0 1 0,1-1 0,1 0 0,0 1 0,-1 19 0,1 211 0,5-132 0,1-17 0,27 171 0,47 89 0,-72-335 0,-1 0 0,0 0 0,-2 0 0,-1 0 0,-1 42 0,-2-52 0,0 1 0,0-1 0,-1 0 0,0 1 0,-1-1 0,0-1 0,-1 1 0,0-1 0,-1 1 0,0-2 0,0 1 0,-12 12 0,10-12 9,-2-1 1,1 0-1,-1-1 0,-1 0 0,1 0 1,-1-1-1,0 0 0,-1-1 0,0-1 0,0 0 1,0 0-1,-17 3 0,18-5-102,1-2 0,-1 1 1,0-1-1,0-1 0,0 0 0,1-1 0,-1 0 0,0 0 1,0-1-1,1-1 0,-1 0 0,1 0 0,0-1 1,0 0-1,-11-6 0,-7-8-6733</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1:40.492"/>
    </inkml:context>
    <inkml:brush xml:id="br0">
      <inkml:brushProperty name="width" value="0.035" units="cm"/>
      <inkml:brushProperty name="height" value="0.035" units="cm"/>
      <inkml:brushProperty name="color" value="#E71224"/>
    </inkml:brush>
  </inkml:definitions>
  <inkml:trace contextRef="#ctx0" brushRef="#br0">1 143 24575,'7'-1'0,"0"-1"0,0 0 0,0 0 0,0 0 0,0-1 0,0 0 0,-1 0 0,1-1 0,11-8 0,15-7 0,4 3 0,0 1 0,1 2 0,0 2 0,0 2 0,60-7 0,-20 9 0,142 5 0,-122 9 0,105 21 0,95 35 0,83 14 0,-281-65-682,172 0-1,-247-12-6143</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1:41.190"/>
    </inkml:context>
    <inkml:brush xml:id="br0">
      <inkml:brushProperty name="width" value="0.035" units="cm"/>
      <inkml:brushProperty name="height" value="0.035" units="cm"/>
      <inkml:brushProperty name="color" value="#E71224"/>
    </inkml:brush>
  </inkml:definitions>
  <inkml:trace contextRef="#ctx0" brushRef="#br0">0 0 24575,'0'2'0,"1"0"0,-1-1 0,1 1 0,-1-1 0,1 1 0,0-1 0,0 1 0,0-1 0,0 1 0,0-1 0,0 0 0,0 1 0,0-1 0,0 0 0,0 0 0,1 0 0,-1 0 0,0 0 0,3 1 0,29 15 0,-6-7 0,0-2 0,1-1 0,46 6 0,88 0 0,-22-4 0,-132-8 0,1 1 0,-1-1 0,0 1 0,0 0 0,11 5 0,-18-7 0,0 1 0,0-1 0,1 1 0,-1-1 0,0 1 0,0 0 0,0 0 0,0-1 0,0 1 0,0 0 0,0 0 0,0 0 0,-1 0 0,1 0 0,0 0 0,0 0 0,-1 0 0,1 0 0,-1 0 0,1 1 0,-1-1 0,1 0 0,-1 0 0,0 0 0,0 1 0,1-1 0,-1 0 0,0 1 0,0-1 0,0 0 0,0 0 0,-1 1 0,1-1 0,0 0 0,0 0 0,-1 1 0,1-1 0,-1 0 0,1 0 0,-1 0 0,0 0 0,1 0 0,-1 0 0,0 0 0,-1 1 0,-1 2 0,0 0 0,0-1 0,-1 1 0,0-1 0,1 0 0,-1 0 0,-1-1 0,1 1 0,0-1 0,0 0 0,-6 2 0,-55 16 0,50-16 0,-85 21 0,60-17 0,1 2 0,0 1 0,1 2 0,-38 19 0,37-7-1365,25-13-5461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1:44.153"/>
    </inkml:context>
    <inkml:brush xml:id="br0">
      <inkml:brushProperty name="width" value="0.035" units="cm"/>
      <inkml:brushProperty name="height" value="0.035" units="cm"/>
      <inkml:brushProperty name="color" value="#E71224"/>
    </inkml:brush>
  </inkml:definitions>
  <inkml:trace contextRef="#ctx0" brushRef="#br0">1 2 24575,'22'0'0,"-12"-1"0,1 1 0,0 0 0,12 3 0,-20-2 0,1 0 0,0 0 0,-1 0 0,1 0 0,-1 1 0,1 0 0,-1-1 0,0 1 0,0 1 0,0-1 0,0 0 0,5 6 0,6 7 0,11 11 0,-1 1 0,25 37 0,-44-56 0,-1 0 0,0 1 0,-1-1 0,1 1 0,-2 0 0,1 0 0,-1 0 0,1 13 0,-1 7 0,-2 40 0,-1-23 0,0-34 0,-1-1 0,0 1 0,-1-1 0,0 1 0,-1-1 0,0 0 0,0-1 0,-1 1 0,-11 16 0,0 3 0,5-5 0,2 0 0,-10 42 0,13-46 0,4-16 0,1 0 0,0 0 0,0 0 0,0 0 0,1 0 0,0 0 0,0 0 0,0 0 0,2 10 0,-2-13 0,1 0 0,0 0 0,0 0 0,0 0 0,1 0 0,-1 0 0,0 0 0,1 0 0,-1 0 0,1-1 0,-1 1 0,1 0 0,0-1 0,0 0 0,0 1 0,0-1 0,0 0 0,0 0 0,0 0 0,0 0 0,0-1 0,1 1 0,3 0 0,2 1 0,0-1 0,0 0 0,15-1 0,4 1 0,-26-1 0,-1 0 0,0 0 0,0 0 0,0 0 0,0 1 0,0-1 0,1 0 0,-1 0 0,0 0 0,0 1 0,0-1 0,0 0 0,0 0 0,0 1 0,0-1 0,0 0 0,0 0 0,0 0 0,0 1 0,0-1 0,0 0 0,0 0 0,0 1 0,0-1 0,0 0 0,0 0 0,0 1 0,0-1 0,0 0 0,0 0 0,0 0 0,-1 1 0,1-1 0,0 0 0,0 0 0,0 0 0,0 0 0,0 1 0,-1-1 0,1 0 0,0 0 0,0 0 0,0 0 0,-1 0 0,1 0 0,0 1 0,-12 13 0,9-11 0,-1 3 0,-1 0 0,1 0 0,0 1 0,1 0 0,0 0 0,0 0 0,0 0 0,1 0 0,0 1 0,1-1 0,-2 14 0,1 7 0,4 54 0,0-23 0,5 47 0,0-1 0,-6-84 0,0-7 0,-1 0 0,-1 0 0,0 0 0,-1-1 0,-3 17 0,4-26 0,-1-1 0,1 1 0,-1 0 0,0-1 0,0 1 0,0-1 0,0 0 0,0 0 0,-1 0 0,0 0 0,1 0 0,-1 0 0,0-1 0,0 1 0,-1-1 0,1 0 0,0 0 0,-1 0 0,1 0 0,-1-1 0,0 0 0,-7 3 0,9-4-105,0 1 0,0-1 0,0 1 0,-1-1 0,1 0 0,0 0 0,0 0 0,-1 0 0,1 0 0,0-1 0,0 1 0,-3-1 0,-6-5-6721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1:44.869"/>
    </inkml:context>
    <inkml:brush xml:id="br0">
      <inkml:brushProperty name="width" value="0.035" units="cm"/>
      <inkml:brushProperty name="height" value="0.035" units="cm"/>
      <inkml:brushProperty name="color" value="#E71224"/>
    </inkml:brush>
  </inkml:definitions>
  <inkml:trace contextRef="#ctx0" brushRef="#br0">13 62 24575,'-12'2'0,"12"2"0,2-3 0,-1 0 0,1 0 0,0 0 0,-1 0 0,1-1 0,0 1 0,0-1 0,-1 1 0,4-1 0,55 4 0,61-5 0,-39 0 0,159-7 0,-85 1 0,477-7 0,-219 0 0,75-1 0,-118 6 0,-232 4 0,-99 3-1365,-7-1-5461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1:45.551"/>
    </inkml:context>
    <inkml:brush xml:id="br0">
      <inkml:brushProperty name="width" value="0.035" units="cm"/>
      <inkml:brushProperty name="height" value="0.035" units="cm"/>
      <inkml:brushProperty name="color" value="#E71224"/>
    </inkml:brush>
  </inkml:definitions>
  <inkml:trace contextRef="#ctx0" brushRef="#br0">0 1 24575,'5'1'0,"-1"0"0,0 0 0,1 1 0,-1 0 0,0-1 0,0 1 0,0 1 0,0-1 0,3 4 0,13 6 0,72 23 0,-69-28 0,0 1 0,-1 2 0,37 20 0,-56-29 0,0 1 0,0 0 0,-1 0 0,1 1 0,0-1 0,-1 0 0,1 1 0,-1-1 0,0 1 0,0 0 0,0 0 0,0 0 0,-1 0 0,1 0 0,-1 0 0,0 1 0,0-1 0,0 0 0,0 1 0,0-1 0,-1 0 0,1 1 0,-1-1 0,0 1 0,0-1 0,-1 1 0,1-1 0,-2 5 0,0-1 0,0-1 0,-1 1 0,0-1 0,0 0 0,0 0 0,-1-1 0,0 1 0,0-1 0,-1 1 0,1-1 0,-1-1 0,0 1 0,-9 6 0,-31 17-1365,25-15-5461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1:46.643"/>
    </inkml:context>
    <inkml:brush xml:id="br0">
      <inkml:brushProperty name="width" value="0.035" units="cm"/>
      <inkml:brushProperty name="height" value="0.035" units="cm"/>
      <inkml:brushProperty name="color" value="#E71224"/>
    </inkml:brush>
  </inkml:definitions>
  <inkml:trace contextRef="#ctx0" brushRef="#br0">0 35 24575,'120'7'0,"-12"0"0,959-40 0,-940 22-1365,-97 7-5461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1:47.187"/>
    </inkml:context>
    <inkml:brush xml:id="br0">
      <inkml:brushProperty name="width" value="0.035" units="cm"/>
      <inkml:brushProperty name="height" value="0.035" units="cm"/>
      <inkml:brushProperty name="color" value="#E71224"/>
    </inkml:brush>
  </inkml:definitions>
  <inkml:trace contextRef="#ctx0" brushRef="#br0">0 0 24575,'38'13'0,"48"7"0,-37-10 0,-1 2 0,81 32 0,-125-42 0,1 0 0,-1 1 0,1-1 0,-1 1 0,0 0 0,0 0 0,-1 1 0,1-1 0,0 1 0,-1 0 0,0 0 0,0 0 0,4 8 0,-5-9 0,-1 0 0,0-1 0,-1 1 0,1 0 0,0 0 0,-1-1 0,0 1 0,0 0 0,1 0 0,-2 0 0,1 0 0,0-1 0,0 1 0,-1 0 0,0 0 0,0-1 0,1 1 0,-1 0 0,-1-1 0,1 1 0,0-1 0,-1 1 0,1-1 0,-1 0 0,0 1 0,-2 1 0,-10 10-170,-2-1-1,0-1 0,0 0 1,-1-1-1,0-1 0,-1-1 1,-30 12-1,32-15-6655</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1:47.859"/>
    </inkml:context>
    <inkml:brush xml:id="br0">
      <inkml:brushProperty name="width" value="0.035" units="cm"/>
      <inkml:brushProperty name="height" value="0.035" units="cm"/>
      <inkml:brushProperty name="color" value="#E71224"/>
    </inkml:brush>
  </inkml:definitions>
  <inkml:trace contextRef="#ctx0" brushRef="#br0">1 0 24575,'0'1'0,"0"-1"0,0 1 0,1-1 0,-1 1 0,0-1 0,0 1 0,1-1 0,-1 1 0,1-1 0,-1 0 0,0 1 0,1-1 0,-1 0 0,1 1 0,-1-1 0,1 0 0,-1 0 0,1 1 0,-1-1 0,1 0 0,-1 0 0,1 0 0,-1 0 0,1 0 0,0 1 0,18 1 0,-16-1 0,445 18 0,-183-13 0,142 0-1365,-377-6-5461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1:49.542"/>
    </inkml:context>
    <inkml:brush xml:id="br0">
      <inkml:brushProperty name="width" value="0.035" units="cm"/>
      <inkml:brushProperty name="height" value="0.035" units="cm"/>
      <inkml:brushProperty name="color" value="#E71224"/>
    </inkml:brush>
  </inkml:definitions>
  <inkml:trace contextRef="#ctx0" brushRef="#br0">0 0 24575,'9'7'0,"0"0"0,1-1 0,-1 0 0,17 7 0,-4-2 0,131 64 0,-85-43 0,-59-28 0,0 0 0,0 1 0,0 0 0,-1 1 0,1 0 0,10 11 0,-18-16 0,1 1 0,-1-1 0,0 1 0,1 0 0,-1-1 0,0 1 0,0 0 0,0 0 0,-1 0 0,1 0 0,0 0 0,-1 0 0,1 0 0,-1 0 0,0 0 0,0 0 0,1 0 0,-1 0 0,-1 1 0,1-1 0,0 0 0,0 0 0,-1 0 0,1 0 0,-1 0 0,0 0 0,0 0 0,0 0 0,0 0 0,0-1 0,0 1 0,0 0 0,0-1 0,-1 1 0,1 0 0,0-1 0,-4 3 0,-14 13 26,-1 0-1,-42 27 0,45-34-231,1 1 0,0 0 0,0 2 1,2 0-1,-1 0 0,-19 25 0,25-24-6620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4:44.737"/>
    </inkml:context>
    <inkml:brush xml:id="br0">
      <inkml:brushProperty name="width" value="0.035" units="cm"/>
      <inkml:brushProperty name="height" value="0.035" units="cm"/>
      <inkml:brushProperty name="color" value="#E71224"/>
    </inkml:brush>
  </inkml:definitions>
  <inkml:trace contextRef="#ctx0" brushRef="#br0">0 947 24575,'427'-250'0,"-176"94"-415,437-243-1473,-645 378 2073,175-84-136,-184 90-6171</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4:45.348"/>
    </inkml:context>
    <inkml:brush xml:id="br0">
      <inkml:brushProperty name="width" value="0.035" units="cm"/>
      <inkml:brushProperty name="height" value="0.035" units="cm"/>
      <inkml:brushProperty name="color" value="#E71224"/>
    </inkml:brush>
  </inkml:definitions>
  <inkml:trace contextRef="#ctx0" brushRef="#br0">1 1239 24575,'3'0'0,"0"-1"0,0 0 0,0 0 0,0-1 0,0 1 0,0 0 0,0-1 0,0 0 0,4-4 0,1 1 0,102-62 18,119-51 0,125-38-411,-246 110-86,220-92 479,286-126 0,-15-31-2,-385 181-1232,-179 96-4885</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4:45.895"/>
    </inkml:context>
    <inkml:brush xml:id="br0">
      <inkml:brushProperty name="width" value="0.035" units="cm"/>
      <inkml:brushProperty name="height" value="0.035" units="cm"/>
      <inkml:brushProperty name="color" value="#E71224"/>
    </inkml:brush>
  </inkml:definitions>
  <inkml:trace contextRef="#ctx0" brushRef="#br0">0 1772 24575,'0'0'0,"1"1"0,-1-1 0,0 1 0,0-1 0,1 1 0,-1-1 0,1 1 0,-1-1 0,0 0 0,1 1 0,-1-1 0,1 0 0,-1 1 0,1-1 0,-1 0 0,1 1 0,-1-1 0,1 0 0,-1 0 0,1 1 0,-1-1 0,1 0 0,0 0 0,-1 0 0,1 0 0,-1 0 0,1 0 0,-1 0 0,1 0 0,0 0 0,0 0 0,20-2 0,-6-2 0,-1 1 0,0-2 0,0 0 0,24-12 0,51-37 0,-18 11 0,728-430-2189,-289 164 27,11 21 1865,100-2-58,-245 119-477,-208 89 644,-103 49-1980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4:46.486"/>
    </inkml:context>
    <inkml:brush xml:id="br0">
      <inkml:brushProperty name="width" value="0.035" units="cm"/>
      <inkml:brushProperty name="height" value="0.035" units="cm"/>
      <inkml:brushProperty name="color" value="#E71224"/>
    </inkml:brush>
  </inkml:definitions>
  <inkml:trace contextRef="#ctx0" brushRef="#br0">0 3011 24575,'5'-1'0,"0"0"0,-1 0 0,1-1 0,-1 0 0,1 1 0,-1-1 0,0-1 0,8-4 0,8-4 0,428-220 0,-60-7-1674,259-155-1500,-492 303 2968,840-522-2023,-109-21 2227,-549 386-154,-296 217-118,252-187-220,-16-14 642,-215 173-278</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4:47.170"/>
    </inkml:context>
    <inkml:brush xml:id="br0">
      <inkml:brushProperty name="width" value="0.035" units="cm"/>
      <inkml:brushProperty name="height" value="0.035" units="cm"/>
      <inkml:brushProperty name="color" value="#E71224"/>
    </inkml:brush>
  </inkml:definitions>
  <inkml:trace contextRef="#ctx0" brushRef="#br0">1 1731 24575,'4'-1'0,"1"0"0,-1 0 0,0 0 0,0-1 0,1 0 0,-1 0 0,0 0 0,0 0 0,6-6 0,8-3 0,84-42-49,1060-568-2594,-218 114 2469,10 23-1189,-889 451-2599</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4:47.701"/>
    </inkml:context>
    <inkml:brush xml:id="br0">
      <inkml:brushProperty name="width" value="0.035" units="cm"/>
      <inkml:brushProperty name="height" value="0.035" units="cm"/>
      <inkml:brushProperty name="color" value="#E71224"/>
    </inkml:brush>
  </inkml:definitions>
  <inkml:trace contextRef="#ctx0" brushRef="#br0">0 1597 24575,'5'-4'0,"0"0"0,0 1 0,1-1 0,-1 1 0,1 0 0,-1 0 0,10-2 0,9-5 0,483-222-416,47-22-59,167-135-198,-143 72-292,19 42 334,-429 210-318,-100 40-3133</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4:48.200"/>
    </inkml:context>
    <inkml:brush xml:id="br0">
      <inkml:brushProperty name="width" value="0.035" units="cm"/>
      <inkml:brushProperty name="height" value="0.035" units="cm"/>
      <inkml:brushProperty name="color" value="#E71224"/>
    </inkml:brush>
  </inkml:definitions>
  <inkml:trace contextRef="#ctx0" brushRef="#br0">1 849 24575,'5'-4'0,"0"0"0,0 1 0,0-1 0,1 1 0,0 0 0,8-2 0,7-5 0,248-129 2,198-98-116,385-186-1702,-825 410-4447</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4:54.366"/>
    </inkml:context>
    <inkml:brush xml:id="br0">
      <inkml:brushProperty name="width" value="0.035" units="cm"/>
      <inkml:brushProperty name="height" value="0.035" units="cm"/>
      <inkml:brushProperty name="color" value="#E71224"/>
    </inkml:brush>
  </inkml:definitions>
  <inkml:trace contextRef="#ctx0" brushRef="#br0">0 1267 24575,'30'-27'0,"1"0"0,65-42 0,78-31 0,-170 97 0,35-18-34,543-315-498,-466 263 444,439-292 63,-527 346 54,230-168-1310,-206 148-4979</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4:55.128"/>
    </inkml:context>
    <inkml:brush xml:id="br0">
      <inkml:brushProperty name="width" value="0.035" units="cm"/>
      <inkml:brushProperty name="height" value="0.035" units="cm"/>
      <inkml:brushProperty name="color" value="#E71224"/>
    </inkml:brush>
  </inkml:definitions>
  <inkml:trace contextRef="#ctx0" brushRef="#br0">1 1221 24575,'26'-32'0,"-20"24"0,1 0 0,0 0 0,8-7 0,440-322-340,27 42 0,200-89 340,-454 259-798,-212 116-5915</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4:55.580"/>
    </inkml:context>
    <inkml:brush xml:id="br0">
      <inkml:brushProperty name="width" value="0.035" units="cm"/>
      <inkml:brushProperty name="height" value="0.035" units="cm"/>
      <inkml:brushProperty name="color" value="#E71224"/>
    </inkml:brush>
  </inkml:definitions>
  <inkml:trace contextRef="#ctx0" brushRef="#br0">0 1382 24575,'3'0'0,"-1"-1"0,1 0 0,0 0 0,-1 0 0,1 0 0,-1 0 0,0-1 0,1 1 0,-1-1 0,3-2 0,5-3 0,117-71 0,132-83 0,631-440-2088,-203 173 1572,-551 354 183,-108 57-4921</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4:56.046"/>
    </inkml:context>
    <inkml:brush xml:id="br0">
      <inkml:brushProperty name="width" value="0.035" units="cm"/>
      <inkml:brushProperty name="height" value="0.035" units="cm"/>
      <inkml:brushProperty name="color" value="#E71224"/>
    </inkml:brush>
  </inkml:definitions>
  <inkml:trace contextRef="#ctx0" brushRef="#br0">0 1138 24575,'22'-13'0,"-11"5"0,258-162 0,-188 116 0,335-240-418,-88 59 20,12 19 467,-68 74-687,-263 136-6208</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9T19:04:56.608"/>
    </inkml:context>
    <inkml:brush xml:id="br0">
      <inkml:brushProperty name="width" value="0.035" units="cm"/>
      <inkml:brushProperty name="height" value="0.035" units="cm"/>
      <inkml:brushProperty name="color" value="#E71224"/>
    </inkml:brush>
  </inkml:definitions>
  <inkml:trace contextRef="#ctx0" brushRef="#br0">1 439 24575,'5'-1'0,"0"0"0,0 0 0,0-1 0,0 1 0,0-1 0,-1 0 0,1-1 0,-1 1 0,5-4 0,5-2 0,179-89 0,44-26 0,23-37-1365,-218 131-5461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3-01-17T15:32:29.124"/>
    </inkml:context>
    <inkml:brush xml:id="br0">
      <inkml:brushProperty name="width" value="0.2" units="cm"/>
      <inkml:brushProperty name="height" value="0.2" units="cm"/>
      <inkml:brushProperty name="color" value="#E71224"/>
      <inkml:brushProperty name="ignorePressure" value="1"/>
    </inkml:brush>
  </inkml:definitions>
  <inkml:trace contextRef="#ctx0" brushRef="#br0">0 0,'12824'0,"-12790"0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3-01-17T15:32:45.724"/>
    </inkml:context>
    <inkml:brush xml:id="br0">
      <inkml:brushProperty name="width" value="0.2" units="cm"/>
      <inkml:brushProperty name="height" value="0.2" units="cm"/>
      <inkml:brushProperty name="color" value="#E71224"/>
      <inkml:brushProperty name="ignorePressure" value="1"/>
    </inkml:brush>
  </inkml:definitions>
  <inkml:trace contextRef="#ctx0" brushRef="#br0">1 1,'3565'0,"-3529"0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3-01-17T15:32:48.752"/>
    </inkml:context>
    <inkml:brush xml:id="br0">
      <inkml:brushProperty name="width" value="0.2" units="cm"/>
      <inkml:brushProperty name="height" value="0.2" units="cm"/>
      <inkml:brushProperty name="color" value="#E71224"/>
      <inkml:brushProperty name="ignorePressure" value="1"/>
    </inkml:brush>
  </inkml:definitions>
  <inkml:trace contextRef="#ctx0" brushRef="#br0">0 1,'12367'0,"-12341"0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3-01-17T15:32:54.381"/>
    </inkml:context>
    <inkml:brush xml:id="br0">
      <inkml:brushProperty name="width" value="0.2" units="cm"/>
      <inkml:brushProperty name="height" value="0.2" units="cm"/>
      <inkml:brushProperty name="color" value="#E71224"/>
      <inkml:brushProperty name="ignorePressure" value="1"/>
    </inkml:brush>
  </inkml:definitions>
  <inkml:trace contextRef="#ctx0" brushRef="#br0">0 0,'13232'0,"-13196"0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3-01-17T15:32:58.547"/>
    </inkml:context>
    <inkml:brush xml:id="br0">
      <inkml:brushProperty name="width" value="0.2" units="cm"/>
      <inkml:brushProperty name="height" value="0.2" units="cm"/>
      <inkml:brushProperty name="color" value="#E71224"/>
      <inkml:brushProperty name="ignorePressure" value="1"/>
    </inkml:brush>
  </inkml:definitions>
  <inkml:trace contextRef="#ctx0" brushRef="#br0">0 0,'11755'0,"-11733"0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1-19T17:54:15.348"/>
    </inkml:context>
    <inkml:brush xml:id="br0">
      <inkml:brushProperty name="width" value="0.2" units="cm"/>
      <inkml:brushProperty name="height" value="0.2" units="cm"/>
      <inkml:brushProperty name="color" value="#E71224"/>
    </inkml:brush>
  </inkml:definitions>
  <inkml:trace contextRef="#ctx0" brushRef="#br0">1 0 24575,'0'2'2,"0"0"0,1 0 0,-1 0 0,0-1 0,1 1 0,-1 0-1,1-1 1,0 1 0,-1 0 0,1-1 0,0 1 0,0-1 0,0 1 0,0-1-1,0 1 1,1-1 0,-1 0 0,2 2 0,31 18-49,-16-11-106,11 6-160,0-1-1,48 17 0,-65-27 277,62 19-917,1-3 0,77 12 1,-34-9 8,267 44-3867,-2-14 1863,-196-30 1201,162 15 135,-96-22 1527,681 30-141,327-42 227,-715-7 0,480-19 0,-209 2 0,-119-3 0,-165 3 0,-266 11 0,233-4 0,191-14 0,-306 7 0,231-13 0,-72 3 0,-308 21 0,262-16 0,452-20 0,-593 23 489,8 0 17,-197 12 1519,-67 2-839,-94 6-1090,-3 2 39,0-1-1,0 0 1,0 0 0,0-1-1,-1 1 1,1-1 0,0 0 0,0 0-1,-1 0 1,1 0 0,-1-1-1,1 0 1,-1 1 0,1-1-1,3-3 1,-4-4 809,-6 2-153</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1-19T17:54:16.280"/>
    </inkml:context>
    <inkml:brush xml:id="br0">
      <inkml:brushProperty name="width" value="0.2" units="cm"/>
      <inkml:brushProperty name="height" value="0.2" units="cm"/>
      <inkml:brushProperty name="color" value="#E71224"/>
    </inkml:brush>
  </inkml:definitions>
  <inkml:trace contextRef="#ctx0" brushRef="#br0">1 1 24575,'-1'96'0,"3"107"0,4-124 0,24 114 0,74 146-2241,-97-320 2221,174 432-2785,-41-181 2544,-70-165 206,4-3 0,116 122 1,-163-194-228,2-1 0,1-2 0,1-1 0,1-2 0,1-1 0,57 31 0,-21-20 477,174 76-2615,-156-81 2208,0-4 0,1-3-1,2-5 1,0-3 0,145 3 0,31 1-880,-55-2-103,628-10-1373,-478-8 2003,777-33 565,-839 14 0,164-13 0,487-44 0,256-22 0,392-20 0,79 27 0,-1250 75 0,92-5 0,-112-1 0,916-64 0,-1114 71 0,832-75 0,-625 53 0,-31 4 0,-181 15 0,225-27 0,-105 6 0,230-35 0,-411 53 45,491-104 734,-587 113 153,-1-1 0,0-3 1,-2-1-1,59-35 0,-98 51-721,0-1-1,-1 1 1,1-1-1,-1 0 1,0 0-1,7-10 1,0-3 1022</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1-19T17:54:16.777"/>
    </inkml:context>
    <inkml:brush xml:id="br0">
      <inkml:brushProperty name="width" value="0.2" units="cm"/>
      <inkml:brushProperty name="height" value="0.2" units="cm"/>
      <inkml:brushProperty name="color" value="#E71224"/>
    </inkml:brush>
  </inkml:definitions>
  <inkml:trace contextRef="#ctx0" brushRef="#br0">1 1 24575,'3'1'0,"-1"-1"0,1 1 0,0 0 0,-1 0 0,1 1 0,0-1 0,-1 0 0,0 1 0,1 0 0,-1-1 0,3 4 0,8 5 0,135 88 0,-117-77-480,0 2 0,52 52 0,-11-9-54,20 18-125,15 13 253,15 17 406,-28-23 0,36 42-1433,-54-51 169,-43-49 653,239 258-652,-164-182 1051,-7-7 249,-43-36-904,105 92-1,-75-80 505,28 25 213,-31-33-248,36 27 45,157 66 860,-208-131-634,1-4 0,1-2 0,91 18-1,-118-35 5,1-1-1,63 2 1,93-9 739,-186-1-528,33-1 2173</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1-19T17:57:02.523"/>
    </inkml:context>
    <inkml:brush xml:id="br0">
      <inkml:brushProperty name="width" value="0.2" units="cm"/>
      <inkml:brushProperty name="height" value="0.2" units="cm"/>
      <inkml:brushProperty name="color" value="#E71224"/>
    </inkml:brush>
  </inkml:definitions>
  <inkml:trace contextRef="#ctx0" brushRef="#br0">1 1959 24575,'1'-1'0,"1"1"0,-1 0 0,1-1 0,0 1 0,-1-1 0,1 1 0,-1-1 0,1 0 0,-1 0 0,0 1 0,1-1 0,-1 0 0,0 0 0,1 0 0,-1-1 0,0 1 0,0 0 0,0 0 0,0-1 0,0 1 0,0 0 0,-1-1 0,1 1 0,0-1 0,0-1 0,3-7 0,-1 0 0,4-19 0,-4 16 0,3-14 0,2 0 0,1 0 0,14-30 0,16-35 0,-30 65 0,2 1 0,1 0 0,30-46 0,-35 60 0,0 0 0,11-25 0,-12 22 0,16-26 0,-2 8 0,19-25 0,-5 9 0,-24 34 0,0 0 0,0 1 0,14-13 0,-15 16 0,1-1 0,-2 0 0,1-1 0,-2 1 0,7-16 0,20-31 0,-12 25 0,-2-1 0,22-51 0,17-33 0,-53 106 0,2 0 0,0 1 0,0 0 0,19-19 0,-15 16 0,21-28 0,-19 22 0,1 1 0,26-27 0,-21 25 0,18-27 0,-25 34 0,1-1 0,0 1 0,24-19 0,21-22 0,-16 5 0,-20 22 0,2 1 0,0 1 0,32-25 0,-31 32 93,96-78-1551</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1-19T17:57:03.985"/>
    </inkml:context>
    <inkml:brush xml:id="br0">
      <inkml:brushProperty name="width" value="0.2" units="cm"/>
      <inkml:brushProperty name="height" value="0.2" units="cm"/>
      <inkml:brushProperty name="color" value="#E71224"/>
    </inkml:brush>
  </inkml:definitions>
  <inkml:trace contextRef="#ctx0" brushRef="#br0">1 1 24575,'4'2'0,"1"0"0,0 1 0,-1-1 0,1 1 0,-1 0 0,0 0 0,0 1 0,0 0 0,-1-1 0,5 6 0,6 11 0,0 1 0,-2 1 0,0 0 0,11 29 0,26 77 0,-41-108 0,-1 0 0,0 0 0,-2 0 0,5 36 0,-5-11 0,-2 53 0,-3-87 0,1-1 0,0 1 0,1 0 0,0 0 0,1-1 0,0 1 0,0-1 0,1 0 0,1 0 0,-1 0 0,2-1 0,-1 1 0,13 13 0,0 0 0,-13-16 0,1 0 0,-1-1 0,11 9 0,-13-12 0,0-1 0,0 0 0,1-1 0,-1 1 0,0-1 0,1 1 0,-1-1 0,1 0 0,-1 0 0,1 0 0,6 0 0,-3-1 0,-1 0 0,0 0 0,0-1 0,0 0 0,0 0 0,0-1 0,-1 1 0,1-1 0,0 0 0,7-4 0,6-5 0,28-20 0,2-1 0,-22 16 0,-13 8 0,1-1 0,0 2 0,25-9 0,0 2 0,49-25 0,-61 26 0,90-47 0,-105 53 9,1-1 0,14-11-1,-10 6-1399</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1-19T17:57:06.448"/>
    </inkml:context>
    <inkml:brush xml:id="br0">
      <inkml:brushProperty name="width" value="0.2" units="cm"/>
      <inkml:brushProperty name="height" value="0.2" units="cm"/>
      <inkml:brushProperty name="color" value="#E71224"/>
    </inkml:brush>
  </inkml:definitions>
  <inkml:trace contextRef="#ctx0" brushRef="#br0">0 1 24575,'0'2'0,"1"0"0,-1 0 0,1 1 0,0-1 0,-1 0 0,1 0 0,0 0 0,0 0 0,0 0 0,1 0 0,-1 0 0,0 0 0,2 1 0,25 25 0,-20-20 0,35 34 0,77 69 0,-109-102 0,-1 0 0,0 1 0,-1 0 0,0 1 0,0 0 0,-1 0 0,-1 1 0,0 0 0,8 19 0,-8-13 0,-2-1 0,0 1 0,0 0 0,-2 1 0,0-1 0,0 31 0,-2-33 0,1 0 0,1-1 0,0 1 0,7 15 0,-5-13 0,0 0 0,3 32 0,2 33 0,2 41 0,-12 301 0,-1-194 0,0-197 0,-10 49 0,3-22 0,8-56-114,-1 0 1,0 0-1,1 0 0,-2 1 0,1-1 1,0 0-1,-1-1 0,0 1 0,0 0 1,-1 0-1,-2 3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1-19T17:57:07.493"/>
    </inkml:context>
    <inkml:brush xml:id="br0">
      <inkml:brushProperty name="width" value="0.2" units="cm"/>
      <inkml:brushProperty name="height" value="0.2" units="cm"/>
      <inkml:brushProperty name="color" value="#E71224"/>
    </inkml:brush>
  </inkml:definitions>
  <inkml:trace contextRef="#ctx0" brushRef="#br0">1 1554 24575,'0'-5'0,"1"0"0,0 1 0,0-1 0,0 0 0,1 0 0,0 1 0,0-1 0,0 1 0,0 0 0,4-5 0,31-42 0,-29 41 0,26-33-976,72-69 1,101-102 975,-192 200 0,0 0 0,1 0 0,1 2 0,19-12 0,13-10 0,10-9-705,122-66 0,-123 78 705,63-30 0,98-41 0,-141 63 0,34-3-946,-62 24 663,85-40-1326,-37 22 1415,-16 6 183,125-44-85,-108 39 96,117-25 0,-95 29 0,21-2-11,9-2 65,-102 23 162,-31 8-217,1 0 0,19-8 0,149-66 2905,-162 68-7755</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1-19T17:57:09.351"/>
    </inkml:context>
    <inkml:brush xml:id="br0">
      <inkml:brushProperty name="width" value="0.2" units="cm"/>
      <inkml:brushProperty name="height" value="0.2" units="cm"/>
      <inkml:brushProperty name="color" value="#E71224"/>
    </inkml:brush>
  </inkml:definitions>
  <inkml:trace contextRef="#ctx0" brushRef="#br0">0 0 24575,'36'12'0,"10"-6"0,1-2 0,0-3 0,48-3 0,-12 0 0,423 2 0,-492 1 0,0 1 0,0 0 0,0 1 0,-1 1 0,17 6 0,23 5 0,-50-14 0,-1-1 0,1 1 0,0 0 0,-1-1 0,1 1 0,-1 1 0,1-1 0,-1 0 0,1 1 0,-1-1 0,0 1 0,0-1 0,1 1 0,-1 0 0,0 0 0,-1 0 0,1 0 0,0 1 0,-1-1 0,1 0 0,-1 1 0,0-1 0,0 1 0,2 5 0,-2-3 0,-1 0 0,1 0 0,-1 0 0,0 0 0,-1 0 0,1 1 0,-1-1 0,0 0 0,0 0 0,-1 0 0,0 0 0,-3 7 0,-130 285 0,55-153 0,24-52 0,39-67 0,1 1 0,1 1 0,-12 31 0,-12 25-1365</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07C662F-A001-4EA2-B345-C237CD6465E1}" type="datetimeFigureOut">
              <a:rPr lang="en-US" smtClean="0"/>
              <a:t>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2732108-1823-42F2-979D-D6CF9D74D210}" type="slidenum">
              <a:rPr lang="en-US" smtClean="0"/>
              <a:t>‹#›</a:t>
            </a:fld>
            <a:endParaRPr lang="en-US"/>
          </a:p>
        </p:txBody>
      </p:sp>
    </p:spTree>
    <p:extLst>
      <p:ext uri="{BB962C8B-B14F-4D97-AF65-F5344CB8AC3E}">
        <p14:creationId xmlns:p14="http://schemas.microsoft.com/office/powerpoint/2010/main" val="32470894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Lien vers l’article : https://arxiv.org/abs/2007.01547</a:t>
            </a:r>
          </a:p>
        </p:txBody>
      </p:sp>
      <p:sp>
        <p:nvSpPr>
          <p:cNvPr id="4" name="Slide Number Placeholder 3"/>
          <p:cNvSpPr>
            <a:spLocks noGrp="1"/>
          </p:cNvSpPr>
          <p:nvPr>
            <p:ph type="sldNum" sz="quarter" idx="5"/>
          </p:nvPr>
        </p:nvSpPr>
        <p:spPr/>
        <p:txBody>
          <a:bodyPr/>
          <a:lstStyle/>
          <a:p>
            <a:fld id="{B2732108-1823-42F2-979D-D6CF9D74D210}" type="slidenum">
              <a:rPr lang="en-US" smtClean="0"/>
              <a:t>4</a:t>
            </a:fld>
            <a:endParaRPr lang="en-US"/>
          </a:p>
        </p:txBody>
      </p:sp>
    </p:spTree>
    <p:extLst>
      <p:ext uri="{BB962C8B-B14F-4D97-AF65-F5344CB8AC3E}">
        <p14:creationId xmlns:p14="http://schemas.microsoft.com/office/powerpoint/2010/main" val="5442476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Première ligne : on crée un </a:t>
            </a:r>
            <a:r>
              <a:rPr lang="fr-FR" dirty="0" err="1"/>
              <a:t>DataLoader</a:t>
            </a:r>
            <a:r>
              <a:rPr lang="fr-FR" dirty="0"/>
              <a:t> </a:t>
            </a:r>
            <a:r>
              <a:rPr lang="fr-FR" dirty="0" err="1"/>
              <a:t>object</a:t>
            </a:r>
            <a:r>
              <a:rPr lang="fr-FR" dirty="0"/>
              <a:t> appelé </a:t>
            </a:r>
            <a:r>
              <a:rPr lang="fr-FR" dirty="0" err="1"/>
              <a:t>train_loader</a:t>
            </a:r>
            <a:r>
              <a:rPr lang="fr-FR" dirty="0"/>
              <a:t>. Ca coupe le </a:t>
            </a:r>
            <a:r>
              <a:rPr lang="fr-FR" dirty="0" err="1"/>
              <a:t>dataset</a:t>
            </a:r>
            <a:r>
              <a:rPr lang="fr-FR" dirty="0"/>
              <a:t> (</a:t>
            </a:r>
            <a:r>
              <a:rPr lang="fr-FR" dirty="0" err="1"/>
              <a:t>train_data</a:t>
            </a:r>
            <a:r>
              <a:rPr lang="fr-FR" dirty="0"/>
              <a:t>) en </a:t>
            </a:r>
            <a:r>
              <a:rPr lang="fr-FR" dirty="0" err="1"/>
              <a:t>batchs</a:t>
            </a:r>
            <a:r>
              <a:rPr lang="fr-FR" dirty="0"/>
              <a:t>, ces </a:t>
            </a:r>
            <a:r>
              <a:rPr lang="fr-FR" dirty="0" err="1"/>
              <a:t>batchs</a:t>
            </a:r>
            <a:r>
              <a:rPr lang="fr-FR" dirty="0"/>
              <a:t> sont de taille 1. Et on </a:t>
            </a:r>
            <a:r>
              <a:rPr lang="fr-FR" dirty="0" err="1"/>
              <a:t>shuffle</a:t>
            </a:r>
            <a:r>
              <a:rPr lang="fr-FR" dirty="0"/>
              <a:t>.</a:t>
            </a:r>
          </a:p>
          <a:p>
            <a:r>
              <a:rPr lang="fr-FR" dirty="0"/>
              <a:t>Troisième ligne : On fait </a:t>
            </a:r>
            <a:r>
              <a:rPr lang="fr-FR" dirty="0" err="1"/>
              <a:t>n_epochs</a:t>
            </a:r>
            <a:r>
              <a:rPr lang="fr-FR" dirty="0"/>
              <a:t> </a:t>
            </a:r>
            <a:r>
              <a:rPr lang="fr-FR" dirty="0" err="1"/>
              <a:t>epochs</a:t>
            </a:r>
            <a:r>
              <a:rPr lang="fr-FR" dirty="0"/>
              <a:t> (ça veut dire que chacune des données du </a:t>
            </a:r>
            <a:r>
              <a:rPr lang="fr-FR" dirty="0" err="1"/>
              <a:t>dataset</a:t>
            </a:r>
            <a:r>
              <a:rPr lang="fr-FR" dirty="0"/>
              <a:t> de base (</a:t>
            </a:r>
            <a:r>
              <a:rPr lang="fr-FR" dirty="0" err="1"/>
              <a:t>train_data</a:t>
            </a:r>
            <a:r>
              <a:rPr lang="fr-FR" dirty="0"/>
              <a:t>) sera montrée </a:t>
            </a:r>
            <a:r>
              <a:rPr lang="fr-FR" dirty="0" err="1"/>
              <a:t>n_epochs</a:t>
            </a:r>
            <a:r>
              <a:rPr lang="fr-FR" dirty="0"/>
              <a:t> fois au réseau</a:t>
            </a:r>
          </a:p>
          <a:p>
            <a:r>
              <a:rPr lang="fr-FR" dirty="0"/>
              <a:t>Quatrième ligne : Pour chacune des </a:t>
            </a:r>
            <a:r>
              <a:rPr lang="fr-FR" dirty="0" err="1"/>
              <a:t>epochs</a:t>
            </a:r>
            <a:r>
              <a:rPr lang="fr-FR" dirty="0"/>
              <a:t> on va faire </a:t>
            </a:r>
            <a:r>
              <a:rPr lang="fr-FR" dirty="0" err="1"/>
              <a:t>len</a:t>
            </a:r>
            <a:r>
              <a:rPr lang="fr-FR" dirty="0"/>
              <a:t>(</a:t>
            </a:r>
            <a:r>
              <a:rPr lang="fr-FR" dirty="0" err="1"/>
              <a:t>train_loader</a:t>
            </a:r>
            <a:r>
              <a:rPr lang="fr-FR" dirty="0"/>
              <a:t>) choses. Ici </a:t>
            </a:r>
            <a:r>
              <a:rPr lang="fr-FR" dirty="0" err="1"/>
              <a:t>len</a:t>
            </a:r>
            <a:r>
              <a:rPr lang="fr-FR" dirty="0"/>
              <a:t>(</a:t>
            </a:r>
            <a:r>
              <a:rPr lang="fr-FR" dirty="0" err="1"/>
              <a:t>train_loader</a:t>
            </a:r>
            <a:r>
              <a:rPr lang="fr-FR" dirty="0"/>
              <a:t>) c’est </a:t>
            </a:r>
            <a:r>
              <a:rPr lang="fr-FR" dirty="0" err="1"/>
              <a:t>len</a:t>
            </a:r>
            <a:r>
              <a:rPr lang="fr-FR" dirty="0"/>
              <a:t>(</a:t>
            </a:r>
            <a:r>
              <a:rPr lang="fr-FR" dirty="0" err="1"/>
              <a:t>train_data</a:t>
            </a:r>
            <a:r>
              <a:rPr lang="fr-FR" dirty="0"/>
              <a:t>) puisque mes </a:t>
            </a:r>
            <a:r>
              <a:rPr lang="fr-FR" dirty="0" err="1"/>
              <a:t>batchs</a:t>
            </a:r>
            <a:r>
              <a:rPr lang="fr-FR" dirty="0"/>
              <a:t> sont de taille 1 j’ai donc autant de </a:t>
            </a:r>
            <a:r>
              <a:rPr lang="fr-FR" dirty="0" err="1"/>
              <a:t>batchs</a:t>
            </a:r>
            <a:r>
              <a:rPr lang="fr-FR" dirty="0"/>
              <a:t> que de données.</a:t>
            </a:r>
          </a:p>
          <a:p>
            <a:r>
              <a:rPr lang="fr-FR" dirty="0"/>
              <a:t>Cinquième ligne : Pour chacun de mes </a:t>
            </a:r>
            <a:r>
              <a:rPr lang="fr-FR" dirty="0" err="1"/>
              <a:t>batchs</a:t>
            </a:r>
            <a:r>
              <a:rPr lang="fr-FR" dirty="0"/>
              <a:t>, je mets d’abord le gradient à 0.</a:t>
            </a:r>
          </a:p>
          <a:p>
            <a:r>
              <a:rPr lang="fr-FR" dirty="0"/>
              <a:t>Sixième ligne : Je fais une passe </a:t>
            </a:r>
            <a:r>
              <a:rPr lang="fr-FR" dirty="0" err="1"/>
              <a:t>forward</a:t>
            </a:r>
            <a:r>
              <a:rPr lang="fr-FR" dirty="0"/>
              <a:t>.</a:t>
            </a:r>
          </a:p>
          <a:p>
            <a:r>
              <a:rPr lang="fr-FR" dirty="0"/>
              <a:t>Septième ligne : Je calcule ma </a:t>
            </a:r>
            <a:r>
              <a:rPr lang="fr-FR" dirty="0" err="1"/>
              <a:t>loss</a:t>
            </a:r>
            <a:r>
              <a:rPr lang="fr-FR" dirty="0"/>
              <a:t> (par exemple MSE).</a:t>
            </a:r>
          </a:p>
          <a:p>
            <a:r>
              <a:rPr lang="fr-FR" dirty="0"/>
              <a:t>Huitième ligne : Je calcule mon gradient.</a:t>
            </a:r>
          </a:p>
          <a:p>
            <a:r>
              <a:rPr lang="fr-FR" dirty="0"/>
              <a:t>Neuvième ligne : Je donne mon gradient à mon optimiseur, et mon optimiseur fait des trucs avec les poids pour les améliorer en utilisant l’info du gradient. Dans le cas de SGD, on fait une gradient descente classique i.e. </a:t>
            </a:r>
            <a:r>
              <a:rPr lang="fr-FR" dirty="0" err="1"/>
              <a:t>a_new</a:t>
            </a:r>
            <a:r>
              <a:rPr lang="fr-FR" dirty="0"/>
              <a:t> = </a:t>
            </a:r>
            <a:r>
              <a:rPr lang="fr-FR" dirty="0" err="1"/>
              <a:t>a_old</a:t>
            </a:r>
            <a:r>
              <a:rPr lang="fr-FR" dirty="0"/>
              <a:t> – </a:t>
            </a:r>
            <a:r>
              <a:rPr lang="fr-FR" dirty="0" err="1"/>
              <a:t>learning_rate</a:t>
            </a:r>
            <a:r>
              <a:rPr lang="fr-FR" dirty="0"/>
              <a:t> * gradient. Mais d’autres optimiseurs font des trucs plus avancés que cette formule et on va les voir.</a:t>
            </a:r>
          </a:p>
        </p:txBody>
      </p:sp>
      <p:sp>
        <p:nvSpPr>
          <p:cNvPr id="4" name="Slide Number Placeholder 3"/>
          <p:cNvSpPr>
            <a:spLocks noGrp="1"/>
          </p:cNvSpPr>
          <p:nvPr>
            <p:ph type="sldNum" sz="quarter" idx="5"/>
          </p:nvPr>
        </p:nvSpPr>
        <p:spPr/>
        <p:txBody>
          <a:bodyPr/>
          <a:lstStyle/>
          <a:p>
            <a:fld id="{B2732108-1823-42F2-979D-D6CF9D74D210}" type="slidenum">
              <a:rPr lang="en-US" smtClean="0"/>
              <a:t>6</a:t>
            </a:fld>
            <a:endParaRPr lang="en-US"/>
          </a:p>
        </p:txBody>
      </p:sp>
    </p:spTree>
    <p:extLst>
      <p:ext uri="{BB962C8B-B14F-4D97-AF65-F5344CB8AC3E}">
        <p14:creationId xmlns:p14="http://schemas.microsoft.com/office/powerpoint/2010/main" val="17962577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fr-FR" sz="1200" dirty="0">
                <a:latin typeface="+mn-lt"/>
              </a:rPr>
              <a:t>IMPORTANT</a:t>
            </a:r>
          </a:p>
          <a:p>
            <a:r>
              <a:rPr lang="en-US" altLang="fr-FR" sz="1200" dirty="0">
                <a:latin typeface="+mn-lt"/>
              </a:rPr>
              <a:t>larger batch size -&gt; gradient is more precise -&gt; less ‘danger’ in having a larger learning rate</a:t>
            </a:r>
            <a:endParaRPr lang="fr-FR" dirty="0"/>
          </a:p>
        </p:txBody>
      </p:sp>
      <p:sp>
        <p:nvSpPr>
          <p:cNvPr id="4" name="Slide Number Placeholder 3"/>
          <p:cNvSpPr>
            <a:spLocks noGrp="1"/>
          </p:cNvSpPr>
          <p:nvPr>
            <p:ph type="sldNum" sz="quarter" idx="5"/>
          </p:nvPr>
        </p:nvSpPr>
        <p:spPr/>
        <p:txBody>
          <a:bodyPr/>
          <a:lstStyle/>
          <a:p>
            <a:fld id="{B2732108-1823-42F2-979D-D6CF9D74D210}" type="slidenum">
              <a:rPr lang="en-US" smtClean="0"/>
              <a:t>7</a:t>
            </a:fld>
            <a:endParaRPr lang="en-US"/>
          </a:p>
        </p:txBody>
      </p:sp>
    </p:spTree>
    <p:extLst>
      <p:ext uri="{BB962C8B-B14F-4D97-AF65-F5344CB8AC3E}">
        <p14:creationId xmlns:p14="http://schemas.microsoft.com/office/powerpoint/2010/main" val="6074697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a:effectLst/>
                <a:latin typeface="-apple-system"/>
              </a:rPr>
              <a:t>One way to think of SGD with momentum is a ball rolling down a hill, where areas of high gradient are steep parts of the hill and areas of low gradient are very flat areas. Sometimes the global minima, the point with the lowest loss, is in the middle of a giant flat area. The problem is that because these flat areas have small gradients, they also give small update steps which makes learning slow.</a:t>
            </a:r>
          </a:p>
          <a:p>
            <a:pPr algn="l"/>
            <a:r>
              <a:rPr lang="en-US" b="0" i="0" dirty="0">
                <a:effectLst/>
                <a:latin typeface="-apple-system"/>
              </a:rPr>
              <a:t>What if we expanded on the "ball rolling down a hill" analogy? We'd want to add something to our optimizer that made it keep the "momentum" gained rolling down the steep hills whilst it's going across the flat areas.</a:t>
            </a:r>
          </a:p>
          <a:p>
            <a:pPr algn="l"/>
            <a:r>
              <a:rPr lang="en-US" b="0" i="0" dirty="0">
                <a:effectLst/>
                <a:latin typeface="-apple-system"/>
              </a:rPr>
              <a:t>Well, that's exact what optimizers with momentum does! Our parameter update is now calculated using a velocity, </a:t>
            </a:r>
            <a:r>
              <a:rPr lang="en-US" b="0" i="0" u="none" strike="noStrike" dirty="0">
                <a:effectLst/>
                <a:latin typeface="MathJax_Math-italic"/>
              </a:rPr>
              <a:t>v</a:t>
            </a:r>
            <a:r>
              <a:rPr lang="en-US" b="0" i="0" dirty="0">
                <a:effectLst/>
                <a:latin typeface="-apple-system"/>
              </a:rPr>
              <a:t>, which depends on the current gradient multiplied by the learning rate plus the previous velocity multiplied by the momentum </a:t>
            </a:r>
            <a:r>
              <a:rPr lang="en-US" b="0" i="0" u="none" strike="noStrike" dirty="0">
                <a:effectLst/>
                <a:latin typeface="MathJax_Math-italic"/>
              </a:rPr>
              <a:t>γ</a:t>
            </a:r>
            <a:r>
              <a:rPr lang="en-US" b="0" i="0" dirty="0">
                <a:effectLst/>
                <a:latin typeface="-apple-system"/>
              </a:rPr>
              <a:t>.</a:t>
            </a:r>
          </a:p>
          <a:p>
            <a:endParaRPr lang="fr-FR" dirty="0"/>
          </a:p>
        </p:txBody>
      </p:sp>
      <p:sp>
        <p:nvSpPr>
          <p:cNvPr id="4" name="Slide Number Placeholder 3"/>
          <p:cNvSpPr>
            <a:spLocks noGrp="1"/>
          </p:cNvSpPr>
          <p:nvPr>
            <p:ph type="sldNum" sz="quarter" idx="5"/>
          </p:nvPr>
        </p:nvSpPr>
        <p:spPr/>
        <p:txBody>
          <a:bodyPr/>
          <a:lstStyle/>
          <a:p>
            <a:fld id="{B2732108-1823-42F2-979D-D6CF9D74D210}" type="slidenum">
              <a:rPr lang="en-US" smtClean="0"/>
              <a:t>8</a:t>
            </a:fld>
            <a:endParaRPr lang="en-US"/>
          </a:p>
        </p:txBody>
      </p:sp>
    </p:spTree>
    <p:extLst>
      <p:ext uri="{BB962C8B-B14F-4D97-AF65-F5344CB8AC3E}">
        <p14:creationId xmlns:p14="http://schemas.microsoft.com/office/powerpoint/2010/main" val="42459546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537E-021F-B1D6-B7A5-EB860C7627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ABAEBE-C970-C1BF-34B7-A8325E3764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4379ED-CE34-266A-76B8-EDFCF76F3CAC}"/>
              </a:ext>
            </a:extLst>
          </p:cNvPr>
          <p:cNvSpPr>
            <a:spLocks noGrp="1"/>
          </p:cNvSpPr>
          <p:nvPr>
            <p:ph type="body" idx="1"/>
          </p:nvPr>
        </p:nvSpPr>
        <p:spPr/>
        <p:txBody>
          <a:bodyPr/>
          <a:lstStyle/>
          <a:p>
            <a:endParaRPr lang="fr-FR" dirty="0"/>
          </a:p>
        </p:txBody>
      </p:sp>
      <p:sp>
        <p:nvSpPr>
          <p:cNvPr id="4" name="Slide Number Placeholder 3">
            <a:extLst>
              <a:ext uri="{FF2B5EF4-FFF2-40B4-BE49-F238E27FC236}">
                <a16:creationId xmlns:a16="http://schemas.microsoft.com/office/drawing/2014/main" id="{B71D133E-5E44-92FF-1B94-B1496B9128E4}"/>
              </a:ext>
            </a:extLst>
          </p:cNvPr>
          <p:cNvSpPr>
            <a:spLocks noGrp="1"/>
          </p:cNvSpPr>
          <p:nvPr>
            <p:ph type="sldNum" sz="quarter" idx="5"/>
          </p:nvPr>
        </p:nvSpPr>
        <p:spPr/>
        <p:txBody>
          <a:bodyPr/>
          <a:lstStyle/>
          <a:p>
            <a:fld id="{B2732108-1823-42F2-979D-D6CF9D74D210}" type="slidenum">
              <a:rPr lang="en-US" smtClean="0"/>
              <a:t>9</a:t>
            </a:fld>
            <a:endParaRPr lang="en-US"/>
          </a:p>
        </p:txBody>
      </p:sp>
    </p:spTree>
    <p:extLst>
      <p:ext uri="{BB962C8B-B14F-4D97-AF65-F5344CB8AC3E}">
        <p14:creationId xmlns:p14="http://schemas.microsoft.com/office/powerpoint/2010/main" val="11311016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Bien rappeler aux étudiants ce qu’on représente en x, et en y à chaque fois sur les graphes de </a:t>
            </a:r>
            <a:r>
              <a:rPr lang="fr-FR" dirty="0" err="1"/>
              <a:t>loss</a:t>
            </a:r>
            <a:r>
              <a:rPr lang="fr-FR" dirty="0"/>
              <a:t> en fonction des paramètres.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Slide Number Placeholder 3"/>
          <p:cNvSpPr>
            <a:spLocks noGrp="1"/>
          </p:cNvSpPr>
          <p:nvPr>
            <p:ph type="sldNum" sz="quarter" idx="5"/>
          </p:nvPr>
        </p:nvSpPr>
        <p:spPr/>
        <p:txBody>
          <a:bodyPr/>
          <a:lstStyle/>
          <a:p>
            <a:fld id="{B2732108-1823-42F2-979D-D6CF9D74D210}" type="slidenum">
              <a:rPr lang="en-US" smtClean="0"/>
              <a:t>10</a:t>
            </a:fld>
            <a:endParaRPr lang="en-US"/>
          </a:p>
        </p:txBody>
      </p:sp>
    </p:spTree>
    <p:extLst>
      <p:ext uri="{BB962C8B-B14F-4D97-AF65-F5344CB8AC3E}">
        <p14:creationId xmlns:p14="http://schemas.microsoft.com/office/powerpoint/2010/main" val="21118244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Bien rappeler aux étudiants ce qu’on représente en x, et en y à chaque fois sur les graphes de </a:t>
            </a:r>
            <a:r>
              <a:rPr lang="fr-FR" dirty="0" err="1"/>
              <a:t>loss</a:t>
            </a:r>
            <a:r>
              <a:rPr lang="fr-FR" dirty="0"/>
              <a:t> en fonction des paramètres.</a:t>
            </a:r>
          </a:p>
          <a:p>
            <a:endParaRPr lang="fr-FR" dirty="0"/>
          </a:p>
          <a:p>
            <a:r>
              <a:rPr lang="fr-FR" dirty="0"/>
              <a:t>On veut vite arriver à côté du trou (donc le </a:t>
            </a:r>
            <a:r>
              <a:rPr lang="fr-FR" dirty="0" err="1"/>
              <a:t>learning</a:t>
            </a:r>
            <a:r>
              <a:rPr lang="fr-FR" dirty="0"/>
              <a:t> rate doit être élevé au début) puis après on veut diminuer le </a:t>
            </a:r>
            <a:r>
              <a:rPr lang="fr-FR" dirty="0" err="1"/>
              <a:t>learning</a:t>
            </a:r>
            <a:r>
              <a:rPr lang="fr-FR" dirty="0"/>
              <a:t> rate sinon il y a un risque qu’on oscille juste de part et d’autre du trou.</a:t>
            </a:r>
          </a:p>
        </p:txBody>
      </p:sp>
      <p:sp>
        <p:nvSpPr>
          <p:cNvPr id="4" name="Slide Number Placeholder 3"/>
          <p:cNvSpPr>
            <a:spLocks noGrp="1"/>
          </p:cNvSpPr>
          <p:nvPr>
            <p:ph type="sldNum" sz="quarter" idx="5"/>
          </p:nvPr>
        </p:nvSpPr>
        <p:spPr/>
        <p:txBody>
          <a:bodyPr/>
          <a:lstStyle/>
          <a:p>
            <a:fld id="{B2732108-1823-42F2-979D-D6CF9D74D210}" type="slidenum">
              <a:rPr lang="en-US" smtClean="0"/>
              <a:t>11</a:t>
            </a:fld>
            <a:endParaRPr lang="en-US"/>
          </a:p>
        </p:txBody>
      </p:sp>
    </p:spTree>
    <p:extLst>
      <p:ext uri="{BB962C8B-B14F-4D97-AF65-F5344CB8AC3E}">
        <p14:creationId xmlns:p14="http://schemas.microsoft.com/office/powerpoint/2010/main" val="863693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Pareil, y a tout type de façons (parfois un peu perchés) de </a:t>
            </a:r>
            <a:r>
              <a:rPr lang="fr-FR" dirty="0" err="1"/>
              <a:t>scheduler</a:t>
            </a:r>
            <a:r>
              <a:rPr lang="fr-FR" dirty="0"/>
              <a:t> le </a:t>
            </a:r>
            <a:r>
              <a:rPr lang="fr-FR" dirty="0" err="1"/>
              <a:t>learning</a:t>
            </a:r>
            <a:r>
              <a:rPr lang="fr-FR" dirty="0"/>
              <a:t> rate. Le choix de quel </a:t>
            </a:r>
            <a:r>
              <a:rPr lang="fr-FR" dirty="0" err="1"/>
              <a:t>scheduling</a:t>
            </a:r>
            <a:r>
              <a:rPr lang="fr-FR" dirty="0"/>
              <a:t> est en lui-même un hyperparamètre.</a:t>
            </a:r>
          </a:p>
        </p:txBody>
      </p:sp>
      <p:sp>
        <p:nvSpPr>
          <p:cNvPr id="4" name="Slide Number Placeholder 3"/>
          <p:cNvSpPr>
            <a:spLocks noGrp="1"/>
          </p:cNvSpPr>
          <p:nvPr>
            <p:ph type="sldNum" sz="quarter" idx="5"/>
          </p:nvPr>
        </p:nvSpPr>
        <p:spPr/>
        <p:txBody>
          <a:bodyPr/>
          <a:lstStyle/>
          <a:p>
            <a:fld id="{B2732108-1823-42F2-979D-D6CF9D74D210}" type="slidenum">
              <a:rPr lang="en-US" smtClean="0"/>
              <a:t>12</a:t>
            </a:fld>
            <a:endParaRPr lang="en-US"/>
          </a:p>
        </p:txBody>
      </p:sp>
    </p:spTree>
    <p:extLst>
      <p:ext uri="{BB962C8B-B14F-4D97-AF65-F5344CB8AC3E}">
        <p14:creationId xmlns:p14="http://schemas.microsoft.com/office/powerpoint/2010/main" val="20344326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va d’ailleurs coder la dernière figure dès maintenant.</a:t>
            </a:r>
          </a:p>
        </p:txBody>
      </p:sp>
      <p:sp>
        <p:nvSpPr>
          <p:cNvPr id="4" name="Slide Number Placeholder 3"/>
          <p:cNvSpPr>
            <a:spLocks noGrp="1"/>
          </p:cNvSpPr>
          <p:nvPr>
            <p:ph type="sldNum" sz="quarter" idx="5"/>
          </p:nvPr>
        </p:nvSpPr>
        <p:spPr/>
        <p:txBody>
          <a:bodyPr/>
          <a:lstStyle/>
          <a:p>
            <a:fld id="{B2732108-1823-42F2-979D-D6CF9D74D210}" type="slidenum">
              <a:rPr lang="en-US" smtClean="0"/>
              <a:t>13</a:t>
            </a:fld>
            <a:endParaRPr lang="en-US"/>
          </a:p>
        </p:txBody>
      </p:sp>
    </p:spTree>
    <p:extLst>
      <p:ext uri="{BB962C8B-B14F-4D97-AF65-F5344CB8AC3E}">
        <p14:creationId xmlns:p14="http://schemas.microsoft.com/office/powerpoint/2010/main" val="12045388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Bien rappeler aux étudiants ce qu’on représente en x, en y et en z à chaque fois sur les graphes de </a:t>
            </a:r>
            <a:r>
              <a:rPr lang="fr-FR" dirty="0" err="1"/>
              <a:t>loss</a:t>
            </a:r>
            <a:r>
              <a:rPr lang="fr-FR" dirty="0"/>
              <a:t> en fonction des paramètres.</a:t>
            </a:r>
          </a:p>
        </p:txBody>
      </p:sp>
      <p:sp>
        <p:nvSpPr>
          <p:cNvPr id="4" name="Slide Number Placeholder 3"/>
          <p:cNvSpPr>
            <a:spLocks noGrp="1"/>
          </p:cNvSpPr>
          <p:nvPr>
            <p:ph type="sldNum" sz="quarter" idx="5"/>
          </p:nvPr>
        </p:nvSpPr>
        <p:spPr/>
        <p:txBody>
          <a:bodyPr/>
          <a:lstStyle/>
          <a:p>
            <a:fld id="{B2732108-1823-42F2-979D-D6CF9D74D210}" type="slidenum">
              <a:rPr lang="en-US" smtClean="0"/>
              <a:t>14</a:t>
            </a:fld>
            <a:endParaRPr lang="en-US"/>
          </a:p>
        </p:txBody>
      </p:sp>
    </p:spTree>
    <p:extLst>
      <p:ext uri="{BB962C8B-B14F-4D97-AF65-F5344CB8AC3E}">
        <p14:creationId xmlns:p14="http://schemas.microsoft.com/office/powerpoint/2010/main" val="7336703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Bien rappeler aux étudiants ce qu’on représente en x, en y et en z à chaque fois sur les graphes de </a:t>
            </a:r>
            <a:r>
              <a:rPr lang="fr-FR" dirty="0" err="1"/>
              <a:t>loss</a:t>
            </a:r>
            <a:r>
              <a:rPr lang="fr-FR" dirty="0"/>
              <a:t> en fonction des paramètres.</a:t>
            </a:r>
          </a:p>
        </p:txBody>
      </p:sp>
      <p:sp>
        <p:nvSpPr>
          <p:cNvPr id="4" name="Slide Number Placeholder 3"/>
          <p:cNvSpPr>
            <a:spLocks noGrp="1"/>
          </p:cNvSpPr>
          <p:nvPr>
            <p:ph type="sldNum" sz="quarter" idx="5"/>
          </p:nvPr>
        </p:nvSpPr>
        <p:spPr/>
        <p:txBody>
          <a:bodyPr/>
          <a:lstStyle/>
          <a:p>
            <a:fld id="{B2732108-1823-42F2-979D-D6CF9D74D210}" type="slidenum">
              <a:rPr lang="en-US" smtClean="0"/>
              <a:t>15</a:t>
            </a:fld>
            <a:endParaRPr lang="en-US"/>
          </a:p>
        </p:txBody>
      </p:sp>
    </p:spTree>
    <p:extLst>
      <p:ext uri="{BB962C8B-B14F-4D97-AF65-F5344CB8AC3E}">
        <p14:creationId xmlns:p14="http://schemas.microsoft.com/office/powerpoint/2010/main" val="36182673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B2732108-1823-42F2-979D-D6CF9D74D210}" type="slidenum">
              <a:rPr lang="en-US" smtClean="0"/>
              <a:t>16</a:t>
            </a:fld>
            <a:endParaRPr lang="en-US"/>
          </a:p>
        </p:txBody>
      </p:sp>
    </p:spTree>
    <p:extLst>
      <p:ext uri="{BB962C8B-B14F-4D97-AF65-F5344CB8AC3E}">
        <p14:creationId xmlns:p14="http://schemas.microsoft.com/office/powerpoint/2010/main" val="14205085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B2732108-1823-42F2-979D-D6CF9D74D210}" type="slidenum">
              <a:rPr lang="en-US" smtClean="0"/>
              <a:t>17</a:t>
            </a:fld>
            <a:endParaRPr lang="en-US"/>
          </a:p>
        </p:txBody>
      </p:sp>
    </p:spTree>
    <p:extLst>
      <p:ext uri="{BB962C8B-B14F-4D97-AF65-F5344CB8AC3E}">
        <p14:creationId xmlns:p14="http://schemas.microsoft.com/office/powerpoint/2010/main" val="20158124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choice of neurons to be deactivated is random. All neurons are assigned a probability p which determines their activation. A new hyperparameter!! When p = 0.1, each neuron has a 1 in 10 chance of being deactivated. At each epoch, we apply this random deactivation. That is, at each pass (forward propagation) the model will learn with a different configuration of neurons, with the neurons randomly turning on and off. </a:t>
            </a:r>
            <a:br>
              <a:rPr lang="en-US" dirty="0"/>
            </a:br>
            <a:r>
              <a:rPr lang="en-US" dirty="0"/>
              <a:t>This procedure effectively generates slightly different models with different neuron configurations at each iteration.</a:t>
            </a:r>
            <a:br>
              <a:rPr lang="en-US" dirty="0"/>
            </a:br>
            <a:br>
              <a:rPr lang="en-US" dirty="0"/>
            </a:br>
            <a:r>
              <a:rPr lang="en-US" dirty="0"/>
              <a:t>Caution: Dropout is only active during model training. During tests, each neuron remains active.</a:t>
            </a:r>
          </a:p>
          <a:p>
            <a:r>
              <a:rPr lang="en-US" dirty="0"/>
              <a:t>Caution2: </a:t>
            </a:r>
            <a:r>
              <a:rPr lang="en-US" b="0" i="0" dirty="0">
                <a:solidFill>
                  <a:srgbClr val="232629"/>
                </a:solidFill>
                <a:effectLst/>
                <a:latin typeface="-apple-system"/>
              </a:rPr>
              <a:t>Consider the neurons at the output layer. During training, each neuron usually get activations only from n neurons from the hidden layer due to dropout. Now, imagine we finished the training and remove dropout. Now activations of the output neurons will be computed based on more neurons ! This is likely to put the output neurons in unusual regime, so they will produce too large absolute values, being overexcited. To avoid this, t</a:t>
            </a:r>
            <a:r>
              <a:rPr lang="en-US" dirty="0">
                <a:effectLst/>
                <a:latin typeface="ui-monospace"/>
              </a:rPr>
              <a:t>he outputs are scaled by a </a:t>
            </a:r>
            <a:r>
              <a:rPr lang="en-US">
                <a:effectLst/>
                <a:latin typeface="ui-monospace"/>
              </a:rPr>
              <a:t>factor of </a:t>
            </a:r>
            <a:r>
              <a:rPr lang="en-US" dirty="0">
                <a:effectLst/>
                <a:latin typeface="ui-monospace"/>
              </a:rPr>
              <a:t>1/(1-p) during training.</a:t>
            </a:r>
            <a:endParaRPr lang="fr-FR" dirty="0"/>
          </a:p>
        </p:txBody>
      </p:sp>
      <p:sp>
        <p:nvSpPr>
          <p:cNvPr id="4" name="Slide Number Placeholder 3"/>
          <p:cNvSpPr>
            <a:spLocks noGrp="1"/>
          </p:cNvSpPr>
          <p:nvPr>
            <p:ph type="sldNum" sz="quarter" idx="5"/>
          </p:nvPr>
        </p:nvSpPr>
        <p:spPr/>
        <p:txBody>
          <a:bodyPr/>
          <a:lstStyle/>
          <a:p>
            <a:fld id="{B2732108-1823-42F2-979D-D6CF9D74D210}" type="slidenum">
              <a:rPr lang="en-US" smtClean="0"/>
              <a:t>18</a:t>
            </a:fld>
            <a:endParaRPr lang="en-US"/>
          </a:p>
        </p:txBody>
      </p:sp>
    </p:spTree>
    <p:extLst>
      <p:ext uri="{BB962C8B-B14F-4D97-AF65-F5344CB8AC3E}">
        <p14:creationId xmlns:p14="http://schemas.microsoft.com/office/powerpoint/2010/main" val="359598318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B2732108-1823-42F2-979D-D6CF9D74D210}" type="slidenum">
              <a:rPr lang="en-US" smtClean="0"/>
              <a:t>19</a:t>
            </a:fld>
            <a:endParaRPr lang="en-US"/>
          </a:p>
        </p:txBody>
      </p:sp>
    </p:spTree>
    <p:extLst>
      <p:ext uri="{BB962C8B-B14F-4D97-AF65-F5344CB8AC3E}">
        <p14:creationId xmlns:p14="http://schemas.microsoft.com/office/powerpoint/2010/main" val="19158232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Donner un exemple (dog cat horse </a:t>
            </a:r>
            <a:r>
              <a:rPr lang="fr-FR" dirty="0" err="1"/>
              <a:t>human</a:t>
            </a:r>
            <a:r>
              <a:rPr lang="fr-FR" dirty="0"/>
              <a:t>) et calculer la </a:t>
            </a:r>
            <a:r>
              <a:rPr lang="fr-FR" dirty="0" err="1"/>
              <a:t>loss</a:t>
            </a:r>
            <a:endParaRPr lang="fr-FR" dirty="0"/>
          </a:p>
        </p:txBody>
      </p:sp>
      <p:sp>
        <p:nvSpPr>
          <p:cNvPr id="4" name="Slide Number Placeholder 3"/>
          <p:cNvSpPr>
            <a:spLocks noGrp="1"/>
          </p:cNvSpPr>
          <p:nvPr>
            <p:ph type="sldNum" sz="quarter" idx="5"/>
          </p:nvPr>
        </p:nvSpPr>
        <p:spPr/>
        <p:txBody>
          <a:bodyPr/>
          <a:lstStyle/>
          <a:p>
            <a:fld id="{B2732108-1823-42F2-979D-D6CF9D74D210}" type="slidenum">
              <a:rPr lang="en-US" smtClean="0"/>
              <a:t>20</a:t>
            </a:fld>
            <a:endParaRPr lang="en-US"/>
          </a:p>
        </p:txBody>
      </p:sp>
    </p:spTree>
    <p:extLst>
      <p:ext uri="{BB962C8B-B14F-4D97-AF65-F5344CB8AC3E}">
        <p14:creationId xmlns:p14="http://schemas.microsoft.com/office/powerpoint/2010/main" val="13838709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Pourquoi y a que x_{n, y_{n}} ? Parce que, pour tous les autres le, P*(i) vaut 0 !!!</a:t>
            </a:r>
          </a:p>
          <a:p>
            <a:endParaRPr lang="fr-FR" dirty="0"/>
          </a:p>
          <a:p>
            <a:r>
              <a:rPr lang="fr-FR" dirty="0"/>
              <a:t>Si on fait </a:t>
            </a:r>
            <a:r>
              <a:rPr lang="fr-FR" dirty="0" err="1"/>
              <a:t>mean</a:t>
            </a:r>
            <a:r>
              <a:rPr lang="fr-FR" dirty="0"/>
              <a:t>, on divise pas par N mais par les poids attention !!!!!! En pratique de toute façon, avec PyTorch, on s’en fiche … mais c’est important de savoir comment ça marche quand même.</a:t>
            </a:r>
          </a:p>
        </p:txBody>
      </p:sp>
      <p:sp>
        <p:nvSpPr>
          <p:cNvPr id="4" name="Slide Number Placeholder 3"/>
          <p:cNvSpPr>
            <a:spLocks noGrp="1"/>
          </p:cNvSpPr>
          <p:nvPr>
            <p:ph type="sldNum" sz="quarter" idx="5"/>
          </p:nvPr>
        </p:nvSpPr>
        <p:spPr/>
        <p:txBody>
          <a:bodyPr/>
          <a:lstStyle/>
          <a:p>
            <a:fld id="{B2732108-1823-42F2-979D-D6CF9D74D210}" type="slidenum">
              <a:rPr lang="en-US" smtClean="0"/>
              <a:t>21</a:t>
            </a:fld>
            <a:endParaRPr lang="en-US"/>
          </a:p>
        </p:txBody>
      </p:sp>
    </p:spTree>
    <p:extLst>
      <p:ext uri="{BB962C8B-B14F-4D97-AF65-F5344CB8AC3E}">
        <p14:creationId xmlns:p14="http://schemas.microsoft.com/office/powerpoint/2010/main" val="174869914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B2732108-1823-42F2-979D-D6CF9D74D210}" type="slidenum">
              <a:rPr lang="en-US" smtClean="0"/>
              <a:t>22</a:t>
            </a:fld>
            <a:endParaRPr lang="en-US"/>
          </a:p>
        </p:txBody>
      </p:sp>
    </p:spTree>
    <p:extLst>
      <p:ext uri="{BB962C8B-B14F-4D97-AF65-F5344CB8AC3E}">
        <p14:creationId xmlns:p14="http://schemas.microsoft.com/office/powerpoint/2010/main" val="205829524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Why</a:t>
            </a:r>
            <a:r>
              <a:rPr lang="fr-FR" dirty="0"/>
              <a:t> log : cf. formula</a:t>
            </a:r>
          </a:p>
          <a:p>
            <a:r>
              <a:rPr lang="fr-FR" dirty="0" err="1"/>
              <a:t>Why</a:t>
            </a:r>
            <a:r>
              <a:rPr lang="fr-FR" dirty="0"/>
              <a:t> </a:t>
            </a:r>
            <a:r>
              <a:rPr lang="fr-FR" dirty="0" err="1"/>
              <a:t>SoftMax</a:t>
            </a:r>
            <a:r>
              <a:rPr lang="fr-FR" dirty="0"/>
              <a:t>: </a:t>
            </a:r>
            <a:r>
              <a:rPr lang="fr-FR" dirty="0" err="1"/>
              <a:t>we</a:t>
            </a:r>
            <a:r>
              <a:rPr lang="fr-FR" dirty="0"/>
              <a:t> </a:t>
            </a:r>
            <a:r>
              <a:rPr lang="fr-FR" dirty="0" err="1"/>
              <a:t>want</a:t>
            </a:r>
            <a:r>
              <a:rPr lang="fr-FR" dirty="0"/>
              <a:t> values </a:t>
            </a:r>
            <a:r>
              <a:rPr lang="fr-FR" dirty="0" err="1"/>
              <a:t>between</a:t>
            </a:r>
            <a:r>
              <a:rPr lang="fr-FR" dirty="0"/>
              <a:t> 0 and 1!!! Cf. </a:t>
            </a:r>
            <a:r>
              <a:rPr lang="fr-FR" dirty="0" err="1"/>
              <a:t>next</a:t>
            </a:r>
            <a:r>
              <a:rPr lang="fr-FR" dirty="0"/>
              <a:t> slide.</a:t>
            </a:r>
          </a:p>
        </p:txBody>
      </p:sp>
      <p:sp>
        <p:nvSpPr>
          <p:cNvPr id="4" name="Slide Number Placeholder 3"/>
          <p:cNvSpPr>
            <a:spLocks noGrp="1"/>
          </p:cNvSpPr>
          <p:nvPr>
            <p:ph type="sldNum" sz="quarter" idx="5"/>
          </p:nvPr>
        </p:nvSpPr>
        <p:spPr/>
        <p:txBody>
          <a:bodyPr/>
          <a:lstStyle/>
          <a:p>
            <a:fld id="{B2732108-1823-42F2-979D-D6CF9D74D210}" type="slidenum">
              <a:rPr lang="en-US" smtClean="0"/>
              <a:t>23</a:t>
            </a:fld>
            <a:endParaRPr lang="en-US"/>
          </a:p>
        </p:txBody>
      </p:sp>
    </p:spTree>
    <p:extLst>
      <p:ext uri="{BB962C8B-B14F-4D97-AF65-F5344CB8AC3E}">
        <p14:creationId xmlns:p14="http://schemas.microsoft.com/office/powerpoint/2010/main" val="14722434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err="1"/>
              <a:t>We</a:t>
            </a:r>
            <a:r>
              <a:rPr lang="fr-FR" dirty="0"/>
              <a:t> </a:t>
            </a:r>
            <a:r>
              <a:rPr lang="fr-FR" dirty="0" err="1"/>
              <a:t>want</a:t>
            </a:r>
            <a:r>
              <a:rPr lang="fr-FR" dirty="0"/>
              <a:t> </a:t>
            </a:r>
            <a:r>
              <a:rPr lang="fr-FR" dirty="0" err="1"/>
              <a:t>probabilities</a:t>
            </a:r>
            <a:r>
              <a:rPr lang="fr-FR" dirty="0"/>
              <a:t>! And </a:t>
            </a:r>
            <a:r>
              <a:rPr lang="fr-FR" dirty="0" err="1"/>
              <a:t>we</a:t>
            </a:r>
            <a:r>
              <a:rPr lang="fr-FR" dirty="0"/>
              <a:t> </a:t>
            </a:r>
            <a:r>
              <a:rPr lang="fr-FR" dirty="0" err="1"/>
              <a:t>don’t</a:t>
            </a:r>
            <a:r>
              <a:rPr lang="fr-FR" dirty="0"/>
              <a:t> </a:t>
            </a:r>
            <a:r>
              <a:rPr lang="fr-FR" dirty="0" err="1"/>
              <a:t>want</a:t>
            </a:r>
            <a:r>
              <a:rPr lang="fr-FR" dirty="0"/>
              <a:t> </a:t>
            </a:r>
            <a:r>
              <a:rPr lang="fr-FR" dirty="0" err="1"/>
              <a:t>negative</a:t>
            </a:r>
            <a:r>
              <a:rPr lang="fr-FR" dirty="0"/>
              <a:t> values in a </a:t>
            </a:r>
            <a:r>
              <a:rPr lang="fr-FR" dirty="0" err="1"/>
              <a:t>logarithm</a:t>
            </a:r>
            <a:r>
              <a:rPr lang="fr-FR" dirty="0"/>
              <a:t> …</a:t>
            </a:r>
          </a:p>
          <a:p>
            <a:endParaRPr lang="fr-FR" dirty="0"/>
          </a:p>
          <a:p>
            <a:r>
              <a:rPr lang="fr-FR" dirty="0"/>
              <a:t>Image source: https://www.youtube.com/watch?v=Pwgpl9mKars</a:t>
            </a:r>
          </a:p>
        </p:txBody>
      </p:sp>
      <p:sp>
        <p:nvSpPr>
          <p:cNvPr id="4" name="Slide Number Placeholder 3"/>
          <p:cNvSpPr>
            <a:spLocks noGrp="1"/>
          </p:cNvSpPr>
          <p:nvPr>
            <p:ph type="sldNum" sz="quarter" idx="5"/>
          </p:nvPr>
        </p:nvSpPr>
        <p:spPr/>
        <p:txBody>
          <a:bodyPr/>
          <a:lstStyle/>
          <a:p>
            <a:fld id="{B2732108-1823-42F2-979D-D6CF9D74D210}" type="slidenum">
              <a:rPr lang="en-US" smtClean="0"/>
              <a:t>24</a:t>
            </a:fld>
            <a:endParaRPr lang="en-US"/>
          </a:p>
        </p:txBody>
      </p:sp>
    </p:spTree>
    <p:extLst>
      <p:ext uri="{BB962C8B-B14F-4D97-AF65-F5344CB8AC3E}">
        <p14:creationId xmlns:p14="http://schemas.microsoft.com/office/powerpoint/2010/main" val="148418123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B2732108-1823-42F2-979D-D6CF9D74D210}" type="slidenum">
              <a:rPr lang="en-US" smtClean="0"/>
              <a:t>25</a:t>
            </a:fld>
            <a:endParaRPr lang="en-US"/>
          </a:p>
        </p:txBody>
      </p:sp>
    </p:spTree>
    <p:extLst>
      <p:ext uri="{BB962C8B-B14F-4D97-AF65-F5344CB8AC3E}">
        <p14:creationId xmlns:p14="http://schemas.microsoft.com/office/powerpoint/2010/main" val="32427030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9D996-A4EC-6257-26FE-DB6839D60F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A55D6DC-8BAC-C1EB-5B69-BE42660C5D8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B0A99D3-5B2B-1653-CA01-246B1D104419}"/>
              </a:ext>
            </a:extLst>
          </p:cNvPr>
          <p:cNvSpPr>
            <a:spLocks noGrp="1"/>
          </p:cNvSpPr>
          <p:nvPr>
            <p:ph type="dt" sz="half" idx="10"/>
          </p:nvPr>
        </p:nvSpPr>
        <p:spPr/>
        <p:txBody>
          <a:bodyPr/>
          <a:lstStyle/>
          <a:p>
            <a:fld id="{4F06803B-D602-4C3D-AD5C-468F46C70933}" type="datetimeFigureOut">
              <a:rPr lang="en-US" smtClean="0"/>
              <a:t>1/9/2026</a:t>
            </a:fld>
            <a:endParaRPr lang="en-US"/>
          </a:p>
        </p:txBody>
      </p:sp>
      <p:sp>
        <p:nvSpPr>
          <p:cNvPr id="5" name="Footer Placeholder 4">
            <a:extLst>
              <a:ext uri="{FF2B5EF4-FFF2-40B4-BE49-F238E27FC236}">
                <a16:creationId xmlns:a16="http://schemas.microsoft.com/office/drawing/2014/main" id="{01C409FF-A730-E7B3-68CD-07BFB0EF8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2C5567-E6B6-0210-D509-FFCDFF0A4AD8}"/>
              </a:ext>
            </a:extLst>
          </p:cNvPr>
          <p:cNvSpPr>
            <a:spLocks noGrp="1"/>
          </p:cNvSpPr>
          <p:nvPr>
            <p:ph type="sldNum" sz="quarter" idx="12"/>
          </p:nvPr>
        </p:nvSpPr>
        <p:spPr/>
        <p:txBody>
          <a:bodyPr/>
          <a:lstStyle/>
          <a:p>
            <a:fld id="{BF14F4E9-7FFE-43E2-BF46-8BA47F99F80A}" type="slidenum">
              <a:rPr lang="en-US" smtClean="0"/>
              <a:t>‹#›</a:t>
            </a:fld>
            <a:endParaRPr lang="en-US"/>
          </a:p>
        </p:txBody>
      </p:sp>
    </p:spTree>
    <p:extLst>
      <p:ext uri="{BB962C8B-B14F-4D97-AF65-F5344CB8AC3E}">
        <p14:creationId xmlns:p14="http://schemas.microsoft.com/office/powerpoint/2010/main" val="14612428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1627B-819E-3C57-A8A0-F492D8A3DA4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0199464-DDCB-94F4-FFE8-B0A4104EB93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8C7089-2C49-7221-0867-F6BBDF5FEBA8}"/>
              </a:ext>
            </a:extLst>
          </p:cNvPr>
          <p:cNvSpPr>
            <a:spLocks noGrp="1"/>
          </p:cNvSpPr>
          <p:nvPr>
            <p:ph type="dt" sz="half" idx="10"/>
          </p:nvPr>
        </p:nvSpPr>
        <p:spPr/>
        <p:txBody>
          <a:bodyPr/>
          <a:lstStyle/>
          <a:p>
            <a:fld id="{4F06803B-D602-4C3D-AD5C-468F46C70933}" type="datetimeFigureOut">
              <a:rPr lang="en-US" smtClean="0"/>
              <a:t>1/9/2026</a:t>
            </a:fld>
            <a:endParaRPr lang="en-US"/>
          </a:p>
        </p:txBody>
      </p:sp>
      <p:sp>
        <p:nvSpPr>
          <p:cNvPr id="5" name="Footer Placeholder 4">
            <a:extLst>
              <a:ext uri="{FF2B5EF4-FFF2-40B4-BE49-F238E27FC236}">
                <a16:creationId xmlns:a16="http://schemas.microsoft.com/office/drawing/2014/main" id="{74AA1C85-3577-A1F9-F11A-409951AB0D2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C7C87D-85F5-EE17-3BD4-B924B032FA9A}"/>
              </a:ext>
            </a:extLst>
          </p:cNvPr>
          <p:cNvSpPr>
            <a:spLocks noGrp="1"/>
          </p:cNvSpPr>
          <p:nvPr>
            <p:ph type="sldNum" sz="quarter" idx="12"/>
          </p:nvPr>
        </p:nvSpPr>
        <p:spPr/>
        <p:txBody>
          <a:bodyPr/>
          <a:lstStyle/>
          <a:p>
            <a:fld id="{BF14F4E9-7FFE-43E2-BF46-8BA47F99F80A}" type="slidenum">
              <a:rPr lang="en-US" smtClean="0"/>
              <a:t>‹#›</a:t>
            </a:fld>
            <a:endParaRPr lang="en-US"/>
          </a:p>
        </p:txBody>
      </p:sp>
    </p:spTree>
    <p:extLst>
      <p:ext uri="{BB962C8B-B14F-4D97-AF65-F5344CB8AC3E}">
        <p14:creationId xmlns:p14="http://schemas.microsoft.com/office/powerpoint/2010/main" val="40495102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21F9F-B735-5E82-C065-E959A2F6BD8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DF67A7F-E95C-A0D9-F7A0-6513FCC74DC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A3209BC-18F4-A038-E2AC-F77252111EE1}"/>
              </a:ext>
            </a:extLst>
          </p:cNvPr>
          <p:cNvSpPr>
            <a:spLocks noGrp="1"/>
          </p:cNvSpPr>
          <p:nvPr>
            <p:ph type="dt" sz="half" idx="10"/>
          </p:nvPr>
        </p:nvSpPr>
        <p:spPr/>
        <p:txBody>
          <a:bodyPr/>
          <a:lstStyle/>
          <a:p>
            <a:fld id="{4F06803B-D602-4C3D-AD5C-468F46C70933}" type="datetimeFigureOut">
              <a:rPr lang="en-US" smtClean="0"/>
              <a:t>1/9/2026</a:t>
            </a:fld>
            <a:endParaRPr lang="en-US"/>
          </a:p>
        </p:txBody>
      </p:sp>
      <p:sp>
        <p:nvSpPr>
          <p:cNvPr id="5" name="Footer Placeholder 4">
            <a:extLst>
              <a:ext uri="{FF2B5EF4-FFF2-40B4-BE49-F238E27FC236}">
                <a16:creationId xmlns:a16="http://schemas.microsoft.com/office/drawing/2014/main" id="{DD36448A-8D71-F7C3-BA87-0CB63975387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9E4CD4-0D6D-251C-2E4E-4B7F456BAD6B}"/>
              </a:ext>
            </a:extLst>
          </p:cNvPr>
          <p:cNvSpPr>
            <a:spLocks noGrp="1"/>
          </p:cNvSpPr>
          <p:nvPr>
            <p:ph type="sldNum" sz="quarter" idx="12"/>
          </p:nvPr>
        </p:nvSpPr>
        <p:spPr/>
        <p:txBody>
          <a:bodyPr/>
          <a:lstStyle/>
          <a:p>
            <a:fld id="{BF14F4E9-7FFE-43E2-BF46-8BA47F99F80A}" type="slidenum">
              <a:rPr lang="en-US" smtClean="0"/>
              <a:t>‹#›</a:t>
            </a:fld>
            <a:endParaRPr lang="en-US"/>
          </a:p>
        </p:txBody>
      </p:sp>
    </p:spTree>
    <p:extLst>
      <p:ext uri="{BB962C8B-B14F-4D97-AF65-F5344CB8AC3E}">
        <p14:creationId xmlns:p14="http://schemas.microsoft.com/office/powerpoint/2010/main" val="36037651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01ADC-C02D-6A99-3CCC-86C860BF5F0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11D2129-9FE8-0979-D755-9FD94A1AB5B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36E1BE0-7CAE-4F9C-34C5-16D08688B6B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CA3A641-C5D4-151A-CB52-B0FDD3E62F2D}"/>
              </a:ext>
            </a:extLst>
          </p:cNvPr>
          <p:cNvSpPr>
            <a:spLocks noGrp="1"/>
          </p:cNvSpPr>
          <p:nvPr>
            <p:ph type="dt" sz="half" idx="10"/>
          </p:nvPr>
        </p:nvSpPr>
        <p:spPr/>
        <p:txBody>
          <a:bodyPr/>
          <a:lstStyle/>
          <a:p>
            <a:fld id="{4F06803B-D602-4C3D-AD5C-468F46C70933}" type="datetimeFigureOut">
              <a:rPr lang="en-US" smtClean="0"/>
              <a:t>1/9/2026</a:t>
            </a:fld>
            <a:endParaRPr lang="en-US"/>
          </a:p>
        </p:txBody>
      </p:sp>
      <p:sp>
        <p:nvSpPr>
          <p:cNvPr id="6" name="Footer Placeholder 5">
            <a:extLst>
              <a:ext uri="{FF2B5EF4-FFF2-40B4-BE49-F238E27FC236}">
                <a16:creationId xmlns:a16="http://schemas.microsoft.com/office/drawing/2014/main" id="{E7C7E711-F68C-B53C-51F1-1B1B087C0EC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87740B4-102D-73A9-62A5-44AE0B0EB032}"/>
              </a:ext>
            </a:extLst>
          </p:cNvPr>
          <p:cNvSpPr>
            <a:spLocks noGrp="1"/>
          </p:cNvSpPr>
          <p:nvPr>
            <p:ph type="sldNum" sz="quarter" idx="12"/>
          </p:nvPr>
        </p:nvSpPr>
        <p:spPr/>
        <p:txBody>
          <a:bodyPr/>
          <a:lstStyle/>
          <a:p>
            <a:fld id="{BF14F4E9-7FFE-43E2-BF46-8BA47F99F80A}" type="slidenum">
              <a:rPr lang="en-US" smtClean="0"/>
              <a:t>‹#›</a:t>
            </a:fld>
            <a:endParaRPr lang="en-US"/>
          </a:p>
        </p:txBody>
      </p:sp>
    </p:spTree>
    <p:extLst>
      <p:ext uri="{BB962C8B-B14F-4D97-AF65-F5344CB8AC3E}">
        <p14:creationId xmlns:p14="http://schemas.microsoft.com/office/powerpoint/2010/main" val="18230316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9D4615-1764-3987-93DD-215F70D72DC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A0C5E9E-2AC5-2F57-8657-FC99387C25C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5ECCD67-6F92-DA88-1FA0-9F3562A0CFA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5472968-844C-C57C-04EF-FB70F3798C4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0D99E48-C8E6-31C1-B156-3B64D643E99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770FC9A-4305-1491-B2C4-19322A5CFCB9}"/>
              </a:ext>
            </a:extLst>
          </p:cNvPr>
          <p:cNvSpPr>
            <a:spLocks noGrp="1"/>
          </p:cNvSpPr>
          <p:nvPr>
            <p:ph type="dt" sz="half" idx="10"/>
          </p:nvPr>
        </p:nvSpPr>
        <p:spPr/>
        <p:txBody>
          <a:bodyPr/>
          <a:lstStyle/>
          <a:p>
            <a:fld id="{4F06803B-D602-4C3D-AD5C-468F46C70933}" type="datetimeFigureOut">
              <a:rPr lang="en-US" smtClean="0"/>
              <a:t>1/9/2026</a:t>
            </a:fld>
            <a:endParaRPr lang="en-US"/>
          </a:p>
        </p:txBody>
      </p:sp>
      <p:sp>
        <p:nvSpPr>
          <p:cNvPr id="8" name="Footer Placeholder 7">
            <a:extLst>
              <a:ext uri="{FF2B5EF4-FFF2-40B4-BE49-F238E27FC236}">
                <a16:creationId xmlns:a16="http://schemas.microsoft.com/office/drawing/2014/main" id="{30655427-370E-E9AE-88A8-92C24EA3036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F918FF4-9CC2-A78C-D3CB-0992D95AEC53}"/>
              </a:ext>
            </a:extLst>
          </p:cNvPr>
          <p:cNvSpPr>
            <a:spLocks noGrp="1"/>
          </p:cNvSpPr>
          <p:nvPr>
            <p:ph type="sldNum" sz="quarter" idx="12"/>
          </p:nvPr>
        </p:nvSpPr>
        <p:spPr/>
        <p:txBody>
          <a:bodyPr/>
          <a:lstStyle/>
          <a:p>
            <a:fld id="{BF14F4E9-7FFE-43E2-BF46-8BA47F99F80A}" type="slidenum">
              <a:rPr lang="en-US" smtClean="0"/>
              <a:t>‹#›</a:t>
            </a:fld>
            <a:endParaRPr lang="en-US"/>
          </a:p>
        </p:txBody>
      </p:sp>
    </p:spTree>
    <p:extLst>
      <p:ext uri="{BB962C8B-B14F-4D97-AF65-F5344CB8AC3E}">
        <p14:creationId xmlns:p14="http://schemas.microsoft.com/office/powerpoint/2010/main" val="4175932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7A7ED-C12E-4945-7D3B-8EAB5EC8658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CEC4C55-F303-771C-4001-535D6BFE8B4C}"/>
              </a:ext>
            </a:extLst>
          </p:cNvPr>
          <p:cNvSpPr>
            <a:spLocks noGrp="1"/>
          </p:cNvSpPr>
          <p:nvPr>
            <p:ph type="dt" sz="half" idx="10"/>
          </p:nvPr>
        </p:nvSpPr>
        <p:spPr/>
        <p:txBody>
          <a:bodyPr/>
          <a:lstStyle/>
          <a:p>
            <a:fld id="{4F06803B-D602-4C3D-AD5C-468F46C70933}" type="datetimeFigureOut">
              <a:rPr lang="en-US" smtClean="0"/>
              <a:t>1/9/2026</a:t>
            </a:fld>
            <a:endParaRPr lang="en-US"/>
          </a:p>
        </p:txBody>
      </p:sp>
      <p:sp>
        <p:nvSpPr>
          <p:cNvPr id="4" name="Footer Placeholder 3">
            <a:extLst>
              <a:ext uri="{FF2B5EF4-FFF2-40B4-BE49-F238E27FC236}">
                <a16:creationId xmlns:a16="http://schemas.microsoft.com/office/drawing/2014/main" id="{EA9172D4-2508-1CCF-C22C-2F2D0981FAA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58953F3-3252-ACC7-BB05-19B687C10327}"/>
              </a:ext>
            </a:extLst>
          </p:cNvPr>
          <p:cNvSpPr>
            <a:spLocks noGrp="1"/>
          </p:cNvSpPr>
          <p:nvPr>
            <p:ph type="sldNum" sz="quarter" idx="12"/>
          </p:nvPr>
        </p:nvSpPr>
        <p:spPr/>
        <p:txBody>
          <a:bodyPr/>
          <a:lstStyle/>
          <a:p>
            <a:fld id="{BF14F4E9-7FFE-43E2-BF46-8BA47F99F80A}" type="slidenum">
              <a:rPr lang="en-US" smtClean="0"/>
              <a:t>‹#›</a:t>
            </a:fld>
            <a:endParaRPr lang="en-US"/>
          </a:p>
        </p:txBody>
      </p:sp>
    </p:spTree>
    <p:extLst>
      <p:ext uri="{BB962C8B-B14F-4D97-AF65-F5344CB8AC3E}">
        <p14:creationId xmlns:p14="http://schemas.microsoft.com/office/powerpoint/2010/main" val="32275705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BA56E01-1DEE-1C11-3FFF-1942C1B97E27}"/>
              </a:ext>
            </a:extLst>
          </p:cNvPr>
          <p:cNvSpPr>
            <a:spLocks noGrp="1"/>
          </p:cNvSpPr>
          <p:nvPr>
            <p:ph type="dt" sz="half" idx="10"/>
          </p:nvPr>
        </p:nvSpPr>
        <p:spPr/>
        <p:txBody>
          <a:bodyPr/>
          <a:lstStyle/>
          <a:p>
            <a:fld id="{4F06803B-D602-4C3D-AD5C-468F46C70933}" type="datetimeFigureOut">
              <a:rPr lang="en-US" smtClean="0"/>
              <a:t>1/9/2026</a:t>
            </a:fld>
            <a:endParaRPr lang="en-US"/>
          </a:p>
        </p:txBody>
      </p:sp>
      <p:sp>
        <p:nvSpPr>
          <p:cNvPr id="3" name="Footer Placeholder 2">
            <a:extLst>
              <a:ext uri="{FF2B5EF4-FFF2-40B4-BE49-F238E27FC236}">
                <a16:creationId xmlns:a16="http://schemas.microsoft.com/office/drawing/2014/main" id="{E4BFFDF0-1A24-F2A6-2C07-AC463CC9BA6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B14FB57-96AE-57B6-C4A4-441DA5A14913}"/>
              </a:ext>
            </a:extLst>
          </p:cNvPr>
          <p:cNvSpPr>
            <a:spLocks noGrp="1"/>
          </p:cNvSpPr>
          <p:nvPr>
            <p:ph type="sldNum" sz="quarter" idx="12"/>
          </p:nvPr>
        </p:nvSpPr>
        <p:spPr/>
        <p:txBody>
          <a:bodyPr/>
          <a:lstStyle/>
          <a:p>
            <a:fld id="{BF14F4E9-7FFE-43E2-BF46-8BA47F99F80A}" type="slidenum">
              <a:rPr lang="en-US" smtClean="0"/>
              <a:t>‹#›</a:t>
            </a:fld>
            <a:endParaRPr lang="en-US"/>
          </a:p>
        </p:txBody>
      </p:sp>
    </p:spTree>
    <p:extLst>
      <p:ext uri="{BB962C8B-B14F-4D97-AF65-F5344CB8AC3E}">
        <p14:creationId xmlns:p14="http://schemas.microsoft.com/office/powerpoint/2010/main" val="36465612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0174B-4AF7-89A1-CA69-405A56EE1AE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8D5EBB7-68C4-F738-53C8-29FF074EE22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1244DBF-CEE7-EBC0-8F52-BC7D478569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EC358A8-52B3-9E3C-1714-9CDCA3FF0C31}"/>
              </a:ext>
            </a:extLst>
          </p:cNvPr>
          <p:cNvSpPr>
            <a:spLocks noGrp="1"/>
          </p:cNvSpPr>
          <p:nvPr>
            <p:ph type="dt" sz="half" idx="10"/>
          </p:nvPr>
        </p:nvSpPr>
        <p:spPr/>
        <p:txBody>
          <a:bodyPr/>
          <a:lstStyle/>
          <a:p>
            <a:fld id="{4F06803B-D602-4C3D-AD5C-468F46C70933}" type="datetimeFigureOut">
              <a:rPr lang="en-US" smtClean="0"/>
              <a:t>1/9/2026</a:t>
            </a:fld>
            <a:endParaRPr lang="en-US"/>
          </a:p>
        </p:txBody>
      </p:sp>
      <p:sp>
        <p:nvSpPr>
          <p:cNvPr id="6" name="Footer Placeholder 5">
            <a:extLst>
              <a:ext uri="{FF2B5EF4-FFF2-40B4-BE49-F238E27FC236}">
                <a16:creationId xmlns:a16="http://schemas.microsoft.com/office/drawing/2014/main" id="{8F8B360A-A410-75D2-CC00-09FBD89ACF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D910BA4-7B5B-911E-03CA-2B9131AEB5DB}"/>
              </a:ext>
            </a:extLst>
          </p:cNvPr>
          <p:cNvSpPr>
            <a:spLocks noGrp="1"/>
          </p:cNvSpPr>
          <p:nvPr>
            <p:ph type="sldNum" sz="quarter" idx="12"/>
          </p:nvPr>
        </p:nvSpPr>
        <p:spPr/>
        <p:txBody>
          <a:bodyPr/>
          <a:lstStyle/>
          <a:p>
            <a:fld id="{BF14F4E9-7FFE-43E2-BF46-8BA47F99F80A}" type="slidenum">
              <a:rPr lang="en-US" smtClean="0"/>
              <a:t>‹#›</a:t>
            </a:fld>
            <a:endParaRPr lang="en-US"/>
          </a:p>
        </p:txBody>
      </p:sp>
    </p:spTree>
    <p:extLst>
      <p:ext uri="{BB962C8B-B14F-4D97-AF65-F5344CB8AC3E}">
        <p14:creationId xmlns:p14="http://schemas.microsoft.com/office/powerpoint/2010/main" val="11295795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DBDB32-2E4E-28FD-F205-0C05F5FC13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0957A4-5AEA-2889-53DB-E7A0C778750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FA4BE3C-DB2A-6130-17B0-C306122F9D4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911285E-B753-ECC0-4A95-F86C3A7912D8}"/>
              </a:ext>
            </a:extLst>
          </p:cNvPr>
          <p:cNvSpPr>
            <a:spLocks noGrp="1"/>
          </p:cNvSpPr>
          <p:nvPr>
            <p:ph type="dt" sz="half" idx="10"/>
          </p:nvPr>
        </p:nvSpPr>
        <p:spPr/>
        <p:txBody>
          <a:bodyPr/>
          <a:lstStyle/>
          <a:p>
            <a:fld id="{4F06803B-D602-4C3D-AD5C-468F46C70933}" type="datetimeFigureOut">
              <a:rPr lang="en-US" smtClean="0"/>
              <a:t>1/9/2026</a:t>
            </a:fld>
            <a:endParaRPr lang="en-US"/>
          </a:p>
        </p:txBody>
      </p:sp>
      <p:sp>
        <p:nvSpPr>
          <p:cNvPr id="6" name="Footer Placeholder 5">
            <a:extLst>
              <a:ext uri="{FF2B5EF4-FFF2-40B4-BE49-F238E27FC236}">
                <a16:creationId xmlns:a16="http://schemas.microsoft.com/office/drawing/2014/main" id="{3E0D5F45-9D80-4444-BE81-296F10FD2AD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740ADF-807A-446C-C3C6-FA3B7FC73E13}"/>
              </a:ext>
            </a:extLst>
          </p:cNvPr>
          <p:cNvSpPr>
            <a:spLocks noGrp="1"/>
          </p:cNvSpPr>
          <p:nvPr>
            <p:ph type="sldNum" sz="quarter" idx="12"/>
          </p:nvPr>
        </p:nvSpPr>
        <p:spPr/>
        <p:txBody>
          <a:bodyPr/>
          <a:lstStyle/>
          <a:p>
            <a:fld id="{BF14F4E9-7FFE-43E2-BF46-8BA47F99F80A}" type="slidenum">
              <a:rPr lang="en-US" smtClean="0"/>
              <a:t>‹#›</a:t>
            </a:fld>
            <a:endParaRPr lang="en-US"/>
          </a:p>
        </p:txBody>
      </p:sp>
    </p:spTree>
    <p:extLst>
      <p:ext uri="{BB962C8B-B14F-4D97-AF65-F5344CB8AC3E}">
        <p14:creationId xmlns:p14="http://schemas.microsoft.com/office/powerpoint/2010/main" val="14556365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983DDD-5394-07C2-F199-4BD589B83DE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1B9A337-277D-C2E9-0615-6FAB648C32E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D8930E0-B236-B6A3-1F70-2F5BFD38CB1E}"/>
              </a:ext>
            </a:extLst>
          </p:cNvPr>
          <p:cNvSpPr>
            <a:spLocks noGrp="1"/>
          </p:cNvSpPr>
          <p:nvPr>
            <p:ph type="dt" sz="half" idx="10"/>
          </p:nvPr>
        </p:nvSpPr>
        <p:spPr/>
        <p:txBody>
          <a:bodyPr/>
          <a:lstStyle/>
          <a:p>
            <a:fld id="{4F06803B-D602-4C3D-AD5C-468F46C70933}" type="datetimeFigureOut">
              <a:rPr lang="en-US" smtClean="0"/>
              <a:t>1/9/2026</a:t>
            </a:fld>
            <a:endParaRPr lang="en-US"/>
          </a:p>
        </p:txBody>
      </p:sp>
      <p:sp>
        <p:nvSpPr>
          <p:cNvPr id="5" name="Footer Placeholder 4">
            <a:extLst>
              <a:ext uri="{FF2B5EF4-FFF2-40B4-BE49-F238E27FC236}">
                <a16:creationId xmlns:a16="http://schemas.microsoft.com/office/drawing/2014/main" id="{C1DD4B02-4D97-F134-47B6-AC29A069C7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CC514D8-C818-DA50-FC05-FB9DC5F8152F}"/>
              </a:ext>
            </a:extLst>
          </p:cNvPr>
          <p:cNvSpPr>
            <a:spLocks noGrp="1"/>
          </p:cNvSpPr>
          <p:nvPr>
            <p:ph type="sldNum" sz="quarter" idx="12"/>
          </p:nvPr>
        </p:nvSpPr>
        <p:spPr/>
        <p:txBody>
          <a:bodyPr/>
          <a:lstStyle/>
          <a:p>
            <a:fld id="{BF14F4E9-7FFE-43E2-BF46-8BA47F99F80A}" type="slidenum">
              <a:rPr lang="en-US" smtClean="0"/>
              <a:t>‹#›</a:t>
            </a:fld>
            <a:endParaRPr lang="en-US"/>
          </a:p>
        </p:txBody>
      </p:sp>
    </p:spTree>
    <p:extLst>
      <p:ext uri="{BB962C8B-B14F-4D97-AF65-F5344CB8AC3E}">
        <p14:creationId xmlns:p14="http://schemas.microsoft.com/office/powerpoint/2010/main" val="23530684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6B570C9-EE29-CC54-6E68-6C4AE424C9D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9ABA9C9-B7FB-DD98-F0F2-731D43A9E04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22C17E1-4A59-EA7F-FA27-335677D48801}"/>
              </a:ext>
            </a:extLst>
          </p:cNvPr>
          <p:cNvSpPr>
            <a:spLocks noGrp="1"/>
          </p:cNvSpPr>
          <p:nvPr>
            <p:ph type="dt" sz="half" idx="10"/>
          </p:nvPr>
        </p:nvSpPr>
        <p:spPr/>
        <p:txBody>
          <a:bodyPr/>
          <a:lstStyle/>
          <a:p>
            <a:fld id="{4F06803B-D602-4C3D-AD5C-468F46C70933}" type="datetimeFigureOut">
              <a:rPr lang="en-US" smtClean="0"/>
              <a:t>1/9/2026</a:t>
            </a:fld>
            <a:endParaRPr lang="en-US"/>
          </a:p>
        </p:txBody>
      </p:sp>
      <p:sp>
        <p:nvSpPr>
          <p:cNvPr id="5" name="Footer Placeholder 4">
            <a:extLst>
              <a:ext uri="{FF2B5EF4-FFF2-40B4-BE49-F238E27FC236}">
                <a16:creationId xmlns:a16="http://schemas.microsoft.com/office/drawing/2014/main" id="{3C8F7952-FF67-03AB-4068-D4EDCB787E0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0B4F81-7CA4-8B13-E0D2-908ECE561840}"/>
              </a:ext>
            </a:extLst>
          </p:cNvPr>
          <p:cNvSpPr>
            <a:spLocks noGrp="1"/>
          </p:cNvSpPr>
          <p:nvPr>
            <p:ph type="sldNum" sz="quarter" idx="12"/>
          </p:nvPr>
        </p:nvSpPr>
        <p:spPr/>
        <p:txBody>
          <a:bodyPr/>
          <a:lstStyle/>
          <a:p>
            <a:fld id="{BF14F4E9-7FFE-43E2-BF46-8BA47F99F80A}" type="slidenum">
              <a:rPr lang="en-US" smtClean="0"/>
              <a:t>‹#›</a:t>
            </a:fld>
            <a:endParaRPr lang="en-US"/>
          </a:p>
        </p:txBody>
      </p:sp>
    </p:spTree>
    <p:extLst>
      <p:ext uri="{BB962C8B-B14F-4D97-AF65-F5344CB8AC3E}">
        <p14:creationId xmlns:p14="http://schemas.microsoft.com/office/powerpoint/2010/main" val="40936055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BE38C85-171E-6C89-9059-EE5BDF2FB73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91DA5AF-7B9F-05B7-382A-4F46691324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5674D95-F3B3-F391-9CA2-81D6FB1307C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F06803B-D602-4C3D-AD5C-468F46C70933}" type="datetimeFigureOut">
              <a:rPr lang="en-US" smtClean="0"/>
              <a:t>1/9/2026</a:t>
            </a:fld>
            <a:endParaRPr lang="en-US"/>
          </a:p>
        </p:txBody>
      </p:sp>
      <p:sp>
        <p:nvSpPr>
          <p:cNvPr id="5" name="Footer Placeholder 4">
            <a:extLst>
              <a:ext uri="{FF2B5EF4-FFF2-40B4-BE49-F238E27FC236}">
                <a16:creationId xmlns:a16="http://schemas.microsoft.com/office/drawing/2014/main" id="{F506F810-3A34-93DB-9693-0818B011D0C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443A2B2-9497-8C06-D4F5-FE9E477DDA4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F14F4E9-7FFE-43E2-BF46-8BA47F99F80A}" type="slidenum">
              <a:rPr lang="en-US" smtClean="0"/>
              <a:t>‹#›</a:t>
            </a:fld>
            <a:endParaRPr lang="en-US"/>
          </a:p>
        </p:txBody>
      </p:sp>
    </p:spTree>
    <p:extLst>
      <p:ext uri="{BB962C8B-B14F-4D97-AF65-F5344CB8AC3E}">
        <p14:creationId xmlns:p14="http://schemas.microsoft.com/office/powerpoint/2010/main" val="4742605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customXml" Target="../ink/ink2.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hyperlink" Target="https://distill.pub/2017/momentum/"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customXml" Target="../ink/ink3.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3" Type="http://schemas.openxmlformats.org/officeDocument/2006/relationships/image" Target="../media/image10.png"/><Relationship Id="rId18" Type="http://schemas.openxmlformats.org/officeDocument/2006/relationships/customXml" Target="../ink/ink11.xml"/><Relationship Id="rId26" Type="http://schemas.openxmlformats.org/officeDocument/2006/relationships/customXml" Target="../ink/ink15.xml"/><Relationship Id="rId39" Type="http://schemas.openxmlformats.org/officeDocument/2006/relationships/image" Target="../media/image23.png"/><Relationship Id="rId21" Type="http://schemas.openxmlformats.org/officeDocument/2006/relationships/image" Target="../media/image14.png"/><Relationship Id="rId34" Type="http://schemas.openxmlformats.org/officeDocument/2006/relationships/customXml" Target="../ink/ink19.xml"/><Relationship Id="rId42" Type="http://schemas.openxmlformats.org/officeDocument/2006/relationships/customXml" Target="../ink/ink23.xml"/><Relationship Id="rId47" Type="http://schemas.openxmlformats.org/officeDocument/2006/relationships/image" Target="../media/image27.png"/><Relationship Id="rId7" Type="http://schemas.openxmlformats.org/officeDocument/2006/relationships/image" Target="../media/image7.png"/><Relationship Id="rId2" Type="http://schemas.openxmlformats.org/officeDocument/2006/relationships/notesSlide" Target="../notesSlides/notesSlide5.xml"/><Relationship Id="rId16" Type="http://schemas.openxmlformats.org/officeDocument/2006/relationships/customXml" Target="../ink/ink10.xml"/><Relationship Id="rId29"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customXml" Target="../ink/ink5.xml"/><Relationship Id="rId11" Type="http://schemas.openxmlformats.org/officeDocument/2006/relationships/image" Target="../media/image9.png"/><Relationship Id="rId24" Type="http://schemas.openxmlformats.org/officeDocument/2006/relationships/customXml" Target="../ink/ink14.xml"/><Relationship Id="rId32" Type="http://schemas.openxmlformats.org/officeDocument/2006/relationships/customXml" Target="../ink/ink18.xml"/><Relationship Id="rId37" Type="http://schemas.openxmlformats.org/officeDocument/2006/relationships/image" Target="../media/image22.png"/><Relationship Id="rId40" Type="http://schemas.openxmlformats.org/officeDocument/2006/relationships/customXml" Target="../ink/ink22.xml"/><Relationship Id="rId45" Type="http://schemas.openxmlformats.org/officeDocument/2006/relationships/image" Target="../media/image26.png"/><Relationship Id="rId5" Type="http://schemas.openxmlformats.org/officeDocument/2006/relationships/image" Target="../media/image6.png"/><Relationship Id="rId15" Type="http://schemas.openxmlformats.org/officeDocument/2006/relationships/image" Target="../media/image11.png"/><Relationship Id="rId23" Type="http://schemas.openxmlformats.org/officeDocument/2006/relationships/image" Target="../media/image15.png"/><Relationship Id="rId28" Type="http://schemas.openxmlformats.org/officeDocument/2006/relationships/customXml" Target="../ink/ink16.xml"/><Relationship Id="rId36" Type="http://schemas.openxmlformats.org/officeDocument/2006/relationships/customXml" Target="../ink/ink20.xml"/><Relationship Id="rId10" Type="http://schemas.openxmlformats.org/officeDocument/2006/relationships/customXml" Target="../ink/ink7.xml"/><Relationship Id="rId19" Type="http://schemas.openxmlformats.org/officeDocument/2006/relationships/image" Target="../media/image13.png"/><Relationship Id="rId31" Type="http://schemas.openxmlformats.org/officeDocument/2006/relationships/image" Target="../media/image19.png"/><Relationship Id="rId44" Type="http://schemas.openxmlformats.org/officeDocument/2006/relationships/customXml" Target="../ink/ink24.xml"/><Relationship Id="rId4" Type="http://schemas.openxmlformats.org/officeDocument/2006/relationships/customXml" Target="../ink/ink4.xml"/><Relationship Id="rId9" Type="http://schemas.openxmlformats.org/officeDocument/2006/relationships/image" Target="../media/image8.png"/><Relationship Id="rId14" Type="http://schemas.openxmlformats.org/officeDocument/2006/relationships/customXml" Target="../ink/ink9.xml"/><Relationship Id="rId22" Type="http://schemas.openxmlformats.org/officeDocument/2006/relationships/customXml" Target="../ink/ink13.xml"/><Relationship Id="rId27" Type="http://schemas.openxmlformats.org/officeDocument/2006/relationships/image" Target="../media/image17.png"/><Relationship Id="rId30" Type="http://schemas.openxmlformats.org/officeDocument/2006/relationships/customXml" Target="../ink/ink17.xml"/><Relationship Id="rId35" Type="http://schemas.openxmlformats.org/officeDocument/2006/relationships/image" Target="../media/image21.png"/><Relationship Id="rId43" Type="http://schemas.openxmlformats.org/officeDocument/2006/relationships/image" Target="../media/image25.png"/><Relationship Id="rId8" Type="http://schemas.openxmlformats.org/officeDocument/2006/relationships/customXml" Target="../ink/ink6.xml"/><Relationship Id="rId3" Type="http://schemas.openxmlformats.org/officeDocument/2006/relationships/image" Target="../media/image5.png"/><Relationship Id="rId12" Type="http://schemas.openxmlformats.org/officeDocument/2006/relationships/customXml" Target="../ink/ink8.xml"/><Relationship Id="rId17" Type="http://schemas.openxmlformats.org/officeDocument/2006/relationships/image" Target="../media/image12.png"/><Relationship Id="rId25" Type="http://schemas.openxmlformats.org/officeDocument/2006/relationships/image" Target="../media/image16.png"/><Relationship Id="rId33" Type="http://schemas.openxmlformats.org/officeDocument/2006/relationships/image" Target="../media/image20.png"/><Relationship Id="rId38" Type="http://schemas.openxmlformats.org/officeDocument/2006/relationships/customXml" Target="../ink/ink21.xml"/><Relationship Id="rId46" Type="http://schemas.openxmlformats.org/officeDocument/2006/relationships/customXml" Target="../ink/ink25.xml"/><Relationship Id="rId20" Type="http://schemas.openxmlformats.org/officeDocument/2006/relationships/customXml" Target="../ink/ink12.xml"/><Relationship Id="rId41" Type="http://schemas.openxmlformats.org/officeDocument/2006/relationships/image" Target="../media/image24.png"/></Relationships>
</file>

<file path=ppt/slides/_rels/slide1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16.xml.rels><?xml version="1.0" encoding="UTF-8" standalone="yes"?>
<Relationships xmlns="http://schemas.openxmlformats.org/package/2006/relationships"><Relationship Id="rId13" Type="http://schemas.openxmlformats.org/officeDocument/2006/relationships/customXml" Target="../ink/ink27.xml"/><Relationship Id="rId18" Type="http://schemas.openxmlformats.org/officeDocument/2006/relationships/image" Target="../media/image170.png"/><Relationship Id="rId3" Type="http://schemas.openxmlformats.org/officeDocument/2006/relationships/image" Target="../media/image35.png"/><Relationship Id="rId12" Type="http://schemas.openxmlformats.org/officeDocument/2006/relationships/image" Target="../media/image140.png"/><Relationship Id="rId17" Type="http://schemas.openxmlformats.org/officeDocument/2006/relationships/customXml" Target="../ink/ink29.xml"/><Relationship Id="rId2" Type="http://schemas.openxmlformats.org/officeDocument/2006/relationships/notesSlide" Target="../notesSlides/notesSlide12.xml"/><Relationship Id="rId16" Type="http://schemas.openxmlformats.org/officeDocument/2006/relationships/image" Target="../media/image160.png"/><Relationship Id="rId20" Type="http://schemas.openxmlformats.org/officeDocument/2006/relationships/image" Target="../media/image180.png"/><Relationship Id="rId1" Type="http://schemas.openxmlformats.org/officeDocument/2006/relationships/slideLayout" Target="../slideLayouts/slideLayout2.xml"/><Relationship Id="rId15" Type="http://schemas.openxmlformats.org/officeDocument/2006/relationships/customXml" Target="../ink/ink28.xml"/><Relationship Id="rId19" Type="http://schemas.openxmlformats.org/officeDocument/2006/relationships/customXml" Target="../ink/ink30.xml"/><Relationship Id="rId4" Type="http://schemas.openxmlformats.org/officeDocument/2006/relationships/customXml" Target="../ink/ink26.xml"/><Relationship Id="rId14" Type="http://schemas.openxmlformats.org/officeDocument/2006/relationships/image" Target="../media/image150.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2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240.png"/></Relationships>
</file>

<file path=ppt/slides/_rels/slide22.xml.rels><?xml version="1.0" encoding="UTF-8" standalone="yes"?>
<Relationships xmlns="http://schemas.openxmlformats.org/package/2006/relationships"><Relationship Id="rId8" Type="http://schemas.openxmlformats.org/officeDocument/2006/relationships/customXml" Target="../ink/ink33.xml"/><Relationship Id="rId3" Type="http://schemas.openxmlformats.org/officeDocument/2006/relationships/image" Target="../media/image42.png"/><Relationship Id="rId7" Type="http://schemas.openxmlformats.org/officeDocument/2006/relationships/image" Target="../media/image280.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customXml" Target="../ink/ink32.xml"/><Relationship Id="rId5" Type="http://schemas.openxmlformats.org/officeDocument/2006/relationships/image" Target="../media/image270.png"/><Relationship Id="rId4" Type="http://schemas.openxmlformats.org/officeDocument/2006/relationships/customXml" Target="../ink/ink31.xml"/><Relationship Id="rId9" Type="http://schemas.openxmlformats.org/officeDocument/2006/relationships/image" Target="../media/image290.png"/></Relationships>
</file>

<file path=ppt/slides/_rels/slide23.xml.rels><?xml version="1.0" encoding="UTF-8" standalone="yes"?>
<Relationships xmlns="http://schemas.openxmlformats.org/package/2006/relationships"><Relationship Id="rId8" Type="http://schemas.openxmlformats.org/officeDocument/2006/relationships/customXml" Target="../ink/ink35.xml"/><Relationship Id="rId13" Type="http://schemas.openxmlformats.org/officeDocument/2006/relationships/image" Target="../media/image350.png"/><Relationship Id="rId3" Type="http://schemas.openxmlformats.org/officeDocument/2006/relationships/image" Target="../media/image300.png"/><Relationship Id="rId7" Type="http://schemas.openxmlformats.org/officeDocument/2006/relationships/image" Target="../media/image320.png"/><Relationship Id="rId12" Type="http://schemas.openxmlformats.org/officeDocument/2006/relationships/customXml" Target="../ink/ink37.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customXml" Target="../ink/ink34.xml"/><Relationship Id="rId11" Type="http://schemas.openxmlformats.org/officeDocument/2006/relationships/image" Target="../media/image340.png"/><Relationship Id="rId5" Type="http://schemas.openxmlformats.org/officeDocument/2006/relationships/image" Target="../media/image43.png"/><Relationship Id="rId15" Type="http://schemas.openxmlformats.org/officeDocument/2006/relationships/image" Target="../media/image360.png"/><Relationship Id="rId10" Type="http://schemas.openxmlformats.org/officeDocument/2006/relationships/customXml" Target="../ink/ink36.xml"/><Relationship Id="rId4" Type="http://schemas.openxmlformats.org/officeDocument/2006/relationships/image" Target="../media/image41.png"/><Relationship Id="rId9" Type="http://schemas.openxmlformats.org/officeDocument/2006/relationships/image" Target="../media/image330.png"/><Relationship Id="rId14" Type="http://schemas.openxmlformats.org/officeDocument/2006/relationships/customXml" Target="../ink/ink38.xml"/></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45.png"/><Relationship Id="rId4"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05304-BDF0-8049-BFBE-07DBD25A20D9}"/>
              </a:ext>
            </a:extLst>
          </p:cNvPr>
          <p:cNvSpPr>
            <a:spLocks noGrp="1"/>
          </p:cNvSpPr>
          <p:nvPr>
            <p:ph type="ctrTitle"/>
          </p:nvPr>
        </p:nvSpPr>
        <p:spPr/>
        <p:txBody>
          <a:bodyPr>
            <a:normAutofit fontScale="90000"/>
          </a:bodyPr>
          <a:lstStyle/>
          <a:p>
            <a:r>
              <a:rPr lang="en-US" dirty="0"/>
              <a:t>Optimizers’ review and different techniques to improve your Neural Network</a:t>
            </a:r>
          </a:p>
        </p:txBody>
      </p:sp>
      <p:sp>
        <p:nvSpPr>
          <p:cNvPr id="3" name="Subtitle 2">
            <a:extLst>
              <a:ext uri="{FF2B5EF4-FFF2-40B4-BE49-F238E27FC236}">
                <a16:creationId xmlns:a16="http://schemas.microsoft.com/office/drawing/2014/main" id="{5F785362-12EB-0195-1062-EA2170CDD31D}"/>
              </a:ext>
            </a:extLst>
          </p:cNvPr>
          <p:cNvSpPr>
            <a:spLocks noGrp="1"/>
          </p:cNvSpPr>
          <p:nvPr>
            <p:ph type="subTitle" idx="1"/>
          </p:nvPr>
        </p:nvSpPr>
        <p:spPr/>
        <p:txBody>
          <a:bodyPr/>
          <a:lstStyle/>
          <a:p>
            <a:r>
              <a:rPr lang="en-US" dirty="0">
                <a:solidFill>
                  <a:schemeClr val="bg1">
                    <a:lumMod val="50000"/>
                  </a:schemeClr>
                </a:solidFill>
              </a:rPr>
              <a:t>Lecture 3/10</a:t>
            </a:r>
          </a:p>
        </p:txBody>
      </p:sp>
    </p:spTree>
    <p:extLst>
      <p:ext uri="{BB962C8B-B14F-4D97-AF65-F5344CB8AC3E}">
        <p14:creationId xmlns:p14="http://schemas.microsoft.com/office/powerpoint/2010/main" val="28870772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E2DED-E00F-8D55-C9F9-F02FA9C83AD0}"/>
              </a:ext>
            </a:extLst>
          </p:cNvPr>
          <p:cNvSpPr>
            <a:spLocks noGrp="1"/>
          </p:cNvSpPr>
          <p:nvPr>
            <p:ph type="title"/>
          </p:nvPr>
        </p:nvSpPr>
        <p:spPr/>
        <p:txBody>
          <a:bodyPr/>
          <a:lstStyle/>
          <a:p>
            <a:r>
              <a:rPr lang="fr-FR" dirty="0" err="1"/>
              <a:t>Outline</a:t>
            </a:r>
            <a:r>
              <a:rPr lang="fr-FR" dirty="0"/>
              <a:t> of the class</a:t>
            </a:r>
          </a:p>
        </p:txBody>
      </p:sp>
      <p:sp>
        <p:nvSpPr>
          <p:cNvPr id="3" name="Content Placeholder 2">
            <a:extLst>
              <a:ext uri="{FF2B5EF4-FFF2-40B4-BE49-F238E27FC236}">
                <a16:creationId xmlns:a16="http://schemas.microsoft.com/office/drawing/2014/main" id="{08838BA3-12FC-4A9A-D913-8A7375B051B9}"/>
              </a:ext>
            </a:extLst>
          </p:cNvPr>
          <p:cNvSpPr>
            <a:spLocks noGrp="1"/>
          </p:cNvSpPr>
          <p:nvPr>
            <p:ph idx="1"/>
          </p:nvPr>
        </p:nvSpPr>
        <p:spPr>
          <a:xfrm>
            <a:off x="838200" y="1825625"/>
            <a:ext cx="10751820" cy="4351338"/>
          </a:xfrm>
        </p:spPr>
        <p:txBody>
          <a:bodyPr>
            <a:normAutofit lnSpcReduction="10000"/>
          </a:bodyPr>
          <a:lstStyle/>
          <a:p>
            <a:pPr marL="514350" indent="-514350">
              <a:buFont typeface="+mj-lt"/>
              <a:buAutoNum type="arabicPeriod"/>
            </a:pPr>
            <a:r>
              <a:rPr lang="fr-FR" sz="2400" dirty="0"/>
              <a:t>Introduction to Deep Learning</a:t>
            </a:r>
          </a:p>
          <a:p>
            <a:pPr marL="514350" indent="-514350">
              <a:buFont typeface="+mj-lt"/>
              <a:buAutoNum type="arabicPeriod"/>
            </a:pPr>
            <a:r>
              <a:rPr lang="fr-FR" sz="2400" dirty="0"/>
              <a:t>PyTorch</a:t>
            </a:r>
          </a:p>
          <a:p>
            <a:pPr marL="514350" indent="-514350">
              <a:buFont typeface="+mj-lt"/>
              <a:buAutoNum type="arabicPeriod"/>
            </a:pPr>
            <a:r>
              <a:rPr lang="en-US" sz="2400" b="1" dirty="0"/>
              <a:t>Optimizers review. Types of Machine Learning problems and their losses.</a:t>
            </a:r>
          </a:p>
          <a:p>
            <a:pPr marL="514350" indent="-514350">
              <a:buFont typeface="+mj-lt"/>
              <a:buAutoNum type="arabicPeriod"/>
            </a:pPr>
            <a:r>
              <a:rPr lang="en-US" sz="2400" dirty="0"/>
              <a:t>Layers Types 1 (linear: width vs depth)</a:t>
            </a:r>
          </a:p>
          <a:p>
            <a:pPr marL="514350" indent="-514350">
              <a:buFont typeface="+mj-lt"/>
              <a:buAutoNum type="arabicPeriod"/>
            </a:pPr>
            <a:r>
              <a:rPr lang="en-US" sz="2400" dirty="0"/>
              <a:t>Layers Types 2 (conv, pooling &amp; </a:t>
            </a:r>
            <a:r>
              <a:rPr lang="en-US" sz="2400" dirty="0" err="1"/>
              <a:t>softmax</a:t>
            </a:r>
            <a:r>
              <a:rPr lang="en-US" sz="2400" dirty="0"/>
              <a:t>)</a:t>
            </a:r>
          </a:p>
          <a:p>
            <a:pPr marL="514350" indent="-514350">
              <a:buFont typeface="+mj-lt"/>
              <a:buAutoNum type="arabicPeriod"/>
            </a:pPr>
            <a:r>
              <a:rPr lang="en-US" sz="2400" dirty="0"/>
              <a:t>Architectures (RNN) &amp; Transfer Learning</a:t>
            </a:r>
          </a:p>
          <a:p>
            <a:pPr marL="514350" indent="-514350">
              <a:buFont typeface="+mj-lt"/>
              <a:buAutoNum type="arabicPeriod"/>
            </a:pPr>
            <a:r>
              <a:rPr lang="en-US" sz="2400" dirty="0"/>
              <a:t>Practical Exercises and hyperparameter optimization</a:t>
            </a:r>
          </a:p>
          <a:p>
            <a:pPr marL="514350" indent="-514350">
              <a:buFont typeface="+mj-lt"/>
              <a:buAutoNum type="arabicPeriod"/>
            </a:pPr>
            <a:r>
              <a:rPr lang="en-US" sz="2400" dirty="0"/>
              <a:t>Attention. Transformers.</a:t>
            </a:r>
          </a:p>
          <a:p>
            <a:pPr marL="514350" indent="-514350">
              <a:buFont typeface="+mj-lt"/>
              <a:buAutoNum type="arabicPeriod"/>
            </a:pPr>
            <a:r>
              <a:rPr lang="en-US" sz="2400" dirty="0"/>
              <a:t>Text Generation. </a:t>
            </a:r>
            <a:r>
              <a:rPr lang="en-GB" sz="2400" dirty="0"/>
              <a:t>Low-Rank Adaptation of Large Language Models</a:t>
            </a:r>
            <a:endParaRPr lang="en-US" sz="2400" dirty="0"/>
          </a:p>
          <a:p>
            <a:pPr marL="514350" indent="-514350">
              <a:buFont typeface="+mj-lt"/>
              <a:buAutoNum type="arabicPeriod"/>
            </a:pPr>
            <a:r>
              <a:rPr lang="en-US" sz="2400" dirty="0"/>
              <a:t>Exam</a:t>
            </a:r>
          </a:p>
        </p:txBody>
      </p:sp>
    </p:spTree>
    <p:extLst>
      <p:ext uri="{BB962C8B-B14F-4D97-AF65-F5344CB8AC3E}">
        <p14:creationId xmlns:p14="http://schemas.microsoft.com/office/powerpoint/2010/main" val="28211737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Optimizers’ review</a:t>
            </a:r>
          </a:p>
        </p:txBody>
      </p:sp>
      <p:sp>
        <p:nvSpPr>
          <p:cNvPr id="6" name="Content Placeholder 5">
            <a:extLst>
              <a:ext uri="{FF2B5EF4-FFF2-40B4-BE49-F238E27FC236}">
                <a16:creationId xmlns:a16="http://schemas.microsoft.com/office/drawing/2014/main" id="{3C4EB284-4A7B-E6BB-BEC1-67954B65026D}"/>
              </a:ext>
            </a:extLst>
          </p:cNvPr>
          <p:cNvSpPr>
            <a:spLocks noGrp="1"/>
          </p:cNvSpPr>
          <p:nvPr>
            <p:ph idx="1"/>
          </p:nvPr>
        </p:nvSpPr>
        <p:spPr/>
        <p:txBody>
          <a:bodyPr>
            <a:normAutofit lnSpcReduction="10000"/>
          </a:bodyPr>
          <a:lstStyle/>
          <a:p>
            <a:pPr algn="just"/>
            <a:r>
              <a:rPr lang="en-US" dirty="0"/>
              <a:t>Reminders:</a:t>
            </a:r>
          </a:p>
          <a:p>
            <a:pPr lvl="1" algn="just"/>
            <a:r>
              <a:rPr lang="en-US" b="0" i="0" dirty="0">
                <a:effectLst/>
                <a:latin typeface="-apple-system"/>
              </a:rPr>
              <a:t>Backpropagation -&gt; algorithm which computes the gradient of the parameters within a neural network with respect to the loss. </a:t>
            </a:r>
          </a:p>
          <a:p>
            <a:pPr lvl="1" algn="just"/>
            <a:r>
              <a:rPr lang="en-US" b="0" i="0" dirty="0">
                <a:effectLst/>
                <a:latin typeface="-apple-system"/>
              </a:rPr>
              <a:t>Gradient descent optimization algorithms -&gt; take that gradient for each parameter and use it to figure out how it should update </a:t>
            </a:r>
            <a:r>
              <a:rPr lang="en-US" dirty="0">
                <a:latin typeface="-apple-system"/>
              </a:rPr>
              <a:t>the parameter </a:t>
            </a:r>
            <a:r>
              <a:rPr lang="en-US" b="0" i="0" dirty="0">
                <a:effectLst/>
                <a:latin typeface="-apple-system"/>
              </a:rPr>
              <a:t>to reduce the loss.</a:t>
            </a:r>
          </a:p>
          <a:p>
            <a:pPr algn="just"/>
            <a:r>
              <a:rPr lang="en-US" dirty="0"/>
              <a:t>Choosing the optimizer is considered to be among the most crucial design decisions in deep learning (reminder: we consider the optimizer as a hyperparameter (and similarly its parameters (</a:t>
            </a:r>
            <a:r>
              <a:rPr lang="en-US" dirty="0" err="1"/>
              <a:t>learning_rate</a:t>
            </a:r>
            <a:r>
              <a:rPr lang="en-US" dirty="0"/>
              <a:t>, </a:t>
            </a:r>
            <a:r>
              <a:rPr lang="en-US" dirty="0" err="1"/>
              <a:t>etc</a:t>
            </a:r>
            <a:r>
              <a:rPr lang="en-US" dirty="0"/>
              <a:t> …) are considered as hyperparameters)).</a:t>
            </a:r>
          </a:p>
          <a:p>
            <a:pPr algn="just"/>
            <a:r>
              <a:rPr lang="en-US" dirty="0"/>
              <a:t>But the growing literature now lists hundreds of optimization methods.</a:t>
            </a:r>
          </a:p>
        </p:txBody>
      </p:sp>
    </p:spTree>
    <p:extLst>
      <p:ext uri="{BB962C8B-B14F-4D97-AF65-F5344CB8AC3E}">
        <p14:creationId xmlns:p14="http://schemas.microsoft.com/office/powerpoint/2010/main" val="21629093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animEffect transition="in" filter="fade">
                                      <p:cBhvr>
                                        <p:cTn id="7" dur="500"/>
                                        <p:tgtEl>
                                          <p:spTgt spid="6">
                                            <p:txEl>
                                              <p:pRg st="3" end="3"/>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xEl>
                                              <p:pRg st="4" end="4"/>
                                            </p:txEl>
                                          </p:spTgt>
                                        </p:tgtEl>
                                        <p:attrNameLst>
                                          <p:attrName>style.visibility</p:attrName>
                                        </p:attrNameLst>
                                      </p:cBhvr>
                                      <p:to>
                                        <p:strVal val="visible"/>
                                      </p:to>
                                    </p:set>
                                    <p:animEffect transition="in" filter="fade">
                                      <p:cBhvr>
                                        <p:cTn id="12"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Optimizers’ review</a:t>
            </a:r>
          </a:p>
        </p:txBody>
      </p:sp>
      <p:sp>
        <p:nvSpPr>
          <p:cNvPr id="6" name="Content Placeholder 5">
            <a:extLst>
              <a:ext uri="{FF2B5EF4-FFF2-40B4-BE49-F238E27FC236}">
                <a16:creationId xmlns:a16="http://schemas.microsoft.com/office/drawing/2014/main" id="{3C4EB284-4A7B-E6BB-BEC1-67954B65026D}"/>
              </a:ext>
            </a:extLst>
          </p:cNvPr>
          <p:cNvSpPr>
            <a:spLocks noGrp="1"/>
          </p:cNvSpPr>
          <p:nvPr>
            <p:ph idx="1"/>
          </p:nvPr>
        </p:nvSpPr>
        <p:spPr>
          <a:xfrm>
            <a:off x="838200" y="1825625"/>
            <a:ext cx="10515600" cy="4667250"/>
          </a:xfrm>
        </p:spPr>
        <p:txBody>
          <a:bodyPr>
            <a:normAutofit/>
          </a:bodyPr>
          <a:lstStyle/>
          <a:p>
            <a:pPr algn="just"/>
            <a:r>
              <a:rPr lang="en-US" dirty="0"/>
              <a:t>Descending through a Crowded Valley - Benchmarking Deep Learning Optimizers. Robin M. Schmidt, Frank Schneider, Philipp Hennig:</a:t>
            </a:r>
          </a:p>
          <a:p>
            <a:pPr lvl="1" algn="just"/>
            <a:r>
              <a:rPr lang="en-US" dirty="0"/>
              <a:t>“Analyzing more than 50,000 individual runs [on different Deep Learning problems], we contribute the following three points: (</a:t>
            </a:r>
            <a:r>
              <a:rPr lang="en-US" dirty="0" err="1"/>
              <a:t>i</a:t>
            </a:r>
            <a:r>
              <a:rPr lang="en-US" dirty="0"/>
              <a:t>) </a:t>
            </a:r>
            <a:r>
              <a:rPr lang="en-US" b="1" dirty="0"/>
              <a:t>Optimizer performance varies greatly across tasks. </a:t>
            </a:r>
            <a:r>
              <a:rPr lang="en-US" dirty="0"/>
              <a:t>(ii) </a:t>
            </a:r>
            <a:r>
              <a:rPr lang="en-US" b="1" dirty="0"/>
              <a:t>We observe that evaluating multiple optimizers with default parameters works approximately as well as tuning the hyperparameters of a single, fixed optimizer. </a:t>
            </a:r>
            <a:r>
              <a:rPr lang="en-US" dirty="0"/>
              <a:t>(iii) While</a:t>
            </a:r>
            <a:r>
              <a:rPr lang="en-US" b="1" dirty="0"/>
              <a:t> we cannot discern an optimization method clearly dominating across all tested tasks, </a:t>
            </a:r>
            <a:r>
              <a:rPr lang="en-US" dirty="0"/>
              <a:t>we identify a significantly reduced subset of specific optimizers and parameter choices that generally lead to competitive results in our experiments: </a:t>
            </a:r>
            <a:r>
              <a:rPr lang="en-US" b="1" dirty="0"/>
              <a:t>Adam remains a strong contender, with newer methods </a:t>
            </a:r>
            <a:r>
              <a:rPr lang="en-US" dirty="0"/>
              <a:t>[more complicated and less documented]</a:t>
            </a:r>
            <a:r>
              <a:rPr lang="en-US" b="1" dirty="0"/>
              <a:t> failing to significantly and consistently outperform </a:t>
            </a:r>
            <a:r>
              <a:rPr lang="en-US" dirty="0"/>
              <a:t>it.”</a:t>
            </a:r>
          </a:p>
        </p:txBody>
      </p:sp>
    </p:spTree>
    <p:extLst>
      <p:ext uri="{BB962C8B-B14F-4D97-AF65-F5344CB8AC3E}">
        <p14:creationId xmlns:p14="http://schemas.microsoft.com/office/powerpoint/2010/main" val="5485859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fade">
                                      <p:cBhvr>
                                        <p:cTn id="7" dur="5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SGD</a:t>
            </a:r>
          </a:p>
        </p:txBody>
      </p:sp>
      <p:sp>
        <p:nvSpPr>
          <p:cNvPr id="6" name="Content Placeholder 5">
            <a:extLst>
              <a:ext uri="{FF2B5EF4-FFF2-40B4-BE49-F238E27FC236}">
                <a16:creationId xmlns:a16="http://schemas.microsoft.com/office/drawing/2014/main" id="{3C4EB284-4A7B-E6BB-BEC1-67954B65026D}"/>
              </a:ext>
            </a:extLst>
          </p:cNvPr>
          <p:cNvSpPr>
            <a:spLocks noGrp="1"/>
          </p:cNvSpPr>
          <p:nvPr>
            <p:ph idx="1"/>
          </p:nvPr>
        </p:nvSpPr>
        <p:spPr>
          <a:xfrm>
            <a:off x="838200" y="1825625"/>
            <a:ext cx="10515600" cy="2121087"/>
          </a:xfrm>
        </p:spPr>
        <p:txBody>
          <a:bodyPr>
            <a:normAutofit/>
          </a:bodyPr>
          <a:lstStyle/>
          <a:p>
            <a:pPr algn="just"/>
            <a:r>
              <a:rPr lang="en-US" dirty="0"/>
              <a:t>PyTorch naming is a bit confusing. The implementation of SGD is actually just gradient descent. </a:t>
            </a:r>
            <a:r>
              <a:rPr lang="en-US" b="1" dirty="0">
                <a:solidFill>
                  <a:srgbClr val="FF0000"/>
                </a:solidFill>
              </a:rPr>
              <a:t>The stochasticity comes purely from using (shuffled) mini-batches for each optimizer step</a:t>
            </a:r>
            <a:r>
              <a:rPr lang="en-US" dirty="0"/>
              <a:t>. Without this </a:t>
            </a:r>
            <a:r>
              <a:rPr lang="en-US" dirty="0" err="1"/>
              <a:t>dataloading</a:t>
            </a:r>
            <a:r>
              <a:rPr lang="en-US" dirty="0"/>
              <a:t> aspect, the </a:t>
            </a:r>
            <a:r>
              <a:rPr lang="en-US" dirty="0" err="1"/>
              <a:t>optimisation</a:t>
            </a:r>
            <a:r>
              <a:rPr lang="en-US" dirty="0"/>
              <a:t> algorithm would effectively perform GD, rather than SGD.</a:t>
            </a:r>
          </a:p>
        </p:txBody>
      </p:sp>
    </p:spTree>
    <p:extLst>
      <p:ext uri="{BB962C8B-B14F-4D97-AF65-F5344CB8AC3E}">
        <p14:creationId xmlns:p14="http://schemas.microsoft.com/office/powerpoint/2010/main" val="30531873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SGD</a:t>
            </a:r>
          </a:p>
        </p:txBody>
      </p:sp>
      <p:sp>
        <p:nvSpPr>
          <p:cNvPr id="9" name="Rectangle 3">
            <a:extLst>
              <a:ext uri="{FF2B5EF4-FFF2-40B4-BE49-F238E27FC236}">
                <a16:creationId xmlns:a16="http://schemas.microsoft.com/office/drawing/2014/main" id="{14B5134B-8384-C137-708C-406B9F3D01D1}"/>
              </a:ext>
            </a:extLst>
          </p:cNvPr>
          <p:cNvSpPr>
            <a:spLocks noChangeArrowheads="1"/>
          </p:cNvSpPr>
          <p:nvPr/>
        </p:nvSpPr>
        <p:spPr bwMode="auto">
          <a:xfrm>
            <a:off x="1024217" y="2001870"/>
            <a:ext cx="10406903" cy="2585323"/>
          </a:xfrm>
          <a:prstGeom prst="rect">
            <a:avLst/>
          </a:prstGeom>
          <a:solidFill>
            <a:srgbClr val="2B2B2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train_loader</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DataLoader</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r>
              <a:rPr kumimoji="0" lang="fr-FR" altLang="fr-FR" b="0" i="0" u="none" strike="noStrike" cap="none" normalizeH="0" baseline="0" dirty="0" err="1">
                <a:ln>
                  <a:noFill/>
                </a:ln>
                <a:solidFill>
                  <a:srgbClr val="AA4926"/>
                </a:solidFill>
                <a:effectLst/>
                <a:latin typeface="Courier New" panose="02070309020205020404" pitchFamily="49" charset="0"/>
                <a:cs typeface="Courier New" panose="02070309020205020404" pitchFamily="49" charset="0"/>
              </a:rPr>
              <a:t>dataset</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train_data</a:t>
            </a: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A4926"/>
                </a:solidFill>
                <a:effectLst/>
                <a:latin typeface="Courier New" panose="02070309020205020404" pitchFamily="49" charset="0"/>
                <a:cs typeface="Courier New" panose="02070309020205020404" pitchFamily="49" charset="0"/>
              </a:rPr>
              <a:t>batch_size</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r>
              <a:rPr kumimoji="0" lang="fr-FR" altLang="fr-FR" b="0" i="0" u="none" strike="noStrike" cap="none" normalizeH="0" baseline="0" dirty="0">
                <a:ln>
                  <a:noFill/>
                </a:ln>
                <a:solidFill>
                  <a:srgbClr val="6897BB"/>
                </a:solidFill>
                <a:effectLst/>
                <a:latin typeface="Courier New" panose="02070309020205020404" pitchFamily="49" charset="0"/>
                <a:cs typeface="Courier New" panose="02070309020205020404" pitchFamily="49" charset="0"/>
              </a:rPr>
              <a:t>1</a:t>
            </a: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A4926"/>
                </a:solidFill>
                <a:effectLst/>
                <a:latin typeface="Courier New" panose="02070309020205020404" pitchFamily="49" charset="0"/>
                <a:cs typeface="Courier New" panose="02070309020205020404" pitchFamily="49" charset="0"/>
              </a:rPr>
              <a:t>shuffle</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r>
              <a:rPr kumimoji="0" lang="fr-FR" altLang="fr-FR" b="0" i="0" u="none" strike="noStrike" cap="none" normalizeH="0" baseline="0" dirty="0" err="1">
                <a:ln>
                  <a:noFill/>
                </a:ln>
                <a:solidFill>
                  <a:srgbClr val="CC7832"/>
                </a:solidFill>
                <a:effectLst/>
                <a:latin typeface="Courier New" panose="02070309020205020404" pitchFamily="49" charset="0"/>
                <a:cs typeface="Courier New" panose="02070309020205020404" pitchFamily="49" charset="0"/>
              </a:rPr>
              <a:t>True</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endPar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endParaRPr>
          </a:p>
          <a:p>
            <a:pPr eaLnBrk="0" fontAlgn="base" hangingPunct="0">
              <a:spcBef>
                <a:spcPct val="0"/>
              </a:spcBef>
              <a:spcAft>
                <a:spcPct val="0"/>
              </a:spcAft>
            </a:pPr>
            <a:endParaRPr lang="fr-FR" altLang="fr-FR" dirty="0">
              <a:solidFill>
                <a:srgbClr val="CC7832"/>
              </a:solidFill>
              <a:latin typeface="Courier New" panose="02070309020205020404" pitchFamily="49" charset="0"/>
              <a:cs typeface="Courier New" panose="02070309020205020404" pitchFamily="49" charset="0"/>
            </a:endParaRPr>
          </a:p>
          <a:p>
            <a:pPr eaLnBrk="0" fontAlgn="base" hangingPunct="0">
              <a:spcBef>
                <a:spcPct val="0"/>
              </a:spcBef>
              <a:spcAft>
                <a:spcPct val="0"/>
              </a:spcAft>
            </a:pP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for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epoch</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in </a:t>
            </a:r>
            <a:r>
              <a:rPr kumimoji="0" lang="fr-FR" altLang="fr-FR" b="0" i="0" u="none" strike="noStrike" cap="none" normalizeH="0" baseline="0" dirty="0">
                <a:ln>
                  <a:noFill/>
                </a:ln>
                <a:solidFill>
                  <a:srgbClr val="8888C6"/>
                </a:solidFill>
                <a:effectLst/>
                <a:latin typeface="Courier New" panose="02070309020205020404" pitchFamily="49" charset="0"/>
                <a:cs typeface="Courier New" panose="02070309020205020404" pitchFamily="49" charset="0"/>
              </a:rPr>
              <a:t>range</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n_epochs</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endPar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    for </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inputs</a:t>
            </a: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targets</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in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train_loader</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b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b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optimizer.zero_grad</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b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b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output = model(inputs)</a:t>
            </a:r>
            <a:b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b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loss</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loss_fn</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(output</a:t>
            </a: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targets</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b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b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loss.backward</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b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b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optimizer.step</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endParaRPr kumimoji="0" lang="fr-FR" altLang="fr-FR" sz="4000" b="0"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endParaRPr>
          </a:p>
        </p:txBody>
      </p:sp>
      <p:sp>
        <p:nvSpPr>
          <p:cNvPr id="10" name="Rectangle 4">
            <a:extLst>
              <a:ext uri="{FF2B5EF4-FFF2-40B4-BE49-F238E27FC236}">
                <a16:creationId xmlns:a16="http://schemas.microsoft.com/office/drawing/2014/main" id="{88012DB3-6428-1A8A-AC20-8F072A698711}"/>
              </a:ext>
            </a:extLst>
          </p:cNvPr>
          <p:cNvSpPr>
            <a:spLocks noChangeArrowheads="1"/>
          </p:cNvSpPr>
          <p:nvPr/>
        </p:nvSpPr>
        <p:spPr bwMode="auto">
          <a:xfrm>
            <a:off x="1228725" y="5120698"/>
            <a:ext cx="9734550"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fr-FR" altLang="fr-FR" sz="2800" dirty="0">
                <a:latin typeface="+mn-lt"/>
              </a:rPr>
              <a:t>-&gt; this </a:t>
            </a:r>
            <a:r>
              <a:rPr lang="fr-FR" altLang="fr-FR" sz="2800" dirty="0" err="1">
                <a:latin typeface="+mn-lt"/>
              </a:rPr>
              <a:t>example</a:t>
            </a:r>
            <a:r>
              <a:rPr lang="fr-FR" altLang="fr-FR" sz="2800" dirty="0">
                <a:latin typeface="+mn-lt"/>
              </a:rPr>
              <a:t> pushes the </a:t>
            </a:r>
            <a:r>
              <a:rPr lang="fr-FR" altLang="fr-FR" sz="2800" dirty="0" err="1">
                <a:latin typeface="+mn-lt"/>
              </a:rPr>
              <a:t>stochasticity</a:t>
            </a:r>
            <a:r>
              <a:rPr lang="fr-FR" altLang="fr-FR" sz="2800" dirty="0">
                <a:latin typeface="+mn-lt"/>
              </a:rPr>
              <a:t> to the </a:t>
            </a:r>
            <a:r>
              <a:rPr lang="fr-FR" altLang="fr-FR" sz="2800" dirty="0" err="1">
                <a:latin typeface="+mn-lt"/>
              </a:rPr>
              <a:t>limit</a:t>
            </a:r>
            <a:r>
              <a:rPr lang="fr-FR" altLang="fr-FR" sz="2800" dirty="0">
                <a:latin typeface="+mn-lt"/>
              </a:rPr>
              <a:t> by </a:t>
            </a:r>
            <a:r>
              <a:rPr lang="fr-FR" altLang="fr-FR" sz="2800" dirty="0" err="1">
                <a:latin typeface="+mn-lt"/>
              </a:rPr>
              <a:t>computing</a:t>
            </a:r>
            <a:r>
              <a:rPr lang="fr-FR" altLang="fr-FR" sz="2800" dirty="0">
                <a:latin typeface="+mn-lt"/>
              </a:rPr>
              <a:t> gradients on single </a:t>
            </a:r>
            <a:r>
              <a:rPr lang="fr-FR" altLang="fr-FR" sz="2800" dirty="0" err="1">
                <a:latin typeface="+mn-lt"/>
              </a:rPr>
              <a:t>samples</a:t>
            </a:r>
            <a:r>
              <a:rPr lang="fr-FR" altLang="fr-FR" sz="2800" dirty="0">
                <a:latin typeface="+mn-lt"/>
              </a:rPr>
              <a:t> (for input, </a:t>
            </a:r>
            <a:r>
              <a:rPr lang="fr-FR" altLang="fr-FR" sz="2800" dirty="0" err="1">
                <a:latin typeface="+mn-lt"/>
              </a:rPr>
              <a:t>target</a:t>
            </a:r>
            <a:r>
              <a:rPr lang="fr-FR" altLang="fr-FR" sz="2800" dirty="0">
                <a:latin typeface="+mn-lt"/>
              </a:rPr>
              <a:t> in </a:t>
            </a:r>
            <a:r>
              <a:rPr lang="fr-FR" altLang="fr-FR" sz="2800" dirty="0" err="1">
                <a:latin typeface="+mn-lt"/>
              </a:rPr>
              <a:t>dataset</a:t>
            </a:r>
            <a:r>
              <a:rPr lang="fr-FR" altLang="fr-FR" sz="2800" dirty="0">
                <a:latin typeface="+mn-lt"/>
              </a:rPr>
              <a:t>). </a:t>
            </a:r>
          </a:p>
        </p:txBody>
      </p:sp>
      <mc:AlternateContent xmlns:mc="http://schemas.openxmlformats.org/markup-compatibility/2006" xmlns:p14="http://schemas.microsoft.com/office/powerpoint/2010/main">
        <mc:Choice Requires="p14">
          <p:contentPart p14:bwMode="auto" r:id="rId3">
            <p14:nvContentPartPr>
              <p14:cNvPr id="15" name="Ink 14">
                <a:extLst>
                  <a:ext uri="{FF2B5EF4-FFF2-40B4-BE49-F238E27FC236}">
                    <a16:creationId xmlns:a16="http://schemas.microsoft.com/office/drawing/2014/main" id="{7E315CE1-FC83-B914-56D3-0BC9FF2D9815}"/>
                  </a:ext>
                </a:extLst>
              </p14:cNvPr>
              <p14:cNvContentPartPr/>
              <p14:nvPr/>
            </p14:nvContentPartPr>
            <p14:xfrm>
              <a:off x="6984995" y="1552384"/>
              <a:ext cx="3444840" cy="1696320"/>
            </p14:xfrm>
          </p:contentPart>
        </mc:Choice>
        <mc:Fallback xmlns="">
          <p:pic>
            <p:nvPicPr>
              <p:cNvPr id="15" name="Ink 14">
                <a:extLst>
                  <a:ext uri="{FF2B5EF4-FFF2-40B4-BE49-F238E27FC236}">
                    <a16:creationId xmlns:a16="http://schemas.microsoft.com/office/drawing/2014/main" id="{7E315CE1-FC83-B914-56D3-0BC9FF2D9815}"/>
                  </a:ext>
                </a:extLst>
              </p:cNvPr>
              <p:cNvPicPr/>
              <p:nvPr/>
            </p:nvPicPr>
            <p:blipFill>
              <a:blip r:embed="rId4"/>
              <a:stretch>
                <a:fillRect/>
              </a:stretch>
            </p:blipFill>
            <p:spPr>
              <a:xfrm>
                <a:off x="6949355" y="1516384"/>
                <a:ext cx="3516480" cy="1767960"/>
              </a:xfrm>
              <a:prstGeom prst="rect">
                <a:avLst/>
              </a:prstGeom>
            </p:spPr>
          </p:pic>
        </mc:Fallback>
      </mc:AlternateContent>
    </p:spTree>
    <p:extLst>
      <p:ext uri="{BB962C8B-B14F-4D97-AF65-F5344CB8AC3E}">
        <p14:creationId xmlns:p14="http://schemas.microsoft.com/office/powerpoint/2010/main" val="23521287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SGD</a:t>
            </a:r>
          </a:p>
        </p:txBody>
      </p:sp>
      <p:sp>
        <p:nvSpPr>
          <p:cNvPr id="9" name="Rectangle 3">
            <a:extLst>
              <a:ext uri="{FF2B5EF4-FFF2-40B4-BE49-F238E27FC236}">
                <a16:creationId xmlns:a16="http://schemas.microsoft.com/office/drawing/2014/main" id="{14B5134B-8384-C137-708C-406B9F3D01D1}"/>
              </a:ext>
            </a:extLst>
          </p:cNvPr>
          <p:cNvSpPr>
            <a:spLocks noChangeArrowheads="1"/>
          </p:cNvSpPr>
          <p:nvPr/>
        </p:nvSpPr>
        <p:spPr bwMode="auto">
          <a:xfrm>
            <a:off x="1024217" y="2001870"/>
            <a:ext cx="10406903" cy="2585323"/>
          </a:xfrm>
          <a:prstGeom prst="rect">
            <a:avLst/>
          </a:prstGeom>
          <a:solidFill>
            <a:srgbClr val="2B2B2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train_loader</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DataLoader</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r>
              <a:rPr kumimoji="0" lang="fr-FR" altLang="fr-FR" b="0" i="0" u="none" strike="noStrike" cap="none" normalizeH="0" baseline="0" dirty="0" err="1">
                <a:ln>
                  <a:noFill/>
                </a:ln>
                <a:solidFill>
                  <a:srgbClr val="AA4926"/>
                </a:solidFill>
                <a:effectLst/>
                <a:latin typeface="Courier New" panose="02070309020205020404" pitchFamily="49" charset="0"/>
                <a:cs typeface="Courier New" panose="02070309020205020404" pitchFamily="49" charset="0"/>
              </a:rPr>
              <a:t>dataset</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train_data</a:t>
            </a: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A4926"/>
                </a:solidFill>
                <a:effectLst/>
                <a:latin typeface="Courier New" panose="02070309020205020404" pitchFamily="49" charset="0"/>
                <a:cs typeface="Courier New" panose="02070309020205020404" pitchFamily="49" charset="0"/>
              </a:rPr>
              <a:t>batch_size</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r>
              <a:rPr kumimoji="0" lang="fr-FR" altLang="fr-FR" b="0" i="0" u="none" strike="noStrike" cap="none" normalizeH="0" baseline="0" dirty="0">
                <a:ln>
                  <a:noFill/>
                </a:ln>
                <a:solidFill>
                  <a:srgbClr val="6897BB"/>
                </a:solidFill>
                <a:effectLst/>
                <a:latin typeface="Courier New" panose="02070309020205020404" pitchFamily="49" charset="0"/>
                <a:cs typeface="Courier New" panose="02070309020205020404" pitchFamily="49" charset="0"/>
              </a:rPr>
              <a:t>32</a:t>
            </a: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A4926"/>
                </a:solidFill>
                <a:effectLst/>
                <a:latin typeface="Courier New" panose="02070309020205020404" pitchFamily="49" charset="0"/>
                <a:cs typeface="Courier New" panose="02070309020205020404" pitchFamily="49" charset="0"/>
              </a:rPr>
              <a:t>shuffle</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r>
              <a:rPr kumimoji="0" lang="fr-FR" altLang="fr-FR" b="0" i="0" u="none" strike="noStrike" cap="none" normalizeH="0" baseline="0" dirty="0" err="1">
                <a:ln>
                  <a:noFill/>
                </a:ln>
                <a:solidFill>
                  <a:srgbClr val="CC7832"/>
                </a:solidFill>
                <a:effectLst/>
                <a:latin typeface="Courier New" panose="02070309020205020404" pitchFamily="49" charset="0"/>
                <a:cs typeface="Courier New" panose="02070309020205020404" pitchFamily="49" charset="0"/>
              </a:rPr>
              <a:t>True</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endPar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endParaRPr>
          </a:p>
          <a:p>
            <a:pPr eaLnBrk="0" fontAlgn="base" hangingPunct="0">
              <a:spcBef>
                <a:spcPct val="0"/>
              </a:spcBef>
              <a:spcAft>
                <a:spcPct val="0"/>
              </a:spcAft>
            </a:pPr>
            <a:endParaRPr lang="fr-FR" altLang="fr-FR" dirty="0">
              <a:solidFill>
                <a:srgbClr val="CC7832"/>
              </a:solidFill>
              <a:latin typeface="Courier New" panose="02070309020205020404" pitchFamily="49" charset="0"/>
              <a:cs typeface="Courier New" panose="02070309020205020404" pitchFamily="49" charset="0"/>
            </a:endParaRPr>
          </a:p>
          <a:p>
            <a:pPr eaLnBrk="0" fontAlgn="base" hangingPunct="0">
              <a:spcBef>
                <a:spcPct val="0"/>
              </a:spcBef>
              <a:spcAft>
                <a:spcPct val="0"/>
              </a:spcAft>
            </a:pP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for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epoch</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in </a:t>
            </a:r>
            <a:r>
              <a:rPr kumimoji="0" lang="fr-FR" altLang="fr-FR" b="0" i="0" u="none" strike="noStrike" cap="none" normalizeH="0" baseline="0" dirty="0">
                <a:ln>
                  <a:noFill/>
                </a:ln>
                <a:solidFill>
                  <a:srgbClr val="8888C6"/>
                </a:solidFill>
                <a:effectLst/>
                <a:latin typeface="Courier New" panose="02070309020205020404" pitchFamily="49" charset="0"/>
                <a:cs typeface="Courier New" panose="02070309020205020404" pitchFamily="49" charset="0"/>
              </a:rPr>
              <a:t>range</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n_epochs</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endPar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    for </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inputs</a:t>
            </a: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targets</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in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train_loader</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b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b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optimizer.zero_grad</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b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b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output = model(inputs)</a:t>
            </a:r>
            <a:b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b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loss</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loss_fn</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(output</a:t>
            </a:r>
            <a:r>
              <a:rPr kumimoji="0" lang="fr-FR" altLang="fr-FR" b="0" i="0" u="none" strike="noStrike" cap="none" normalizeH="0" baseline="0" dirty="0">
                <a:ln>
                  <a:noFill/>
                </a:ln>
                <a:solidFill>
                  <a:srgbClr val="CC7832"/>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targets</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b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b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loss.backward</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b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b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        </a:t>
            </a:r>
            <a:r>
              <a:rPr kumimoji="0" lang="fr-FR" altLang="fr-FR" b="0" i="0" u="none" strike="noStrike" cap="none" normalizeH="0" baseline="0" dirty="0" err="1">
                <a:ln>
                  <a:noFill/>
                </a:ln>
                <a:solidFill>
                  <a:srgbClr val="A9B7C6"/>
                </a:solidFill>
                <a:effectLst/>
                <a:latin typeface="Courier New" panose="02070309020205020404" pitchFamily="49" charset="0"/>
                <a:cs typeface="Courier New" panose="02070309020205020404" pitchFamily="49" charset="0"/>
              </a:rPr>
              <a:t>optimizer.step</a:t>
            </a:r>
            <a:r>
              <a:rPr kumimoji="0" lang="fr-FR" altLang="fr-FR" b="0" i="0" u="none" strike="noStrike" cap="none" normalizeH="0" baseline="0" dirty="0">
                <a:ln>
                  <a:noFill/>
                </a:ln>
                <a:solidFill>
                  <a:srgbClr val="A9B7C6"/>
                </a:solidFill>
                <a:effectLst/>
                <a:latin typeface="Courier New" panose="02070309020205020404" pitchFamily="49" charset="0"/>
                <a:cs typeface="Courier New" panose="02070309020205020404" pitchFamily="49" charset="0"/>
              </a:rPr>
              <a:t>()</a:t>
            </a:r>
            <a:endParaRPr kumimoji="0" lang="fr-FR" altLang="fr-FR" sz="4000" b="0"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endParaRPr>
          </a:p>
        </p:txBody>
      </p:sp>
      <p:sp>
        <p:nvSpPr>
          <p:cNvPr id="10" name="Rectangle 4">
            <a:extLst>
              <a:ext uri="{FF2B5EF4-FFF2-40B4-BE49-F238E27FC236}">
                <a16:creationId xmlns:a16="http://schemas.microsoft.com/office/drawing/2014/main" id="{88012DB3-6428-1A8A-AC20-8F072A698711}"/>
              </a:ext>
            </a:extLst>
          </p:cNvPr>
          <p:cNvSpPr>
            <a:spLocks noChangeArrowheads="1"/>
          </p:cNvSpPr>
          <p:nvPr/>
        </p:nvSpPr>
        <p:spPr bwMode="auto">
          <a:xfrm>
            <a:off x="1228725" y="5120698"/>
            <a:ext cx="9734550"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fr-FR" sz="2800" dirty="0">
                <a:latin typeface="+mn-lt"/>
              </a:rPr>
              <a:t>-&gt; in practice a larger batch size usually allows you to use a larger learning rate</a:t>
            </a:r>
            <a:endParaRPr lang="fr-FR" altLang="fr-FR" sz="2800" dirty="0">
              <a:latin typeface="+mn-lt"/>
            </a:endParaRPr>
          </a:p>
        </p:txBody>
      </p:sp>
      <mc:AlternateContent xmlns:mc="http://schemas.openxmlformats.org/markup-compatibility/2006" xmlns:p14="http://schemas.microsoft.com/office/powerpoint/2010/main">
        <mc:Choice Requires="p14">
          <p:contentPart p14:bwMode="auto" r:id="rId3">
            <p14:nvContentPartPr>
              <p14:cNvPr id="2" name="Ink 1">
                <a:extLst>
                  <a:ext uri="{FF2B5EF4-FFF2-40B4-BE49-F238E27FC236}">
                    <a16:creationId xmlns:a16="http://schemas.microsoft.com/office/drawing/2014/main" id="{739FA5A7-3F10-CB62-BB10-22F61187273F}"/>
                  </a:ext>
                </a:extLst>
              </p14:cNvPr>
              <p14:cNvContentPartPr/>
              <p14:nvPr/>
            </p14:nvContentPartPr>
            <p14:xfrm>
              <a:off x="6984995" y="1552384"/>
              <a:ext cx="3444840" cy="1696320"/>
            </p14:xfrm>
          </p:contentPart>
        </mc:Choice>
        <mc:Fallback xmlns="">
          <p:pic>
            <p:nvPicPr>
              <p:cNvPr id="2" name="Ink 1">
                <a:extLst>
                  <a:ext uri="{FF2B5EF4-FFF2-40B4-BE49-F238E27FC236}">
                    <a16:creationId xmlns:a16="http://schemas.microsoft.com/office/drawing/2014/main" id="{739FA5A7-3F10-CB62-BB10-22F61187273F}"/>
                  </a:ext>
                </a:extLst>
              </p:cNvPr>
              <p:cNvPicPr/>
              <p:nvPr/>
            </p:nvPicPr>
            <p:blipFill>
              <a:blip r:embed="rId4"/>
              <a:stretch>
                <a:fillRect/>
              </a:stretch>
            </p:blipFill>
            <p:spPr>
              <a:xfrm>
                <a:off x="6948995" y="1516384"/>
                <a:ext cx="3516480" cy="1767960"/>
              </a:xfrm>
              <a:prstGeom prst="rect">
                <a:avLst/>
              </a:prstGeom>
            </p:spPr>
          </p:pic>
        </mc:Fallback>
      </mc:AlternateContent>
    </p:spTree>
    <p:extLst>
      <p:ext uri="{BB962C8B-B14F-4D97-AF65-F5344CB8AC3E}">
        <p14:creationId xmlns:p14="http://schemas.microsoft.com/office/powerpoint/2010/main" val="30877963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fade">
                                      <p:cBhvr>
                                        <p:cTn id="12"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Momentum</a:t>
            </a:r>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3C4EB284-4A7B-E6BB-BEC1-67954B65026D}"/>
                  </a:ext>
                </a:extLst>
              </p:cNvPr>
              <p:cNvSpPr>
                <a:spLocks noGrp="1"/>
              </p:cNvSpPr>
              <p:nvPr>
                <p:ph idx="1"/>
              </p:nvPr>
            </p:nvSpPr>
            <p:spPr>
              <a:xfrm>
                <a:off x="838200" y="1832999"/>
                <a:ext cx="10515600" cy="4538304"/>
              </a:xfrm>
            </p:spPr>
            <p:txBody>
              <a:bodyPr>
                <a:normAutofit/>
              </a:bodyPr>
              <a:lstStyle/>
              <a:p>
                <a:pPr marL="0" indent="0" algn="ctr">
                  <a:buNone/>
                </a:pP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𝑣</m:t>
                        </m:r>
                      </m:e>
                      <m:sub>
                        <m:r>
                          <a:rPr lang="fr-FR" b="0" i="1" smtClean="0">
                            <a:latin typeface="Cambria Math" panose="02040503050406030204" pitchFamily="18" charset="0"/>
                          </a:rPr>
                          <m:t>𝑡</m:t>
                        </m:r>
                        <m:r>
                          <a:rPr lang="fr-FR" b="0" i="1" smtClean="0">
                            <a:latin typeface="Cambria Math" panose="02040503050406030204" pitchFamily="18" charset="0"/>
                          </a:rPr>
                          <m:t>, </m:t>
                        </m:r>
                        <m:r>
                          <a:rPr lang="fr-FR" b="0" i="1" smtClean="0">
                            <a:latin typeface="Cambria Math" panose="02040503050406030204" pitchFamily="18" charset="0"/>
                          </a:rPr>
                          <m:t>𝑖</m:t>
                        </m:r>
                      </m:sub>
                    </m:sSub>
                    <m:r>
                      <a:rPr lang="fr-FR" b="0" i="1" smtClean="0">
                        <a:latin typeface="Cambria Math" panose="02040503050406030204" pitchFamily="18" charset="0"/>
                      </a:rPr>
                      <m:t>=</m:t>
                    </m:r>
                    <m:r>
                      <a:rPr lang="fr-FR" b="0" i="1" smtClean="0">
                        <a:latin typeface="Cambria Math" panose="02040503050406030204" pitchFamily="18" charset="0"/>
                      </a:rPr>
                      <m:t>𝛾</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𝑣</m:t>
                        </m:r>
                      </m:e>
                      <m:sub>
                        <m:r>
                          <a:rPr lang="fr-FR" b="0" i="1" smtClean="0">
                            <a:latin typeface="Cambria Math" panose="02040503050406030204" pitchFamily="18" charset="0"/>
                          </a:rPr>
                          <m:t>𝑡</m:t>
                        </m:r>
                        <m:r>
                          <a:rPr lang="fr-FR" b="0" i="1" smtClean="0">
                            <a:latin typeface="Cambria Math" panose="02040503050406030204" pitchFamily="18" charset="0"/>
                          </a:rPr>
                          <m:t>−1, </m:t>
                        </m:r>
                        <m:r>
                          <a:rPr lang="fr-FR" b="0" i="1" smtClean="0">
                            <a:latin typeface="Cambria Math" panose="02040503050406030204" pitchFamily="18" charset="0"/>
                          </a:rPr>
                          <m:t>𝑖</m:t>
                        </m:r>
                      </m:sub>
                    </m:sSub>
                    <m:r>
                      <a:rPr lang="fr-FR" b="0" i="1" smtClean="0">
                        <a:latin typeface="Cambria Math" panose="02040503050406030204" pitchFamily="18" charset="0"/>
                      </a:rPr>
                      <m:t>+</m:t>
                    </m:r>
                    <m:r>
                      <a:rPr lang="fr-FR" b="0" i="1" smtClean="0">
                        <a:latin typeface="Cambria Math" panose="02040503050406030204" pitchFamily="18" charset="0"/>
                      </a:rPr>
                      <m:t>𝜕</m:t>
                    </m:r>
                    <m:r>
                      <a:rPr lang="fr-FR" b="0" i="1" smtClean="0">
                        <a:latin typeface="Cambria Math" panose="02040503050406030204" pitchFamily="18" charset="0"/>
                      </a:rPr>
                      <m:t>𝑙𝑜𝑠𝑠</m:t>
                    </m:r>
                    <m:r>
                      <a:rPr lang="fr-FR" b="0" i="1" smtClean="0">
                        <a:latin typeface="Cambria Math" panose="02040503050406030204" pitchFamily="18" charset="0"/>
                      </a:rPr>
                      <m:t>/</m:t>
                    </m:r>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𝜃</m:t>
                        </m:r>
                      </m:e>
                      <m:sub>
                        <m:r>
                          <a:rPr lang="fr-FR" b="0" i="1" smtClean="0">
                            <a:latin typeface="Cambria Math" panose="02040503050406030204" pitchFamily="18" charset="0"/>
                          </a:rPr>
                          <m:t>𝑡</m:t>
                        </m:r>
                        <m:r>
                          <a:rPr lang="fr-FR" b="0" i="1" smtClean="0">
                            <a:latin typeface="Cambria Math" panose="02040503050406030204" pitchFamily="18" charset="0"/>
                          </a:rPr>
                          <m:t>,</m:t>
                        </m:r>
                        <m:r>
                          <a:rPr lang="fr-FR" b="0" i="1" smtClean="0">
                            <a:latin typeface="Cambria Math" panose="02040503050406030204" pitchFamily="18" charset="0"/>
                          </a:rPr>
                          <m:t>𝑖</m:t>
                        </m:r>
                      </m:sub>
                    </m:sSub>
                  </m:oMath>
                </a14:m>
                <a:r>
                  <a:rPr lang="en-US" dirty="0"/>
                  <a:t> </a:t>
                </a:r>
              </a:p>
              <a:p>
                <a:pPr marL="0" indent="0" algn="ctr">
                  <a:buNone/>
                </a:pPr>
                <a:endParaRPr lang="en-US" dirty="0"/>
              </a:p>
              <a:p>
                <a:pPr marL="0" indent="0" algn="just">
                  <a:buNone/>
                </a:pPr>
                <a14:m>
                  <m:oMathPara xmlns:m="http://schemas.openxmlformats.org/officeDocument/2006/math">
                    <m:oMathParaPr>
                      <m:jc m:val="centerGroup"/>
                    </m:oMathParaPr>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𝜃</m:t>
                          </m:r>
                        </m:e>
                        <m:sub>
                          <m:r>
                            <a:rPr lang="fr-FR" b="0" i="1" smtClean="0">
                              <a:latin typeface="Cambria Math" panose="02040503050406030204" pitchFamily="18" charset="0"/>
                            </a:rPr>
                            <m:t>𝑡</m:t>
                          </m:r>
                          <m:r>
                            <a:rPr lang="fr-FR" b="0" i="1" smtClean="0">
                              <a:latin typeface="Cambria Math" panose="02040503050406030204" pitchFamily="18" charset="0"/>
                            </a:rPr>
                            <m:t>+1, </m:t>
                          </m:r>
                          <m:r>
                            <a:rPr lang="fr-FR" b="0" i="1" smtClean="0">
                              <a:latin typeface="Cambria Math" panose="02040503050406030204" pitchFamily="18" charset="0"/>
                            </a:rPr>
                            <m:t>𝑖</m:t>
                          </m:r>
                        </m:sub>
                      </m:sSub>
                      <m:r>
                        <a:rPr lang="fr-FR" b="0" i="1" smtClean="0">
                          <a:latin typeface="Cambria Math" panose="02040503050406030204" pitchFamily="18" charset="0"/>
                        </a:rPr>
                        <m:t>=</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𝜃</m:t>
                          </m:r>
                        </m:e>
                        <m:sub>
                          <m:r>
                            <a:rPr lang="fr-FR" b="0" i="1" smtClean="0">
                              <a:latin typeface="Cambria Math" panose="02040503050406030204" pitchFamily="18" charset="0"/>
                            </a:rPr>
                            <m:t>𝑡</m:t>
                          </m:r>
                          <m:r>
                            <a:rPr lang="fr-FR" b="0" i="1" smtClean="0">
                              <a:latin typeface="Cambria Math" panose="02040503050406030204" pitchFamily="18" charset="0"/>
                            </a:rPr>
                            <m:t>,</m:t>
                          </m:r>
                          <m:r>
                            <a:rPr lang="fr-FR" b="0" i="1" smtClean="0">
                              <a:latin typeface="Cambria Math" panose="02040503050406030204" pitchFamily="18" charset="0"/>
                            </a:rPr>
                            <m:t>𝑖</m:t>
                          </m:r>
                        </m:sub>
                      </m:sSub>
                      <m:r>
                        <a:rPr lang="fr-FR" b="0" i="1" smtClean="0">
                          <a:latin typeface="Cambria Math" panose="02040503050406030204" pitchFamily="18" charset="0"/>
                        </a:rPr>
                        <m:t> −</m:t>
                      </m:r>
                      <m:r>
                        <a:rPr lang="fr-FR" b="0" i="1" smtClean="0">
                          <a:latin typeface="Cambria Math" panose="02040503050406030204" pitchFamily="18" charset="0"/>
                        </a:rPr>
                        <m:t>𝑙𝑟</m:t>
                      </m:r>
                      <m:r>
                        <a:rPr lang="fr-FR" b="0" i="1" smtClean="0">
                          <a:latin typeface="Cambria Math" panose="02040503050406030204" pitchFamily="18" charset="0"/>
                        </a:rPr>
                        <m:t> ∗</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𝑣</m:t>
                          </m:r>
                        </m:e>
                        <m:sub>
                          <m:r>
                            <a:rPr lang="fr-FR" b="0" i="1" smtClean="0">
                              <a:latin typeface="Cambria Math" panose="02040503050406030204" pitchFamily="18" charset="0"/>
                            </a:rPr>
                            <m:t>𝑡</m:t>
                          </m:r>
                          <m:r>
                            <a:rPr lang="fr-FR" b="0" i="1" smtClean="0">
                              <a:latin typeface="Cambria Math" panose="02040503050406030204" pitchFamily="18" charset="0"/>
                            </a:rPr>
                            <m:t>, </m:t>
                          </m:r>
                          <m:r>
                            <a:rPr lang="fr-FR" b="0" i="1" smtClean="0">
                              <a:latin typeface="Cambria Math" panose="02040503050406030204" pitchFamily="18" charset="0"/>
                            </a:rPr>
                            <m:t>𝑖</m:t>
                          </m:r>
                        </m:sub>
                      </m:sSub>
                    </m:oMath>
                  </m:oMathPara>
                </a14:m>
                <a:endParaRPr lang="fr-FR" b="0" dirty="0"/>
              </a:p>
              <a:p>
                <a:pPr marL="0" indent="0" algn="just">
                  <a:buNone/>
                </a:pPr>
                <a:endParaRPr lang="en-US" dirty="0"/>
              </a:p>
              <a:p>
                <a:pPr marL="0" indent="0" algn="just">
                  <a:buNone/>
                </a:pPr>
                <a:r>
                  <a:rPr lang="en-US" dirty="0"/>
                  <a:t>-&gt; New hyperparameter!</a:t>
                </a:r>
              </a:p>
              <a:p>
                <a:pPr marL="0" indent="0" algn="just">
                  <a:buNone/>
                </a:pPr>
                <a:r>
                  <a:rPr lang="en-US" dirty="0"/>
                  <a:t>-&gt; </a:t>
                </a:r>
                <a:r>
                  <a:rPr lang="en-US" dirty="0">
                    <a:hlinkClick r:id="rId3"/>
                  </a:rPr>
                  <a:t>Why momentum really works</a:t>
                </a:r>
                <a:endParaRPr lang="en-US" dirty="0"/>
              </a:p>
            </p:txBody>
          </p:sp>
        </mc:Choice>
        <mc:Fallback xmlns="">
          <p:sp>
            <p:nvSpPr>
              <p:cNvPr id="6" name="Content Placeholder 5">
                <a:extLst>
                  <a:ext uri="{FF2B5EF4-FFF2-40B4-BE49-F238E27FC236}">
                    <a16:creationId xmlns:a16="http://schemas.microsoft.com/office/drawing/2014/main" id="{3C4EB284-4A7B-E6BB-BEC1-67954B65026D}"/>
                  </a:ext>
                </a:extLst>
              </p:cNvPr>
              <p:cNvSpPr>
                <a:spLocks noGrp="1" noRot="1" noChangeAspect="1" noMove="1" noResize="1" noEditPoints="1" noAdjustHandles="1" noChangeArrowheads="1" noChangeShapeType="1" noTextEdit="1"/>
              </p:cNvSpPr>
              <p:nvPr>
                <p:ph idx="1"/>
              </p:nvPr>
            </p:nvSpPr>
            <p:spPr>
              <a:xfrm>
                <a:off x="838200" y="1832999"/>
                <a:ext cx="10515600" cy="4538304"/>
              </a:xfrm>
              <a:blipFill>
                <a:blip r:embed="rId4"/>
                <a:stretch>
                  <a:fillRect l="-1217"/>
                </a:stretch>
              </a:blipFill>
            </p:spPr>
            <p:txBody>
              <a:bodyPr/>
              <a:lstStyle/>
              <a:p>
                <a:r>
                  <a:rPr lang="fr-FR">
                    <a:noFill/>
                  </a:rPr>
                  <a:t> </a:t>
                </a:r>
              </a:p>
            </p:txBody>
          </p:sp>
        </mc:Fallback>
      </mc:AlternateContent>
      <mc:AlternateContent xmlns:mc="http://schemas.openxmlformats.org/markup-compatibility/2006" xmlns:p14="http://schemas.microsoft.com/office/powerpoint/2010/main">
        <mc:Choice Requires="p14">
          <p:contentPart p14:bwMode="auto" r:id="rId5">
            <p14:nvContentPartPr>
              <p14:cNvPr id="13" name="Ink 12">
                <a:extLst>
                  <a:ext uri="{FF2B5EF4-FFF2-40B4-BE49-F238E27FC236}">
                    <a16:creationId xmlns:a16="http://schemas.microsoft.com/office/drawing/2014/main" id="{54042779-8AEA-B3E7-5CB9-93CE086E2294}"/>
                  </a:ext>
                </a:extLst>
              </p14:cNvPr>
              <p14:cNvContentPartPr/>
              <p14:nvPr/>
            </p14:nvContentPartPr>
            <p14:xfrm>
              <a:off x="5036598" y="2336667"/>
              <a:ext cx="974160" cy="360"/>
            </p14:xfrm>
          </p:contentPart>
        </mc:Choice>
        <mc:Fallback xmlns="">
          <p:pic>
            <p:nvPicPr>
              <p:cNvPr id="13" name="Ink 12">
                <a:extLst>
                  <a:ext uri="{FF2B5EF4-FFF2-40B4-BE49-F238E27FC236}">
                    <a16:creationId xmlns:a16="http://schemas.microsoft.com/office/drawing/2014/main" id="{54042779-8AEA-B3E7-5CB9-93CE086E2294}"/>
                  </a:ext>
                </a:extLst>
              </p:cNvPr>
              <p:cNvPicPr/>
              <p:nvPr/>
            </p:nvPicPr>
            <p:blipFill>
              <a:blip r:embed="rId6"/>
              <a:stretch>
                <a:fillRect/>
              </a:stretch>
            </p:blipFill>
            <p:spPr>
              <a:xfrm>
                <a:off x="5000598" y="2301027"/>
                <a:ext cx="1045800" cy="72000"/>
              </a:xfrm>
              <a:prstGeom prst="rect">
                <a:avLst/>
              </a:prstGeom>
            </p:spPr>
          </p:pic>
        </mc:Fallback>
      </mc:AlternateContent>
    </p:spTree>
    <p:extLst>
      <p:ext uri="{BB962C8B-B14F-4D97-AF65-F5344CB8AC3E}">
        <p14:creationId xmlns:p14="http://schemas.microsoft.com/office/powerpoint/2010/main" val="2308556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4A41B-5B78-0AB0-AFDE-C873CFEC9776}"/>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DF423C3-C7C0-DA46-CAE0-A6DD1051DCEE}"/>
              </a:ext>
            </a:extLst>
          </p:cNvPr>
          <p:cNvSpPr>
            <a:spLocks noGrp="1"/>
          </p:cNvSpPr>
          <p:nvPr>
            <p:ph type="title"/>
          </p:nvPr>
        </p:nvSpPr>
        <p:spPr/>
        <p:txBody>
          <a:bodyPr/>
          <a:lstStyle/>
          <a:p>
            <a:r>
              <a:rPr lang="en-US" dirty="0"/>
              <a:t>Learning rate per parameter</a:t>
            </a:r>
          </a:p>
        </p:txBody>
      </p:sp>
      <p:pic>
        <p:nvPicPr>
          <p:cNvPr id="7" name="Picture 6">
            <a:extLst>
              <a:ext uri="{FF2B5EF4-FFF2-40B4-BE49-F238E27FC236}">
                <a16:creationId xmlns:a16="http://schemas.microsoft.com/office/drawing/2014/main" id="{1D3A0343-6166-3FFF-E9CF-33EBBB2CF9FA}"/>
              </a:ext>
            </a:extLst>
          </p:cNvPr>
          <p:cNvPicPr>
            <a:picLocks noChangeAspect="1"/>
          </p:cNvPicPr>
          <p:nvPr/>
        </p:nvPicPr>
        <p:blipFill>
          <a:blip r:embed="rId3"/>
          <a:srcRect t="7338"/>
          <a:stretch>
            <a:fillRect/>
          </a:stretch>
        </p:blipFill>
        <p:spPr>
          <a:xfrm>
            <a:off x="4194077" y="1360628"/>
            <a:ext cx="3803845" cy="5219395"/>
          </a:xfrm>
          <a:prstGeom prst="rect">
            <a:avLst/>
          </a:prstGeom>
        </p:spPr>
      </p:pic>
      <p:sp>
        <p:nvSpPr>
          <p:cNvPr id="8" name="TextBox 7">
            <a:extLst>
              <a:ext uri="{FF2B5EF4-FFF2-40B4-BE49-F238E27FC236}">
                <a16:creationId xmlns:a16="http://schemas.microsoft.com/office/drawing/2014/main" id="{6005BE1F-149F-B7CE-CE38-844555C4230E}"/>
              </a:ext>
            </a:extLst>
          </p:cNvPr>
          <p:cNvSpPr txBox="1"/>
          <p:nvPr/>
        </p:nvSpPr>
        <p:spPr>
          <a:xfrm>
            <a:off x="8193024" y="2882189"/>
            <a:ext cx="1472711" cy="369332"/>
          </a:xfrm>
          <a:prstGeom prst="rect">
            <a:avLst/>
          </a:prstGeom>
          <a:noFill/>
        </p:spPr>
        <p:txBody>
          <a:bodyPr wrap="none" rtlCol="0">
            <a:spAutoFit/>
          </a:bodyPr>
          <a:lstStyle/>
          <a:p>
            <a:r>
              <a:rPr lang="en-GB" dirty="0"/>
              <a:t>Weight Decay</a:t>
            </a:r>
          </a:p>
        </p:txBody>
      </p:sp>
      <p:sp>
        <p:nvSpPr>
          <p:cNvPr id="9" name="TextBox 8">
            <a:extLst>
              <a:ext uri="{FF2B5EF4-FFF2-40B4-BE49-F238E27FC236}">
                <a16:creationId xmlns:a16="http://schemas.microsoft.com/office/drawing/2014/main" id="{2ABD5176-3181-C1BF-7457-07FD8DB6DDEF}"/>
              </a:ext>
            </a:extLst>
          </p:cNvPr>
          <p:cNvSpPr txBox="1"/>
          <p:nvPr/>
        </p:nvSpPr>
        <p:spPr>
          <a:xfrm>
            <a:off x="8193024" y="1858060"/>
            <a:ext cx="1425840" cy="369332"/>
          </a:xfrm>
          <a:prstGeom prst="rect">
            <a:avLst/>
          </a:prstGeom>
          <a:noFill/>
        </p:spPr>
        <p:txBody>
          <a:bodyPr wrap="none" rtlCol="0">
            <a:spAutoFit/>
          </a:bodyPr>
          <a:lstStyle/>
          <a:p>
            <a:r>
              <a:rPr lang="en-GB" dirty="0"/>
              <a:t>Obvious stuff</a:t>
            </a:r>
          </a:p>
        </p:txBody>
      </p:sp>
      <p:sp>
        <p:nvSpPr>
          <p:cNvPr id="10" name="TextBox 9">
            <a:extLst>
              <a:ext uri="{FF2B5EF4-FFF2-40B4-BE49-F238E27FC236}">
                <a16:creationId xmlns:a16="http://schemas.microsoft.com/office/drawing/2014/main" id="{1AEF30F3-C290-B02C-943C-701E526A6107}"/>
              </a:ext>
            </a:extLst>
          </p:cNvPr>
          <p:cNvSpPr txBox="1"/>
          <p:nvPr/>
        </p:nvSpPr>
        <p:spPr>
          <a:xfrm>
            <a:off x="8193024" y="3355848"/>
            <a:ext cx="1306255" cy="369332"/>
          </a:xfrm>
          <a:prstGeom prst="rect">
            <a:avLst/>
          </a:prstGeom>
          <a:noFill/>
        </p:spPr>
        <p:txBody>
          <a:bodyPr wrap="none" rtlCol="0">
            <a:spAutoFit/>
          </a:bodyPr>
          <a:lstStyle/>
          <a:p>
            <a:r>
              <a:rPr lang="en-GB" dirty="0"/>
              <a:t>Momentum</a:t>
            </a:r>
          </a:p>
        </p:txBody>
      </p:sp>
      <p:sp>
        <p:nvSpPr>
          <p:cNvPr id="11" name="TextBox 10">
            <a:extLst>
              <a:ext uri="{FF2B5EF4-FFF2-40B4-BE49-F238E27FC236}">
                <a16:creationId xmlns:a16="http://schemas.microsoft.com/office/drawing/2014/main" id="{A552E166-0EB2-6BAF-E44E-C62E462BADBA}"/>
              </a:ext>
            </a:extLst>
          </p:cNvPr>
          <p:cNvSpPr txBox="1"/>
          <p:nvPr/>
        </p:nvSpPr>
        <p:spPr>
          <a:xfrm>
            <a:off x="8193024" y="3766023"/>
            <a:ext cx="2987997" cy="369332"/>
          </a:xfrm>
          <a:prstGeom prst="rect">
            <a:avLst/>
          </a:prstGeom>
          <a:noFill/>
        </p:spPr>
        <p:txBody>
          <a:bodyPr wrap="none" rtlCol="0">
            <a:spAutoFit/>
          </a:bodyPr>
          <a:lstStyle/>
          <a:p>
            <a:r>
              <a:rPr lang="en-GB" dirty="0"/>
              <a:t>If it’s moving a lot, calm down</a:t>
            </a:r>
          </a:p>
        </p:txBody>
      </p:sp>
      <p:grpSp>
        <p:nvGrpSpPr>
          <p:cNvPr id="21" name="Group 20">
            <a:extLst>
              <a:ext uri="{FF2B5EF4-FFF2-40B4-BE49-F238E27FC236}">
                <a16:creationId xmlns:a16="http://schemas.microsoft.com/office/drawing/2014/main" id="{A8B9525C-6889-203D-0D77-CC790C62C1A4}"/>
              </a:ext>
            </a:extLst>
          </p:cNvPr>
          <p:cNvGrpSpPr/>
          <p:nvPr/>
        </p:nvGrpSpPr>
        <p:grpSpPr>
          <a:xfrm>
            <a:off x="6795520" y="1441840"/>
            <a:ext cx="1246680" cy="1256400"/>
            <a:chOff x="6795520" y="1441840"/>
            <a:chExt cx="1246680" cy="1256400"/>
          </a:xfrm>
        </p:grpSpPr>
        <mc:AlternateContent xmlns:mc="http://schemas.openxmlformats.org/markup-compatibility/2006">
          <mc:Choice xmlns:p14="http://schemas.microsoft.com/office/powerpoint/2010/main" Requires="p14">
            <p:contentPart p14:bwMode="auto" r:id="rId4">
              <p14:nvContentPartPr>
                <p14:cNvPr id="18" name="Ink 17">
                  <a:extLst>
                    <a:ext uri="{FF2B5EF4-FFF2-40B4-BE49-F238E27FC236}">
                      <a16:creationId xmlns:a16="http://schemas.microsoft.com/office/drawing/2014/main" id="{42171296-1F67-8657-1180-6AC0DA09D6A4}"/>
                    </a:ext>
                  </a:extLst>
                </p14:cNvPr>
                <p14:cNvContentPartPr/>
                <p14:nvPr/>
              </p14:nvContentPartPr>
              <p14:xfrm>
                <a:off x="6795520" y="1441840"/>
                <a:ext cx="291600" cy="1256400"/>
              </p14:xfrm>
            </p:contentPart>
          </mc:Choice>
          <mc:Fallback>
            <p:pic>
              <p:nvPicPr>
                <p:cNvPr id="18" name="Ink 17">
                  <a:extLst>
                    <a:ext uri="{FF2B5EF4-FFF2-40B4-BE49-F238E27FC236}">
                      <a16:creationId xmlns:a16="http://schemas.microsoft.com/office/drawing/2014/main" id="{42171296-1F67-8657-1180-6AC0DA09D6A4}"/>
                    </a:ext>
                  </a:extLst>
                </p:cNvPr>
                <p:cNvPicPr/>
                <p:nvPr/>
              </p:nvPicPr>
              <p:blipFill>
                <a:blip r:embed="rId5"/>
                <a:stretch>
                  <a:fillRect/>
                </a:stretch>
              </p:blipFill>
              <p:spPr>
                <a:xfrm>
                  <a:off x="6789400" y="1435720"/>
                  <a:ext cx="303840" cy="126864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19" name="Ink 18">
                  <a:extLst>
                    <a:ext uri="{FF2B5EF4-FFF2-40B4-BE49-F238E27FC236}">
                      <a16:creationId xmlns:a16="http://schemas.microsoft.com/office/drawing/2014/main" id="{9C5727BC-F202-4D86-154C-809381C8A114}"/>
                    </a:ext>
                  </a:extLst>
                </p14:cNvPr>
                <p14:cNvContentPartPr/>
                <p14:nvPr/>
              </p14:nvContentPartPr>
              <p14:xfrm>
                <a:off x="7091440" y="2041600"/>
                <a:ext cx="747000" cy="72000"/>
              </p14:xfrm>
            </p:contentPart>
          </mc:Choice>
          <mc:Fallback>
            <p:pic>
              <p:nvPicPr>
                <p:cNvPr id="19" name="Ink 18">
                  <a:extLst>
                    <a:ext uri="{FF2B5EF4-FFF2-40B4-BE49-F238E27FC236}">
                      <a16:creationId xmlns:a16="http://schemas.microsoft.com/office/drawing/2014/main" id="{9C5727BC-F202-4D86-154C-809381C8A114}"/>
                    </a:ext>
                  </a:extLst>
                </p:cNvPr>
                <p:cNvPicPr/>
                <p:nvPr/>
              </p:nvPicPr>
              <p:blipFill>
                <a:blip r:embed="rId7"/>
                <a:stretch>
                  <a:fillRect/>
                </a:stretch>
              </p:blipFill>
              <p:spPr>
                <a:xfrm>
                  <a:off x="7085320" y="2035480"/>
                  <a:ext cx="759240" cy="8424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20" name="Ink 19">
                  <a:extLst>
                    <a:ext uri="{FF2B5EF4-FFF2-40B4-BE49-F238E27FC236}">
                      <a16:creationId xmlns:a16="http://schemas.microsoft.com/office/drawing/2014/main" id="{5F20C7A7-EEA8-F1D2-BD58-CFAA1E306B0D}"/>
                    </a:ext>
                  </a:extLst>
                </p14:cNvPr>
                <p14:cNvContentPartPr/>
                <p14:nvPr/>
              </p14:nvContentPartPr>
              <p14:xfrm>
                <a:off x="7828360" y="2031880"/>
                <a:ext cx="213840" cy="131760"/>
              </p14:xfrm>
            </p:contentPart>
          </mc:Choice>
          <mc:Fallback>
            <p:pic>
              <p:nvPicPr>
                <p:cNvPr id="20" name="Ink 19">
                  <a:extLst>
                    <a:ext uri="{FF2B5EF4-FFF2-40B4-BE49-F238E27FC236}">
                      <a16:creationId xmlns:a16="http://schemas.microsoft.com/office/drawing/2014/main" id="{5F20C7A7-EEA8-F1D2-BD58-CFAA1E306B0D}"/>
                    </a:ext>
                  </a:extLst>
                </p:cNvPr>
                <p:cNvPicPr/>
                <p:nvPr/>
              </p:nvPicPr>
              <p:blipFill>
                <a:blip r:embed="rId9"/>
                <a:stretch>
                  <a:fillRect/>
                </a:stretch>
              </p:blipFill>
              <p:spPr>
                <a:xfrm>
                  <a:off x="7822240" y="2025760"/>
                  <a:ext cx="226080" cy="144000"/>
                </a:xfrm>
                <a:prstGeom prst="rect">
                  <a:avLst/>
                </a:prstGeom>
              </p:spPr>
            </p:pic>
          </mc:Fallback>
        </mc:AlternateContent>
      </p:grpSp>
      <p:grpSp>
        <p:nvGrpSpPr>
          <p:cNvPr id="25" name="Group 24">
            <a:extLst>
              <a:ext uri="{FF2B5EF4-FFF2-40B4-BE49-F238E27FC236}">
                <a16:creationId xmlns:a16="http://schemas.microsoft.com/office/drawing/2014/main" id="{47ECA930-D98C-605A-8211-744E7DBF40CE}"/>
              </a:ext>
            </a:extLst>
          </p:cNvPr>
          <p:cNvGrpSpPr/>
          <p:nvPr/>
        </p:nvGrpSpPr>
        <p:grpSpPr>
          <a:xfrm>
            <a:off x="6802000" y="2757640"/>
            <a:ext cx="1174320" cy="533880"/>
            <a:chOff x="6802000" y="2757640"/>
            <a:chExt cx="1174320" cy="533880"/>
          </a:xfrm>
        </p:grpSpPr>
        <mc:AlternateContent xmlns:mc="http://schemas.openxmlformats.org/markup-compatibility/2006">
          <mc:Choice xmlns:p14="http://schemas.microsoft.com/office/powerpoint/2010/main" Requires="p14">
            <p:contentPart p14:bwMode="auto" r:id="rId10">
              <p14:nvContentPartPr>
                <p14:cNvPr id="22" name="Ink 21">
                  <a:extLst>
                    <a:ext uri="{FF2B5EF4-FFF2-40B4-BE49-F238E27FC236}">
                      <a16:creationId xmlns:a16="http://schemas.microsoft.com/office/drawing/2014/main" id="{2D6EC34F-6010-84C6-D8C1-4818A71C321F}"/>
                    </a:ext>
                  </a:extLst>
                </p14:cNvPr>
                <p14:cNvContentPartPr/>
                <p14:nvPr/>
              </p14:nvContentPartPr>
              <p14:xfrm>
                <a:off x="6802000" y="2757640"/>
                <a:ext cx="100800" cy="533880"/>
              </p14:xfrm>
            </p:contentPart>
          </mc:Choice>
          <mc:Fallback>
            <p:pic>
              <p:nvPicPr>
                <p:cNvPr id="22" name="Ink 21">
                  <a:extLst>
                    <a:ext uri="{FF2B5EF4-FFF2-40B4-BE49-F238E27FC236}">
                      <a16:creationId xmlns:a16="http://schemas.microsoft.com/office/drawing/2014/main" id="{2D6EC34F-6010-84C6-D8C1-4818A71C321F}"/>
                    </a:ext>
                  </a:extLst>
                </p:cNvPr>
                <p:cNvPicPr/>
                <p:nvPr/>
              </p:nvPicPr>
              <p:blipFill>
                <a:blip r:embed="rId11"/>
                <a:stretch>
                  <a:fillRect/>
                </a:stretch>
              </p:blipFill>
              <p:spPr>
                <a:xfrm>
                  <a:off x="6795880" y="2751520"/>
                  <a:ext cx="113040" cy="54612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23" name="Ink 22">
                  <a:extLst>
                    <a:ext uri="{FF2B5EF4-FFF2-40B4-BE49-F238E27FC236}">
                      <a16:creationId xmlns:a16="http://schemas.microsoft.com/office/drawing/2014/main" id="{639C8D92-0879-DE2D-385A-1BF00DA6DA9B}"/>
                    </a:ext>
                  </a:extLst>
                </p14:cNvPr>
                <p14:cNvContentPartPr/>
                <p14:nvPr/>
              </p14:nvContentPartPr>
              <p14:xfrm>
                <a:off x="6929440" y="3030520"/>
                <a:ext cx="1008360" cy="28800"/>
              </p14:xfrm>
            </p:contentPart>
          </mc:Choice>
          <mc:Fallback>
            <p:pic>
              <p:nvPicPr>
                <p:cNvPr id="23" name="Ink 22">
                  <a:extLst>
                    <a:ext uri="{FF2B5EF4-FFF2-40B4-BE49-F238E27FC236}">
                      <a16:creationId xmlns:a16="http://schemas.microsoft.com/office/drawing/2014/main" id="{639C8D92-0879-DE2D-385A-1BF00DA6DA9B}"/>
                    </a:ext>
                  </a:extLst>
                </p:cNvPr>
                <p:cNvPicPr/>
                <p:nvPr/>
              </p:nvPicPr>
              <p:blipFill>
                <a:blip r:embed="rId13"/>
                <a:stretch>
                  <a:fillRect/>
                </a:stretch>
              </p:blipFill>
              <p:spPr>
                <a:xfrm>
                  <a:off x="6923320" y="3024400"/>
                  <a:ext cx="1020600" cy="4104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24" name="Ink 23">
                  <a:extLst>
                    <a:ext uri="{FF2B5EF4-FFF2-40B4-BE49-F238E27FC236}">
                      <a16:creationId xmlns:a16="http://schemas.microsoft.com/office/drawing/2014/main" id="{4937ACB2-4FE0-0DFA-8E66-88400B7FCD25}"/>
                    </a:ext>
                  </a:extLst>
                </p14:cNvPr>
                <p14:cNvContentPartPr/>
                <p14:nvPr/>
              </p14:nvContentPartPr>
              <p14:xfrm>
                <a:off x="7858600" y="2971480"/>
                <a:ext cx="117720" cy="122040"/>
              </p14:xfrm>
            </p:contentPart>
          </mc:Choice>
          <mc:Fallback>
            <p:pic>
              <p:nvPicPr>
                <p:cNvPr id="24" name="Ink 23">
                  <a:extLst>
                    <a:ext uri="{FF2B5EF4-FFF2-40B4-BE49-F238E27FC236}">
                      <a16:creationId xmlns:a16="http://schemas.microsoft.com/office/drawing/2014/main" id="{4937ACB2-4FE0-0DFA-8E66-88400B7FCD25}"/>
                    </a:ext>
                  </a:extLst>
                </p:cNvPr>
                <p:cNvPicPr/>
                <p:nvPr/>
              </p:nvPicPr>
              <p:blipFill>
                <a:blip r:embed="rId15"/>
                <a:stretch>
                  <a:fillRect/>
                </a:stretch>
              </p:blipFill>
              <p:spPr>
                <a:xfrm>
                  <a:off x="7852480" y="2965360"/>
                  <a:ext cx="129960" cy="134280"/>
                </a:xfrm>
                <a:prstGeom prst="rect">
                  <a:avLst/>
                </a:prstGeom>
              </p:spPr>
            </p:pic>
          </mc:Fallback>
        </mc:AlternateContent>
      </p:grpSp>
      <p:grpSp>
        <p:nvGrpSpPr>
          <p:cNvPr id="29" name="Group 28">
            <a:extLst>
              <a:ext uri="{FF2B5EF4-FFF2-40B4-BE49-F238E27FC236}">
                <a16:creationId xmlns:a16="http://schemas.microsoft.com/office/drawing/2014/main" id="{BEA45992-0EA9-83E0-14E0-4CCD2A042F23}"/>
              </a:ext>
            </a:extLst>
          </p:cNvPr>
          <p:cNvGrpSpPr/>
          <p:nvPr/>
        </p:nvGrpSpPr>
        <p:grpSpPr>
          <a:xfrm>
            <a:off x="7386280" y="3515440"/>
            <a:ext cx="570600" cy="120600"/>
            <a:chOff x="7386280" y="3515440"/>
            <a:chExt cx="570600" cy="120600"/>
          </a:xfrm>
        </p:grpSpPr>
        <mc:AlternateContent xmlns:mc="http://schemas.openxmlformats.org/markup-compatibility/2006">
          <mc:Choice xmlns:p14="http://schemas.microsoft.com/office/powerpoint/2010/main" Requires="p14">
            <p:contentPart p14:bwMode="auto" r:id="rId16">
              <p14:nvContentPartPr>
                <p14:cNvPr id="26" name="Ink 25">
                  <a:extLst>
                    <a:ext uri="{FF2B5EF4-FFF2-40B4-BE49-F238E27FC236}">
                      <a16:creationId xmlns:a16="http://schemas.microsoft.com/office/drawing/2014/main" id="{252BA5B0-33FA-E4FA-2C21-35C0AB59106F}"/>
                    </a:ext>
                  </a:extLst>
                </p14:cNvPr>
                <p14:cNvContentPartPr/>
                <p14:nvPr/>
              </p14:nvContentPartPr>
              <p14:xfrm>
                <a:off x="7386280" y="3578800"/>
                <a:ext cx="523080" cy="18000"/>
              </p14:xfrm>
            </p:contentPart>
          </mc:Choice>
          <mc:Fallback>
            <p:pic>
              <p:nvPicPr>
                <p:cNvPr id="26" name="Ink 25">
                  <a:extLst>
                    <a:ext uri="{FF2B5EF4-FFF2-40B4-BE49-F238E27FC236}">
                      <a16:creationId xmlns:a16="http://schemas.microsoft.com/office/drawing/2014/main" id="{252BA5B0-33FA-E4FA-2C21-35C0AB59106F}"/>
                    </a:ext>
                  </a:extLst>
                </p:cNvPr>
                <p:cNvPicPr/>
                <p:nvPr/>
              </p:nvPicPr>
              <p:blipFill>
                <a:blip r:embed="rId17"/>
                <a:stretch>
                  <a:fillRect/>
                </a:stretch>
              </p:blipFill>
              <p:spPr>
                <a:xfrm>
                  <a:off x="7380160" y="3572680"/>
                  <a:ext cx="535320" cy="3024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27" name="Ink 26">
                  <a:extLst>
                    <a:ext uri="{FF2B5EF4-FFF2-40B4-BE49-F238E27FC236}">
                      <a16:creationId xmlns:a16="http://schemas.microsoft.com/office/drawing/2014/main" id="{A0A36CFD-8D4D-256B-B917-706995C24611}"/>
                    </a:ext>
                  </a:extLst>
                </p14:cNvPr>
                <p14:cNvContentPartPr/>
                <p14:nvPr/>
              </p14:nvContentPartPr>
              <p14:xfrm>
                <a:off x="7807840" y="3515440"/>
                <a:ext cx="149040" cy="120600"/>
              </p14:xfrm>
            </p:contentPart>
          </mc:Choice>
          <mc:Fallback>
            <p:pic>
              <p:nvPicPr>
                <p:cNvPr id="27" name="Ink 26">
                  <a:extLst>
                    <a:ext uri="{FF2B5EF4-FFF2-40B4-BE49-F238E27FC236}">
                      <a16:creationId xmlns:a16="http://schemas.microsoft.com/office/drawing/2014/main" id="{A0A36CFD-8D4D-256B-B917-706995C24611}"/>
                    </a:ext>
                  </a:extLst>
                </p:cNvPr>
                <p:cNvPicPr/>
                <p:nvPr/>
              </p:nvPicPr>
              <p:blipFill>
                <a:blip r:embed="rId19"/>
                <a:stretch>
                  <a:fillRect/>
                </a:stretch>
              </p:blipFill>
              <p:spPr>
                <a:xfrm>
                  <a:off x="7801720" y="3509320"/>
                  <a:ext cx="161280" cy="132840"/>
                </a:xfrm>
                <a:prstGeom prst="rect">
                  <a:avLst/>
                </a:prstGeom>
              </p:spPr>
            </p:pic>
          </mc:Fallback>
        </mc:AlternateContent>
      </p:grpSp>
      <p:grpSp>
        <p:nvGrpSpPr>
          <p:cNvPr id="45" name="Group 44">
            <a:extLst>
              <a:ext uri="{FF2B5EF4-FFF2-40B4-BE49-F238E27FC236}">
                <a16:creationId xmlns:a16="http://schemas.microsoft.com/office/drawing/2014/main" id="{3C79D424-DC4D-A7B2-1FFB-FD11C411169B}"/>
              </a:ext>
            </a:extLst>
          </p:cNvPr>
          <p:cNvGrpSpPr/>
          <p:nvPr/>
        </p:nvGrpSpPr>
        <p:grpSpPr>
          <a:xfrm>
            <a:off x="4617520" y="3860680"/>
            <a:ext cx="3159000" cy="2388000"/>
            <a:chOff x="4617520" y="3860680"/>
            <a:chExt cx="3159000" cy="2388000"/>
          </a:xfrm>
        </p:grpSpPr>
        <mc:AlternateContent xmlns:mc="http://schemas.openxmlformats.org/markup-compatibility/2006">
          <mc:Choice xmlns:p14="http://schemas.microsoft.com/office/powerpoint/2010/main" Requires="p14">
            <p:contentPart p14:bwMode="auto" r:id="rId20">
              <p14:nvContentPartPr>
                <p14:cNvPr id="28" name="Ink 27">
                  <a:extLst>
                    <a:ext uri="{FF2B5EF4-FFF2-40B4-BE49-F238E27FC236}">
                      <a16:creationId xmlns:a16="http://schemas.microsoft.com/office/drawing/2014/main" id="{C329B5CE-2EA3-8DD9-3E21-E1A09CF1514F}"/>
                    </a:ext>
                  </a:extLst>
                </p14:cNvPr>
                <p14:cNvContentPartPr/>
                <p14:nvPr/>
              </p14:nvContentPartPr>
              <p14:xfrm>
                <a:off x="7218520" y="3957160"/>
                <a:ext cx="426240" cy="15840"/>
              </p14:xfrm>
            </p:contentPart>
          </mc:Choice>
          <mc:Fallback>
            <p:pic>
              <p:nvPicPr>
                <p:cNvPr id="28" name="Ink 27">
                  <a:extLst>
                    <a:ext uri="{FF2B5EF4-FFF2-40B4-BE49-F238E27FC236}">
                      <a16:creationId xmlns:a16="http://schemas.microsoft.com/office/drawing/2014/main" id="{C329B5CE-2EA3-8DD9-3E21-E1A09CF1514F}"/>
                    </a:ext>
                  </a:extLst>
                </p:cNvPr>
                <p:cNvPicPr/>
                <p:nvPr/>
              </p:nvPicPr>
              <p:blipFill>
                <a:blip r:embed="rId21"/>
                <a:stretch>
                  <a:fillRect/>
                </a:stretch>
              </p:blipFill>
              <p:spPr>
                <a:xfrm>
                  <a:off x="7212400" y="3951040"/>
                  <a:ext cx="438480" cy="2808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30" name="Ink 29">
                  <a:extLst>
                    <a:ext uri="{FF2B5EF4-FFF2-40B4-BE49-F238E27FC236}">
                      <a16:creationId xmlns:a16="http://schemas.microsoft.com/office/drawing/2014/main" id="{CD276BAC-0E13-2041-D578-FB4FE5885BB1}"/>
                    </a:ext>
                  </a:extLst>
                </p14:cNvPr>
                <p14:cNvContentPartPr/>
                <p14:nvPr/>
              </p14:nvContentPartPr>
              <p14:xfrm>
                <a:off x="7635040" y="3860680"/>
                <a:ext cx="141480" cy="172440"/>
              </p14:xfrm>
            </p:contentPart>
          </mc:Choice>
          <mc:Fallback>
            <p:pic>
              <p:nvPicPr>
                <p:cNvPr id="30" name="Ink 29">
                  <a:extLst>
                    <a:ext uri="{FF2B5EF4-FFF2-40B4-BE49-F238E27FC236}">
                      <a16:creationId xmlns:a16="http://schemas.microsoft.com/office/drawing/2014/main" id="{CD276BAC-0E13-2041-D578-FB4FE5885BB1}"/>
                    </a:ext>
                  </a:extLst>
                </p:cNvPr>
                <p:cNvPicPr/>
                <p:nvPr/>
              </p:nvPicPr>
              <p:blipFill>
                <a:blip r:embed="rId23"/>
                <a:stretch>
                  <a:fillRect/>
                </a:stretch>
              </p:blipFill>
              <p:spPr>
                <a:xfrm>
                  <a:off x="7628920" y="3854560"/>
                  <a:ext cx="153720" cy="18468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32" name="Ink 31">
                  <a:extLst>
                    <a:ext uri="{FF2B5EF4-FFF2-40B4-BE49-F238E27FC236}">
                      <a16:creationId xmlns:a16="http://schemas.microsoft.com/office/drawing/2014/main" id="{7CF51EDE-E393-1A26-2966-EA73BB45D6F2}"/>
                    </a:ext>
                  </a:extLst>
                </p14:cNvPr>
                <p14:cNvContentPartPr/>
                <p14:nvPr/>
              </p14:nvContentPartPr>
              <p14:xfrm>
                <a:off x="4668280" y="4068400"/>
                <a:ext cx="597960" cy="341280"/>
              </p14:xfrm>
            </p:contentPart>
          </mc:Choice>
          <mc:Fallback>
            <p:pic>
              <p:nvPicPr>
                <p:cNvPr id="32" name="Ink 31">
                  <a:extLst>
                    <a:ext uri="{FF2B5EF4-FFF2-40B4-BE49-F238E27FC236}">
                      <a16:creationId xmlns:a16="http://schemas.microsoft.com/office/drawing/2014/main" id="{7CF51EDE-E393-1A26-2966-EA73BB45D6F2}"/>
                    </a:ext>
                  </a:extLst>
                </p:cNvPr>
                <p:cNvPicPr/>
                <p:nvPr/>
              </p:nvPicPr>
              <p:blipFill>
                <a:blip r:embed="rId25"/>
                <a:stretch>
                  <a:fillRect/>
                </a:stretch>
              </p:blipFill>
              <p:spPr>
                <a:xfrm>
                  <a:off x="4662160" y="4062280"/>
                  <a:ext cx="610200" cy="35352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33" name="Ink 32">
                  <a:extLst>
                    <a:ext uri="{FF2B5EF4-FFF2-40B4-BE49-F238E27FC236}">
                      <a16:creationId xmlns:a16="http://schemas.microsoft.com/office/drawing/2014/main" id="{9F9651B1-35F8-B211-CC8E-6B259686620E}"/>
                    </a:ext>
                  </a:extLst>
                </p14:cNvPr>
                <p14:cNvContentPartPr/>
                <p14:nvPr/>
              </p14:nvContentPartPr>
              <p14:xfrm>
                <a:off x="4617520" y="4232560"/>
                <a:ext cx="948240" cy="446040"/>
              </p14:xfrm>
            </p:contentPart>
          </mc:Choice>
          <mc:Fallback>
            <p:pic>
              <p:nvPicPr>
                <p:cNvPr id="33" name="Ink 32">
                  <a:extLst>
                    <a:ext uri="{FF2B5EF4-FFF2-40B4-BE49-F238E27FC236}">
                      <a16:creationId xmlns:a16="http://schemas.microsoft.com/office/drawing/2014/main" id="{9F9651B1-35F8-B211-CC8E-6B259686620E}"/>
                    </a:ext>
                  </a:extLst>
                </p:cNvPr>
                <p:cNvPicPr/>
                <p:nvPr/>
              </p:nvPicPr>
              <p:blipFill>
                <a:blip r:embed="rId27"/>
                <a:stretch>
                  <a:fillRect/>
                </a:stretch>
              </p:blipFill>
              <p:spPr>
                <a:xfrm>
                  <a:off x="4611400" y="4226440"/>
                  <a:ext cx="960480" cy="45828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34" name="Ink 33">
                  <a:extLst>
                    <a:ext uri="{FF2B5EF4-FFF2-40B4-BE49-F238E27FC236}">
                      <a16:creationId xmlns:a16="http://schemas.microsoft.com/office/drawing/2014/main" id="{643253F7-37D0-54CE-25E1-40FFEC34F9AC}"/>
                    </a:ext>
                  </a:extLst>
                </p14:cNvPr>
                <p14:cNvContentPartPr/>
                <p14:nvPr/>
              </p14:nvContentPartPr>
              <p14:xfrm>
                <a:off x="4749640" y="4376200"/>
                <a:ext cx="1207080" cy="640800"/>
              </p14:xfrm>
            </p:contentPart>
          </mc:Choice>
          <mc:Fallback>
            <p:pic>
              <p:nvPicPr>
                <p:cNvPr id="34" name="Ink 33">
                  <a:extLst>
                    <a:ext uri="{FF2B5EF4-FFF2-40B4-BE49-F238E27FC236}">
                      <a16:creationId xmlns:a16="http://schemas.microsoft.com/office/drawing/2014/main" id="{643253F7-37D0-54CE-25E1-40FFEC34F9AC}"/>
                    </a:ext>
                  </a:extLst>
                </p:cNvPr>
                <p:cNvPicPr/>
                <p:nvPr/>
              </p:nvPicPr>
              <p:blipFill>
                <a:blip r:embed="rId29"/>
                <a:stretch>
                  <a:fillRect/>
                </a:stretch>
              </p:blipFill>
              <p:spPr>
                <a:xfrm>
                  <a:off x="4743520" y="4370080"/>
                  <a:ext cx="1219320" cy="65304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35" name="Ink 34">
                  <a:extLst>
                    <a:ext uri="{FF2B5EF4-FFF2-40B4-BE49-F238E27FC236}">
                      <a16:creationId xmlns:a16="http://schemas.microsoft.com/office/drawing/2014/main" id="{6CB7AB32-388E-D3DD-5E6F-A36AF14AE61C}"/>
                    </a:ext>
                  </a:extLst>
                </p14:cNvPr>
                <p14:cNvContentPartPr/>
                <p14:nvPr/>
              </p14:nvContentPartPr>
              <p14:xfrm>
                <a:off x="4825960" y="4265320"/>
                <a:ext cx="1655280" cy="1083960"/>
              </p14:xfrm>
            </p:contentPart>
          </mc:Choice>
          <mc:Fallback>
            <p:pic>
              <p:nvPicPr>
                <p:cNvPr id="35" name="Ink 34">
                  <a:extLst>
                    <a:ext uri="{FF2B5EF4-FFF2-40B4-BE49-F238E27FC236}">
                      <a16:creationId xmlns:a16="http://schemas.microsoft.com/office/drawing/2014/main" id="{6CB7AB32-388E-D3DD-5E6F-A36AF14AE61C}"/>
                    </a:ext>
                  </a:extLst>
                </p:cNvPr>
                <p:cNvPicPr/>
                <p:nvPr/>
              </p:nvPicPr>
              <p:blipFill>
                <a:blip r:embed="rId31"/>
                <a:stretch>
                  <a:fillRect/>
                </a:stretch>
              </p:blipFill>
              <p:spPr>
                <a:xfrm>
                  <a:off x="4819840" y="4259200"/>
                  <a:ext cx="1667520" cy="109620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36" name="Ink 35">
                  <a:extLst>
                    <a:ext uri="{FF2B5EF4-FFF2-40B4-BE49-F238E27FC236}">
                      <a16:creationId xmlns:a16="http://schemas.microsoft.com/office/drawing/2014/main" id="{B3576F34-2154-95EC-1151-89D443F62997}"/>
                    </a:ext>
                  </a:extLst>
                </p14:cNvPr>
                <p14:cNvContentPartPr/>
                <p14:nvPr/>
              </p14:nvContentPartPr>
              <p14:xfrm>
                <a:off x="5272720" y="4827640"/>
                <a:ext cx="1186200" cy="623520"/>
              </p14:xfrm>
            </p:contentPart>
          </mc:Choice>
          <mc:Fallback>
            <p:pic>
              <p:nvPicPr>
                <p:cNvPr id="36" name="Ink 35">
                  <a:extLst>
                    <a:ext uri="{FF2B5EF4-FFF2-40B4-BE49-F238E27FC236}">
                      <a16:creationId xmlns:a16="http://schemas.microsoft.com/office/drawing/2014/main" id="{B3576F34-2154-95EC-1151-89D443F62997}"/>
                    </a:ext>
                  </a:extLst>
                </p:cNvPr>
                <p:cNvPicPr/>
                <p:nvPr/>
              </p:nvPicPr>
              <p:blipFill>
                <a:blip r:embed="rId33"/>
                <a:stretch>
                  <a:fillRect/>
                </a:stretch>
              </p:blipFill>
              <p:spPr>
                <a:xfrm>
                  <a:off x="5266600" y="4821520"/>
                  <a:ext cx="1198440" cy="63576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37" name="Ink 36">
                  <a:extLst>
                    <a:ext uri="{FF2B5EF4-FFF2-40B4-BE49-F238E27FC236}">
                      <a16:creationId xmlns:a16="http://schemas.microsoft.com/office/drawing/2014/main" id="{663FA8DF-5256-6C84-2AB6-1AD1BF70BBBB}"/>
                    </a:ext>
                  </a:extLst>
                </p14:cNvPr>
                <p14:cNvContentPartPr/>
                <p14:nvPr/>
              </p14:nvContentPartPr>
              <p14:xfrm>
                <a:off x="5740360" y="4906480"/>
                <a:ext cx="1177200" cy="574920"/>
              </p14:xfrm>
            </p:contentPart>
          </mc:Choice>
          <mc:Fallback>
            <p:pic>
              <p:nvPicPr>
                <p:cNvPr id="37" name="Ink 36">
                  <a:extLst>
                    <a:ext uri="{FF2B5EF4-FFF2-40B4-BE49-F238E27FC236}">
                      <a16:creationId xmlns:a16="http://schemas.microsoft.com/office/drawing/2014/main" id="{663FA8DF-5256-6C84-2AB6-1AD1BF70BBBB}"/>
                    </a:ext>
                  </a:extLst>
                </p:cNvPr>
                <p:cNvPicPr/>
                <p:nvPr/>
              </p:nvPicPr>
              <p:blipFill>
                <a:blip r:embed="rId35"/>
                <a:stretch>
                  <a:fillRect/>
                </a:stretch>
              </p:blipFill>
              <p:spPr>
                <a:xfrm>
                  <a:off x="5734240" y="4900360"/>
                  <a:ext cx="1189440" cy="58716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38" name="Ink 37">
                  <a:extLst>
                    <a:ext uri="{FF2B5EF4-FFF2-40B4-BE49-F238E27FC236}">
                      <a16:creationId xmlns:a16="http://schemas.microsoft.com/office/drawing/2014/main" id="{D2F0AFC5-90A3-EA6A-5E91-E434F535DC91}"/>
                    </a:ext>
                  </a:extLst>
                </p14:cNvPr>
                <p14:cNvContentPartPr/>
                <p14:nvPr/>
              </p14:nvContentPartPr>
              <p14:xfrm>
                <a:off x="6456400" y="5155240"/>
                <a:ext cx="605880" cy="306000"/>
              </p14:xfrm>
            </p:contentPart>
          </mc:Choice>
          <mc:Fallback>
            <p:pic>
              <p:nvPicPr>
                <p:cNvPr id="38" name="Ink 37">
                  <a:extLst>
                    <a:ext uri="{FF2B5EF4-FFF2-40B4-BE49-F238E27FC236}">
                      <a16:creationId xmlns:a16="http://schemas.microsoft.com/office/drawing/2014/main" id="{D2F0AFC5-90A3-EA6A-5E91-E434F535DC91}"/>
                    </a:ext>
                  </a:extLst>
                </p:cNvPr>
                <p:cNvPicPr/>
                <p:nvPr/>
              </p:nvPicPr>
              <p:blipFill>
                <a:blip r:embed="rId37"/>
                <a:stretch>
                  <a:fillRect/>
                </a:stretch>
              </p:blipFill>
              <p:spPr>
                <a:xfrm>
                  <a:off x="6450280" y="5149120"/>
                  <a:ext cx="618120" cy="31824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40" name="Ink 39">
                  <a:extLst>
                    <a:ext uri="{FF2B5EF4-FFF2-40B4-BE49-F238E27FC236}">
                      <a16:creationId xmlns:a16="http://schemas.microsoft.com/office/drawing/2014/main" id="{8BECE97A-5924-3888-9125-69B4D726F09B}"/>
                    </a:ext>
                  </a:extLst>
                </p14:cNvPr>
                <p14:cNvContentPartPr/>
                <p14:nvPr/>
              </p14:nvContentPartPr>
              <p14:xfrm>
                <a:off x="4643080" y="5446600"/>
                <a:ext cx="707760" cy="456120"/>
              </p14:xfrm>
            </p:contentPart>
          </mc:Choice>
          <mc:Fallback>
            <p:pic>
              <p:nvPicPr>
                <p:cNvPr id="40" name="Ink 39">
                  <a:extLst>
                    <a:ext uri="{FF2B5EF4-FFF2-40B4-BE49-F238E27FC236}">
                      <a16:creationId xmlns:a16="http://schemas.microsoft.com/office/drawing/2014/main" id="{8BECE97A-5924-3888-9125-69B4D726F09B}"/>
                    </a:ext>
                  </a:extLst>
                </p:cNvPr>
                <p:cNvPicPr/>
                <p:nvPr/>
              </p:nvPicPr>
              <p:blipFill>
                <a:blip r:embed="rId39"/>
                <a:stretch>
                  <a:fillRect/>
                </a:stretch>
              </p:blipFill>
              <p:spPr>
                <a:xfrm>
                  <a:off x="4636960" y="5440480"/>
                  <a:ext cx="720000" cy="46836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41" name="Ink 40">
                  <a:extLst>
                    <a:ext uri="{FF2B5EF4-FFF2-40B4-BE49-F238E27FC236}">
                      <a16:creationId xmlns:a16="http://schemas.microsoft.com/office/drawing/2014/main" id="{EBE6E421-87B8-8F7C-3BBD-09AAA220CA8A}"/>
                    </a:ext>
                  </a:extLst>
                </p14:cNvPr>
                <p14:cNvContentPartPr/>
                <p14:nvPr/>
              </p14:nvContentPartPr>
              <p14:xfrm>
                <a:off x="5089840" y="5671960"/>
                <a:ext cx="693000" cy="439920"/>
              </p14:xfrm>
            </p:contentPart>
          </mc:Choice>
          <mc:Fallback>
            <p:pic>
              <p:nvPicPr>
                <p:cNvPr id="41" name="Ink 40">
                  <a:extLst>
                    <a:ext uri="{FF2B5EF4-FFF2-40B4-BE49-F238E27FC236}">
                      <a16:creationId xmlns:a16="http://schemas.microsoft.com/office/drawing/2014/main" id="{EBE6E421-87B8-8F7C-3BBD-09AAA220CA8A}"/>
                    </a:ext>
                  </a:extLst>
                </p:cNvPr>
                <p:cNvPicPr/>
                <p:nvPr/>
              </p:nvPicPr>
              <p:blipFill>
                <a:blip r:embed="rId41"/>
                <a:stretch>
                  <a:fillRect/>
                </a:stretch>
              </p:blipFill>
              <p:spPr>
                <a:xfrm>
                  <a:off x="5083720" y="5665840"/>
                  <a:ext cx="705240" cy="452160"/>
                </a:xfrm>
                <a:prstGeom prst="rect">
                  <a:avLst/>
                </a:prstGeom>
              </p:spPr>
            </p:pic>
          </mc:Fallback>
        </mc:AlternateContent>
        <mc:AlternateContent xmlns:mc="http://schemas.openxmlformats.org/markup-compatibility/2006">
          <mc:Choice xmlns:p14="http://schemas.microsoft.com/office/powerpoint/2010/main" Requires="p14">
            <p:contentPart p14:bwMode="auto" r:id="rId42">
              <p14:nvContentPartPr>
                <p14:cNvPr id="42" name="Ink 41">
                  <a:extLst>
                    <a:ext uri="{FF2B5EF4-FFF2-40B4-BE49-F238E27FC236}">
                      <a16:creationId xmlns:a16="http://schemas.microsoft.com/office/drawing/2014/main" id="{121762EA-1E38-FE2E-B34F-FE1A3A303819}"/>
                    </a:ext>
                  </a:extLst>
                </p14:cNvPr>
                <p14:cNvContentPartPr/>
                <p14:nvPr/>
              </p14:nvContentPartPr>
              <p14:xfrm>
                <a:off x="5481160" y="5750800"/>
                <a:ext cx="780480" cy="497880"/>
              </p14:xfrm>
            </p:contentPart>
          </mc:Choice>
          <mc:Fallback>
            <p:pic>
              <p:nvPicPr>
                <p:cNvPr id="42" name="Ink 41">
                  <a:extLst>
                    <a:ext uri="{FF2B5EF4-FFF2-40B4-BE49-F238E27FC236}">
                      <a16:creationId xmlns:a16="http://schemas.microsoft.com/office/drawing/2014/main" id="{121762EA-1E38-FE2E-B34F-FE1A3A303819}"/>
                    </a:ext>
                  </a:extLst>
                </p:cNvPr>
                <p:cNvPicPr/>
                <p:nvPr/>
              </p:nvPicPr>
              <p:blipFill>
                <a:blip r:embed="rId43"/>
                <a:stretch>
                  <a:fillRect/>
                </a:stretch>
              </p:blipFill>
              <p:spPr>
                <a:xfrm>
                  <a:off x="5475040" y="5744680"/>
                  <a:ext cx="792720" cy="51012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43" name="Ink 42">
                  <a:extLst>
                    <a:ext uri="{FF2B5EF4-FFF2-40B4-BE49-F238E27FC236}">
                      <a16:creationId xmlns:a16="http://schemas.microsoft.com/office/drawing/2014/main" id="{2BE5F73D-A975-9223-1569-8B08743FF3F0}"/>
                    </a:ext>
                  </a:extLst>
                </p14:cNvPr>
                <p14:cNvContentPartPr/>
                <p14:nvPr/>
              </p14:nvContentPartPr>
              <p14:xfrm>
                <a:off x="5999560" y="5777800"/>
                <a:ext cx="629640" cy="410040"/>
              </p14:xfrm>
            </p:contentPart>
          </mc:Choice>
          <mc:Fallback>
            <p:pic>
              <p:nvPicPr>
                <p:cNvPr id="43" name="Ink 42">
                  <a:extLst>
                    <a:ext uri="{FF2B5EF4-FFF2-40B4-BE49-F238E27FC236}">
                      <a16:creationId xmlns:a16="http://schemas.microsoft.com/office/drawing/2014/main" id="{2BE5F73D-A975-9223-1569-8B08743FF3F0}"/>
                    </a:ext>
                  </a:extLst>
                </p:cNvPr>
                <p:cNvPicPr/>
                <p:nvPr/>
              </p:nvPicPr>
              <p:blipFill>
                <a:blip r:embed="rId45"/>
                <a:stretch>
                  <a:fillRect/>
                </a:stretch>
              </p:blipFill>
              <p:spPr>
                <a:xfrm>
                  <a:off x="5993440" y="5771680"/>
                  <a:ext cx="641880" cy="42228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44" name="Ink 43">
                  <a:extLst>
                    <a:ext uri="{FF2B5EF4-FFF2-40B4-BE49-F238E27FC236}">
                      <a16:creationId xmlns:a16="http://schemas.microsoft.com/office/drawing/2014/main" id="{0978C19E-EE23-4B1D-3E56-A66226A461BF}"/>
                    </a:ext>
                  </a:extLst>
                </p14:cNvPr>
                <p14:cNvContentPartPr/>
                <p14:nvPr/>
              </p14:nvContentPartPr>
              <p14:xfrm>
                <a:off x="6425800" y="5968240"/>
                <a:ext cx="287640" cy="158040"/>
              </p14:xfrm>
            </p:contentPart>
          </mc:Choice>
          <mc:Fallback>
            <p:pic>
              <p:nvPicPr>
                <p:cNvPr id="44" name="Ink 43">
                  <a:extLst>
                    <a:ext uri="{FF2B5EF4-FFF2-40B4-BE49-F238E27FC236}">
                      <a16:creationId xmlns:a16="http://schemas.microsoft.com/office/drawing/2014/main" id="{0978C19E-EE23-4B1D-3E56-A66226A461BF}"/>
                    </a:ext>
                  </a:extLst>
                </p:cNvPr>
                <p:cNvPicPr/>
                <p:nvPr/>
              </p:nvPicPr>
              <p:blipFill>
                <a:blip r:embed="rId47"/>
                <a:stretch>
                  <a:fillRect/>
                </a:stretch>
              </p:blipFill>
              <p:spPr>
                <a:xfrm>
                  <a:off x="6419680" y="5962120"/>
                  <a:ext cx="299880" cy="170280"/>
                </a:xfrm>
                <a:prstGeom prst="rect">
                  <a:avLst/>
                </a:prstGeom>
              </p:spPr>
            </p:pic>
          </mc:Fallback>
        </mc:AlternateContent>
      </p:grpSp>
    </p:spTree>
    <p:extLst>
      <p:ext uri="{BB962C8B-B14F-4D97-AF65-F5344CB8AC3E}">
        <p14:creationId xmlns:p14="http://schemas.microsoft.com/office/powerpoint/2010/main" val="21816677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Learning </a:t>
            </a:r>
            <a:r>
              <a:rPr lang="en-US"/>
              <a:t>rate scheduling</a:t>
            </a:r>
            <a:endParaRPr lang="en-US" dirty="0"/>
          </a:p>
        </p:txBody>
      </p:sp>
      <p:pic>
        <p:nvPicPr>
          <p:cNvPr id="7" name="Picture 6">
            <a:extLst>
              <a:ext uri="{FF2B5EF4-FFF2-40B4-BE49-F238E27FC236}">
                <a16:creationId xmlns:a16="http://schemas.microsoft.com/office/drawing/2014/main" id="{9882887F-2359-65FC-4040-10214D45762A}"/>
              </a:ext>
            </a:extLst>
          </p:cNvPr>
          <p:cNvPicPr>
            <a:picLocks noChangeAspect="1"/>
          </p:cNvPicPr>
          <p:nvPr/>
        </p:nvPicPr>
        <p:blipFill>
          <a:blip r:embed="rId3"/>
          <a:stretch>
            <a:fillRect/>
          </a:stretch>
        </p:blipFill>
        <p:spPr>
          <a:xfrm>
            <a:off x="1050468" y="1830133"/>
            <a:ext cx="9605242" cy="3813847"/>
          </a:xfrm>
          <a:prstGeom prst="rect">
            <a:avLst/>
          </a:prstGeom>
        </p:spPr>
      </p:pic>
      <p:sp>
        <p:nvSpPr>
          <p:cNvPr id="8" name="Rectangle 7">
            <a:extLst>
              <a:ext uri="{FF2B5EF4-FFF2-40B4-BE49-F238E27FC236}">
                <a16:creationId xmlns:a16="http://schemas.microsoft.com/office/drawing/2014/main" id="{DF8F17C0-85F0-1605-7332-6617921D4CA2}"/>
              </a:ext>
            </a:extLst>
          </p:cNvPr>
          <p:cNvSpPr/>
          <p:nvPr/>
        </p:nvSpPr>
        <p:spPr>
          <a:xfrm>
            <a:off x="7643813" y="1830133"/>
            <a:ext cx="2133599" cy="31575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solidFill>
                  <a:schemeClr val="tx1"/>
                </a:solidFill>
              </a:rPr>
              <a:t>Constant </a:t>
            </a:r>
            <a:r>
              <a:rPr lang="fr-FR" sz="1600" dirty="0" err="1">
                <a:solidFill>
                  <a:schemeClr val="tx1"/>
                </a:solidFill>
              </a:rPr>
              <a:t>learning</a:t>
            </a:r>
            <a:r>
              <a:rPr lang="fr-FR" sz="1600" dirty="0">
                <a:solidFill>
                  <a:schemeClr val="tx1"/>
                </a:solidFill>
              </a:rPr>
              <a:t> rate</a:t>
            </a:r>
          </a:p>
        </p:txBody>
      </p:sp>
    </p:spTree>
    <p:extLst>
      <p:ext uri="{BB962C8B-B14F-4D97-AF65-F5344CB8AC3E}">
        <p14:creationId xmlns:p14="http://schemas.microsoft.com/office/powerpoint/2010/main" val="11107103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Learning </a:t>
            </a:r>
            <a:r>
              <a:rPr lang="en-US"/>
              <a:t>rate scheduling</a:t>
            </a:r>
            <a:endParaRPr lang="en-US" dirty="0"/>
          </a:p>
        </p:txBody>
      </p:sp>
      <p:pic>
        <p:nvPicPr>
          <p:cNvPr id="8" name="Picture 7" descr="A picture containing chart&#10;&#10;Description automatically generated">
            <a:extLst>
              <a:ext uri="{FF2B5EF4-FFF2-40B4-BE49-F238E27FC236}">
                <a16:creationId xmlns:a16="http://schemas.microsoft.com/office/drawing/2014/main" id="{A2B14077-2F89-7F17-624A-F8EFDDB57318}"/>
              </a:ext>
            </a:extLst>
          </p:cNvPr>
          <p:cNvPicPr>
            <a:picLocks noChangeAspect="1"/>
          </p:cNvPicPr>
          <p:nvPr/>
        </p:nvPicPr>
        <p:blipFill rotWithShape="1">
          <a:blip r:embed="rId3">
            <a:extLst>
              <a:ext uri="{28A0092B-C50C-407E-A947-70E740481C1C}">
                <a14:useLocalDpi xmlns:a14="http://schemas.microsoft.com/office/drawing/2010/main" val="0"/>
              </a:ext>
            </a:extLst>
          </a:blip>
          <a:srcRect b="9344"/>
          <a:stretch/>
        </p:blipFill>
        <p:spPr>
          <a:xfrm>
            <a:off x="1582883" y="725334"/>
            <a:ext cx="9026234" cy="5767541"/>
          </a:xfrm>
          <a:prstGeom prst="rect">
            <a:avLst/>
          </a:prstGeom>
        </p:spPr>
      </p:pic>
    </p:spTree>
    <p:extLst>
      <p:ext uri="{BB962C8B-B14F-4D97-AF65-F5344CB8AC3E}">
        <p14:creationId xmlns:p14="http://schemas.microsoft.com/office/powerpoint/2010/main" val="36716127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0 2.59259E-6 L -0.18034 0.4206 " pathEditMode="relative" rAng="0" ptsTypes="AA">
                                      <p:cBhvr>
                                        <p:cTn id="6" dur="2000" fill="hold"/>
                                        <p:tgtEl>
                                          <p:spTgt spid="8"/>
                                        </p:tgtEl>
                                        <p:attrNameLst>
                                          <p:attrName>ppt_x</p:attrName>
                                          <p:attrName>ppt_y</p:attrName>
                                        </p:attrNameLst>
                                      </p:cBhvr>
                                      <p:rCtr x="-9023" y="21019"/>
                                    </p:animMotion>
                                  </p:childTnLst>
                                </p:cTn>
                              </p:par>
                              <p:par>
                                <p:cTn id="7" presetID="6" presetClass="emph" presetSubtype="0" fill="hold" nodeType="withEffect">
                                  <p:stCondLst>
                                    <p:cond delay="500"/>
                                  </p:stCondLst>
                                  <p:childTnLst>
                                    <p:animScale>
                                      <p:cBhvr>
                                        <p:cTn id="8" dur="2000" fill="hold"/>
                                        <p:tgtEl>
                                          <p:spTgt spid="8"/>
                                        </p:tgtEl>
                                      </p:cBhvr>
                                      <p:by x="225000" y="22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Learning </a:t>
            </a:r>
            <a:r>
              <a:rPr lang="en-US"/>
              <a:t>rate scheduling</a:t>
            </a:r>
            <a:endParaRPr lang="en-US" dirty="0"/>
          </a:p>
        </p:txBody>
      </p:sp>
      <p:pic>
        <p:nvPicPr>
          <p:cNvPr id="3" name="Picture 2" descr="Chart&#10;&#10;Description automatically generated">
            <a:extLst>
              <a:ext uri="{FF2B5EF4-FFF2-40B4-BE49-F238E27FC236}">
                <a16:creationId xmlns:a16="http://schemas.microsoft.com/office/drawing/2014/main" id="{52821349-2C0C-3BFB-D215-1C1E2A06B2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9600" y="1896256"/>
            <a:ext cx="5059786" cy="3794838"/>
          </a:xfrm>
          <a:prstGeom prst="rect">
            <a:avLst/>
          </a:prstGeom>
        </p:spPr>
      </p:pic>
      <p:pic>
        <p:nvPicPr>
          <p:cNvPr id="7" name="Picture 6" descr="Chart, histogram&#10;&#10;Description automatically generated">
            <a:extLst>
              <a:ext uri="{FF2B5EF4-FFF2-40B4-BE49-F238E27FC236}">
                <a16:creationId xmlns:a16="http://schemas.microsoft.com/office/drawing/2014/main" id="{0A24AF38-6A89-6056-BA44-F58B52C5D5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94014" y="1896256"/>
            <a:ext cx="5059786" cy="3794838"/>
          </a:xfrm>
          <a:prstGeom prst="rect">
            <a:avLst/>
          </a:prstGeom>
        </p:spPr>
      </p:pic>
      <p:sp>
        <p:nvSpPr>
          <p:cNvPr id="8" name="TextBox 7">
            <a:extLst>
              <a:ext uri="{FF2B5EF4-FFF2-40B4-BE49-F238E27FC236}">
                <a16:creationId xmlns:a16="http://schemas.microsoft.com/office/drawing/2014/main" id="{008BB8C0-A096-9D52-B25F-7C697BA2DCB8}"/>
              </a:ext>
            </a:extLst>
          </p:cNvPr>
          <p:cNvSpPr txBox="1"/>
          <p:nvPr/>
        </p:nvSpPr>
        <p:spPr>
          <a:xfrm>
            <a:off x="1733119" y="5896662"/>
            <a:ext cx="3432747" cy="369332"/>
          </a:xfrm>
          <a:prstGeom prst="rect">
            <a:avLst/>
          </a:prstGeom>
          <a:noFill/>
        </p:spPr>
        <p:txBody>
          <a:bodyPr wrap="square" rtlCol="0">
            <a:spAutoFit/>
          </a:bodyPr>
          <a:lstStyle/>
          <a:p>
            <a:pPr algn="ctr"/>
            <a:r>
              <a:rPr lang="fr-FR" dirty="0" err="1"/>
              <a:t>Exponential</a:t>
            </a:r>
            <a:r>
              <a:rPr lang="fr-FR" dirty="0"/>
              <a:t> </a:t>
            </a:r>
            <a:r>
              <a:rPr lang="fr-FR" dirty="0" err="1"/>
              <a:t>decay</a:t>
            </a:r>
            <a:endParaRPr lang="fr-FR" dirty="0"/>
          </a:p>
        </p:txBody>
      </p:sp>
      <p:sp>
        <p:nvSpPr>
          <p:cNvPr id="9" name="TextBox 8">
            <a:extLst>
              <a:ext uri="{FF2B5EF4-FFF2-40B4-BE49-F238E27FC236}">
                <a16:creationId xmlns:a16="http://schemas.microsoft.com/office/drawing/2014/main" id="{1AD550FA-9C88-D297-5C14-CFEEEEB01F76}"/>
              </a:ext>
            </a:extLst>
          </p:cNvPr>
          <p:cNvSpPr txBox="1"/>
          <p:nvPr/>
        </p:nvSpPr>
        <p:spPr>
          <a:xfrm>
            <a:off x="7107533" y="5896662"/>
            <a:ext cx="3432747" cy="369332"/>
          </a:xfrm>
          <a:prstGeom prst="rect">
            <a:avLst/>
          </a:prstGeom>
          <a:noFill/>
        </p:spPr>
        <p:txBody>
          <a:bodyPr wrap="square" rtlCol="0">
            <a:spAutoFit/>
          </a:bodyPr>
          <a:lstStyle/>
          <a:p>
            <a:pPr algn="ctr"/>
            <a:r>
              <a:rPr lang="fr-FR" dirty="0" err="1"/>
              <a:t>Triangular</a:t>
            </a:r>
            <a:r>
              <a:rPr lang="fr-FR" dirty="0"/>
              <a:t> </a:t>
            </a:r>
            <a:r>
              <a:rPr lang="fr-FR" dirty="0" err="1"/>
              <a:t>exponential</a:t>
            </a:r>
            <a:r>
              <a:rPr lang="fr-FR" dirty="0"/>
              <a:t> </a:t>
            </a:r>
            <a:r>
              <a:rPr lang="fr-FR" dirty="0" err="1"/>
              <a:t>decay</a:t>
            </a:r>
            <a:endParaRPr lang="fr-FR" dirty="0"/>
          </a:p>
        </p:txBody>
      </p:sp>
    </p:spTree>
    <p:extLst>
      <p:ext uri="{BB962C8B-B14F-4D97-AF65-F5344CB8AC3E}">
        <p14:creationId xmlns:p14="http://schemas.microsoft.com/office/powerpoint/2010/main" val="38006246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a:xfrm>
            <a:off x="838200" y="2766218"/>
            <a:ext cx="10515600" cy="1325563"/>
          </a:xfrm>
        </p:spPr>
        <p:txBody>
          <a:bodyPr>
            <a:normAutofit/>
          </a:bodyPr>
          <a:lstStyle/>
          <a:p>
            <a:pPr algn="ctr"/>
            <a:r>
              <a:rPr lang="en-US" dirty="0"/>
              <a:t>We will explore different optimizers, different learning rates schedulers in TD no worries!</a:t>
            </a:r>
          </a:p>
        </p:txBody>
      </p:sp>
    </p:spTree>
    <p:extLst>
      <p:ext uri="{BB962C8B-B14F-4D97-AF65-F5344CB8AC3E}">
        <p14:creationId xmlns:p14="http://schemas.microsoft.com/office/powerpoint/2010/main" val="6619861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Gradient clipping</a:t>
            </a:r>
          </a:p>
        </p:txBody>
      </p:sp>
      <p:pic>
        <p:nvPicPr>
          <p:cNvPr id="6" name="Picture 5">
            <a:extLst>
              <a:ext uri="{FF2B5EF4-FFF2-40B4-BE49-F238E27FC236}">
                <a16:creationId xmlns:a16="http://schemas.microsoft.com/office/drawing/2014/main" id="{CDE4B2F0-F9B2-4AD7-222E-0E3C4392E1CF}"/>
              </a:ext>
            </a:extLst>
          </p:cNvPr>
          <p:cNvPicPr>
            <a:picLocks noChangeAspect="1"/>
          </p:cNvPicPr>
          <p:nvPr/>
        </p:nvPicPr>
        <p:blipFill>
          <a:blip r:embed="rId3"/>
          <a:stretch>
            <a:fillRect/>
          </a:stretch>
        </p:blipFill>
        <p:spPr>
          <a:xfrm>
            <a:off x="3816096" y="1690688"/>
            <a:ext cx="4559808" cy="2537174"/>
          </a:xfrm>
          <a:prstGeom prst="rect">
            <a:avLst/>
          </a:prstGeom>
        </p:spPr>
      </p:pic>
    </p:spTree>
    <p:extLst>
      <p:ext uri="{BB962C8B-B14F-4D97-AF65-F5344CB8AC3E}">
        <p14:creationId xmlns:p14="http://schemas.microsoft.com/office/powerpoint/2010/main" val="35562315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Gradient clipping</a:t>
            </a:r>
          </a:p>
        </p:txBody>
      </p:sp>
      <p:pic>
        <p:nvPicPr>
          <p:cNvPr id="9" name="Picture 8">
            <a:extLst>
              <a:ext uri="{FF2B5EF4-FFF2-40B4-BE49-F238E27FC236}">
                <a16:creationId xmlns:a16="http://schemas.microsoft.com/office/drawing/2014/main" id="{1C8C3BFC-5F01-650E-22B0-C6A1FE3E087C}"/>
              </a:ext>
            </a:extLst>
          </p:cNvPr>
          <p:cNvPicPr>
            <a:picLocks noChangeAspect="1"/>
          </p:cNvPicPr>
          <p:nvPr/>
        </p:nvPicPr>
        <p:blipFill>
          <a:blip r:embed="rId3"/>
          <a:stretch>
            <a:fillRect/>
          </a:stretch>
        </p:blipFill>
        <p:spPr>
          <a:xfrm>
            <a:off x="3216019" y="4557645"/>
            <a:ext cx="5759961" cy="1731565"/>
          </a:xfrm>
          <a:prstGeom prst="rect">
            <a:avLst/>
          </a:prstGeom>
        </p:spPr>
      </p:pic>
      <p:pic>
        <p:nvPicPr>
          <p:cNvPr id="3" name="Picture 2">
            <a:extLst>
              <a:ext uri="{FF2B5EF4-FFF2-40B4-BE49-F238E27FC236}">
                <a16:creationId xmlns:a16="http://schemas.microsoft.com/office/drawing/2014/main" id="{0A005ABC-CF69-25BC-A8D5-22F262EB8F15}"/>
              </a:ext>
            </a:extLst>
          </p:cNvPr>
          <p:cNvPicPr>
            <a:picLocks noChangeAspect="1"/>
          </p:cNvPicPr>
          <p:nvPr/>
        </p:nvPicPr>
        <p:blipFill>
          <a:blip r:embed="rId4"/>
          <a:stretch>
            <a:fillRect/>
          </a:stretch>
        </p:blipFill>
        <p:spPr>
          <a:xfrm>
            <a:off x="3903876" y="1919346"/>
            <a:ext cx="4384246" cy="2371914"/>
          </a:xfrm>
          <a:prstGeom prst="rect">
            <a:avLst/>
          </a:prstGeom>
        </p:spPr>
      </p:pic>
    </p:spTree>
    <p:extLst>
      <p:ext uri="{BB962C8B-B14F-4D97-AF65-F5344CB8AC3E}">
        <p14:creationId xmlns:p14="http://schemas.microsoft.com/office/powerpoint/2010/main" val="23808631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Batch normalization</a:t>
            </a:r>
          </a:p>
        </p:txBody>
      </p:sp>
      <p:pic>
        <p:nvPicPr>
          <p:cNvPr id="7" name="Picture 6">
            <a:extLst>
              <a:ext uri="{FF2B5EF4-FFF2-40B4-BE49-F238E27FC236}">
                <a16:creationId xmlns:a16="http://schemas.microsoft.com/office/drawing/2014/main" id="{BC5D9F31-37A7-5AA2-F345-7722CDE7BFC8}"/>
              </a:ext>
            </a:extLst>
          </p:cNvPr>
          <p:cNvPicPr>
            <a:picLocks noChangeAspect="1"/>
          </p:cNvPicPr>
          <p:nvPr/>
        </p:nvPicPr>
        <p:blipFill>
          <a:blip r:embed="rId3"/>
          <a:stretch>
            <a:fillRect/>
          </a:stretch>
        </p:blipFill>
        <p:spPr>
          <a:xfrm>
            <a:off x="6473222" y="504803"/>
            <a:ext cx="5424527" cy="5848393"/>
          </a:xfrm>
          <a:prstGeom prst="rect">
            <a:avLst/>
          </a:prstGeom>
        </p:spPr>
      </p:pic>
      <mc:AlternateContent xmlns:mc="http://schemas.openxmlformats.org/markup-compatibility/2006" xmlns:p14="http://schemas.microsoft.com/office/powerpoint/2010/main">
        <mc:Choice Requires="p14">
          <p:contentPart p14:bwMode="auto" r:id="rId4">
            <p14:nvContentPartPr>
              <p14:cNvPr id="13" name="Ink 12">
                <a:extLst>
                  <a:ext uri="{FF2B5EF4-FFF2-40B4-BE49-F238E27FC236}">
                    <a16:creationId xmlns:a16="http://schemas.microsoft.com/office/drawing/2014/main" id="{E8A48EAB-991E-8B06-B2D2-9B5013E0C07D}"/>
                  </a:ext>
                </a:extLst>
              </p14:cNvPr>
              <p14:cNvContentPartPr/>
              <p14:nvPr/>
            </p14:nvContentPartPr>
            <p14:xfrm>
              <a:off x="6636554" y="2837230"/>
              <a:ext cx="4629240" cy="360"/>
            </p14:xfrm>
          </p:contentPart>
        </mc:Choice>
        <mc:Fallback xmlns="">
          <p:pic>
            <p:nvPicPr>
              <p:cNvPr id="13" name="Ink 12">
                <a:extLst>
                  <a:ext uri="{FF2B5EF4-FFF2-40B4-BE49-F238E27FC236}">
                    <a16:creationId xmlns:a16="http://schemas.microsoft.com/office/drawing/2014/main" id="{E8A48EAB-991E-8B06-B2D2-9B5013E0C07D}"/>
                  </a:ext>
                </a:extLst>
              </p:cNvPr>
              <p:cNvPicPr/>
              <p:nvPr/>
            </p:nvPicPr>
            <p:blipFill>
              <a:blip r:embed="rId12"/>
              <a:stretch>
                <a:fillRect/>
              </a:stretch>
            </p:blipFill>
            <p:spPr>
              <a:xfrm>
                <a:off x="6600554" y="2801230"/>
                <a:ext cx="470088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5" name="Ink 14">
                <a:extLst>
                  <a:ext uri="{FF2B5EF4-FFF2-40B4-BE49-F238E27FC236}">
                    <a16:creationId xmlns:a16="http://schemas.microsoft.com/office/drawing/2014/main" id="{9DA5BBFB-74C3-60AF-271E-E1281C43FCE9}"/>
                  </a:ext>
                </a:extLst>
              </p14:cNvPr>
              <p14:cNvContentPartPr/>
              <p14:nvPr/>
            </p14:nvContentPartPr>
            <p14:xfrm>
              <a:off x="10117034" y="4135030"/>
              <a:ext cx="1296720" cy="360"/>
            </p14:xfrm>
          </p:contentPart>
        </mc:Choice>
        <mc:Fallback xmlns="">
          <p:pic>
            <p:nvPicPr>
              <p:cNvPr id="15" name="Ink 14">
                <a:extLst>
                  <a:ext uri="{FF2B5EF4-FFF2-40B4-BE49-F238E27FC236}">
                    <a16:creationId xmlns:a16="http://schemas.microsoft.com/office/drawing/2014/main" id="{9DA5BBFB-74C3-60AF-271E-E1281C43FCE9}"/>
                  </a:ext>
                </a:extLst>
              </p:cNvPr>
              <p:cNvPicPr/>
              <p:nvPr/>
            </p:nvPicPr>
            <p:blipFill>
              <a:blip r:embed="rId14"/>
              <a:stretch>
                <a:fillRect/>
              </a:stretch>
            </p:blipFill>
            <p:spPr>
              <a:xfrm>
                <a:off x="10081394" y="4099390"/>
                <a:ext cx="136836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6" name="Ink 15">
                <a:extLst>
                  <a:ext uri="{FF2B5EF4-FFF2-40B4-BE49-F238E27FC236}">
                    <a16:creationId xmlns:a16="http://schemas.microsoft.com/office/drawing/2014/main" id="{4F6EA85A-0EC2-3D5C-FB25-3080E2C7A6C0}"/>
                  </a:ext>
                </a:extLst>
              </p14:cNvPr>
              <p14:cNvContentPartPr/>
              <p14:nvPr/>
            </p14:nvContentPartPr>
            <p14:xfrm>
              <a:off x="6636554" y="4503670"/>
              <a:ext cx="4461840" cy="360"/>
            </p14:xfrm>
          </p:contentPart>
        </mc:Choice>
        <mc:Fallback xmlns="">
          <p:pic>
            <p:nvPicPr>
              <p:cNvPr id="16" name="Ink 15">
                <a:extLst>
                  <a:ext uri="{FF2B5EF4-FFF2-40B4-BE49-F238E27FC236}">
                    <a16:creationId xmlns:a16="http://schemas.microsoft.com/office/drawing/2014/main" id="{4F6EA85A-0EC2-3D5C-FB25-3080E2C7A6C0}"/>
                  </a:ext>
                </a:extLst>
              </p:cNvPr>
              <p:cNvPicPr/>
              <p:nvPr/>
            </p:nvPicPr>
            <p:blipFill>
              <a:blip r:embed="rId16"/>
              <a:stretch>
                <a:fillRect/>
              </a:stretch>
            </p:blipFill>
            <p:spPr>
              <a:xfrm>
                <a:off x="6600554" y="4468030"/>
                <a:ext cx="453348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7" name="Ink 16">
                <a:extLst>
                  <a:ext uri="{FF2B5EF4-FFF2-40B4-BE49-F238E27FC236}">
                    <a16:creationId xmlns:a16="http://schemas.microsoft.com/office/drawing/2014/main" id="{60B6F88E-CAA3-53BB-311D-0FD7C0366B58}"/>
                  </a:ext>
                </a:extLst>
              </p14:cNvPr>
              <p14:cNvContentPartPr/>
              <p14:nvPr/>
            </p14:nvContentPartPr>
            <p14:xfrm>
              <a:off x="6651674" y="4769350"/>
              <a:ext cx="4776480" cy="360"/>
            </p14:xfrm>
          </p:contentPart>
        </mc:Choice>
        <mc:Fallback xmlns="">
          <p:pic>
            <p:nvPicPr>
              <p:cNvPr id="17" name="Ink 16">
                <a:extLst>
                  <a:ext uri="{FF2B5EF4-FFF2-40B4-BE49-F238E27FC236}">
                    <a16:creationId xmlns:a16="http://schemas.microsoft.com/office/drawing/2014/main" id="{60B6F88E-CAA3-53BB-311D-0FD7C0366B58}"/>
                  </a:ext>
                </a:extLst>
              </p:cNvPr>
              <p:cNvPicPr/>
              <p:nvPr/>
            </p:nvPicPr>
            <p:blipFill>
              <a:blip r:embed="rId18"/>
              <a:stretch>
                <a:fillRect/>
              </a:stretch>
            </p:blipFill>
            <p:spPr>
              <a:xfrm>
                <a:off x="6615674" y="4733350"/>
                <a:ext cx="484812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8" name="Ink 17">
                <a:extLst>
                  <a:ext uri="{FF2B5EF4-FFF2-40B4-BE49-F238E27FC236}">
                    <a16:creationId xmlns:a16="http://schemas.microsoft.com/office/drawing/2014/main" id="{5C3DA580-FDAC-1961-6BBB-4EDA38157996}"/>
                  </a:ext>
                </a:extLst>
              </p14:cNvPr>
              <p14:cNvContentPartPr/>
              <p14:nvPr/>
            </p14:nvContentPartPr>
            <p14:xfrm>
              <a:off x="6577514" y="5137990"/>
              <a:ext cx="4240080" cy="360"/>
            </p14:xfrm>
          </p:contentPart>
        </mc:Choice>
        <mc:Fallback xmlns="">
          <p:pic>
            <p:nvPicPr>
              <p:cNvPr id="18" name="Ink 17">
                <a:extLst>
                  <a:ext uri="{FF2B5EF4-FFF2-40B4-BE49-F238E27FC236}">
                    <a16:creationId xmlns:a16="http://schemas.microsoft.com/office/drawing/2014/main" id="{5C3DA580-FDAC-1961-6BBB-4EDA38157996}"/>
                  </a:ext>
                </a:extLst>
              </p:cNvPr>
              <p:cNvPicPr/>
              <p:nvPr/>
            </p:nvPicPr>
            <p:blipFill>
              <a:blip r:embed="rId20"/>
              <a:stretch>
                <a:fillRect/>
              </a:stretch>
            </p:blipFill>
            <p:spPr>
              <a:xfrm>
                <a:off x="6541514" y="5101990"/>
                <a:ext cx="4311720" cy="72000"/>
              </a:xfrm>
              <a:prstGeom prst="rect">
                <a:avLst/>
              </a:prstGeom>
            </p:spPr>
          </p:pic>
        </mc:Fallback>
      </mc:AlternateContent>
    </p:spTree>
    <p:extLst>
      <p:ext uri="{BB962C8B-B14F-4D97-AF65-F5344CB8AC3E}">
        <p14:creationId xmlns:p14="http://schemas.microsoft.com/office/powerpoint/2010/main" val="29617967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Batch normalization</a:t>
            </a:r>
          </a:p>
        </p:txBody>
      </p:sp>
      <p:sp>
        <p:nvSpPr>
          <p:cNvPr id="2" name="Content Placeholder 5">
            <a:extLst>
              <a:ext uri="{FF2B5EF4-FFF2-40B4-BE49-F238E27FC236}">
                <a16:creationId xmlns:a16="http://schemas.microsoft.com/office/drawing/2014/main" id="{ADEF2D9A-0CE9-1441-758D-6B0AF7D9048C}"/>
              </a:ext>
            </a:extLst>
          </p:cNvPr>
          <p:cNvSpPr>
            <a:spLocks noGrp="1"/>
          </p:cNvSpPr>
          <p:nvPr>
            <p:ph idx="1"/>
          </p:nvPr>
        </p:nvSpPr>
        <p:spPr>
          <a:xfrm>
            <a:off x="838200" y="1825625"/>
            <a:ext cx="10515600" cy="4936510"/>
          </a:xfrm>
        </p:spPr>
        <p:txBody>
          <a:bodyPr>
            <a:normAutofit/>
          </a:bodyPr>
          <a:lstStyle/>
          <a:p>
            <a:pPr algn="just"/>
            <a:r>
              <a:rPr lang="en-US" dirty="0"/>
              <a:t>Change the input data of a neural network so that the mean is zero and the standard deviation is one</a:t>
            </a:r>
          </a:p>
          <a:p>
            <a:pPr algn="just"/>
            <a:r>
              <a:rPr lang="en-US" dirty="0"/>
              <a:t>Normalization after each layer (i.e., at the entrance to each new layer) also allows for better learning.</a:t>
            </a:r>
          </a:p>
          <a:p>
            <a:pPr algn="just"/>
            <a:endParaRPr lang="en-US" dirty="0"/>
          </a:p>
          <a:p>
            <a:pPr algn="just"/>
            <a:r>
              <a:rPr lang="en-US" dirty="0"/>
              <a:t>Why is it called "Batch" Normalization?</a:t>
            </a:r>
          </a:p>
          <a:p>
            <a:pPr marL="0" indent="0" algn="just">
              <a:buNone/>
            </a:pPr>
            <a:r>
              <a:rPr lang="en-US" dirty="0"/>
              <a:t>-&gt; The normalization we are currently talking about is not carried out on the entire dataset.</a:t>
            </a:r>
          </a:p>
          <a:p>
            <a:pPr algn="just"/>
            <a:endParaRPr lang="en-US" dirty="0"/>
          </a:p>
        </p:txBody>
      </p:sp>
    </p:spTree>
    <p:extLst>
      <p:ext uri="{BB962C8B-B14F-4D97-AF65-F5344CB8AC3E}">
        <p14:creationId xmlns:p14="http://schemas.microsoft.com/office/powerpoint/2010/main" val="8705673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Dropout</a:t>
            </a:r>
          </a:p>
        </p:txBody>
      </p:sp>
      <p:pic>
        <p:nvPicPr>
          <p:cNvPr id="1026" name="Picture 2">
            <a:extLst>
              <a:ext uri="{FF2B5EF4-FFF2-40B4-BE49-F238E27FC236}">
                <a16:creationId xmlns:a16="http://schemas.microsoft.com/office/drawing/2014/main" id="{972B384D-2E3D-5825-FF95-3318E0ADDF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83245" y="1075647"/>
            <a:ext cx="4225509" cy="470670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A75F4462-FBFD-080E-18E7-3CA48B001E06}"/>
              </a:ext>
            </a:extLst>
          </p:cNvPr>
          <p:cNvSpPr txBox="1"/>
          <p:nvPr/>
        </p:nvSpPr>
        <p:spPr>
          <a:xfrm>
            <a:off x="407424" y="5864877"/>
            <a:ext cx="11118440" cy="646331"/>
          </a:xfrm>
          <a:prstGeom prst="rect">
            <a:avLst/>
          </a:prstGeom>
          <a:noFill/>
        </p:spPr>
        <p:txBody>
          <a:bodyPr wrap="square">
            <a:spAutoFit/>
          </a:bodyPr>
          <a:lstStyle/>
          <a:p>
            <a:r>
              <a:rPr lang="en-US" b="0" i="0" dirty="0">
                <a:solidFill>
                  <a:srgbClr val="202124"/>
                </a:solidFill>
                <a:effectLst/>
                <a:latin typeface="arial" panose="020B0604020202020204" pitchFamily="34" charset="0"/>
              </a:rPr>
              <a:t>Regularization technique for neural network models proposed by Srivastava et al. in their 2014 paper “Dropout: A Simple Way </a:t>
            </a:r>
            <a:r>
              <a:rPr lang="en-US" b="1" i="0" dirty="0">
                <a:solidFill>
                  <a:srgbClr val="202124"/>
                </a:solidFill>
                <a:effectLst/>
                <a:latin typeface="arial" panose="020B0604020202020204" pitchFamily="34" charset="0"/>
              </a:rPr>
              <a:t>to Prevent Neural Networks from Overfitting</a:t>
            </a:r>
            <a:r>
              <a:rPr lang="en-US" b="0" i="0" dirty="0">
                <a:solidFill>
                  <a:srgbClr val="202124"/>
                </a:solidFill>
                <a:effectLst/>
                <a:latin typeface="arial" panose="020B0604020202020204" pitchFamily="34" charset="0"/>
              </a:rPr>
              <a:t>”</a:t>
            </a:r>
            <a:endParaRPr lang="fr-FR" dirty="0"/>
          </a:p>
        </p:txBody>
      </p:sp>
    </p:spTree>
    <p:extLst>
      <p:ext uri="{BB962C8B-B14F-4D97-AF65-F5344CB8AC3E}">
        <p14:creationId xmlns:p14="http://schemas.microsoft.com/office/powerpoint/2010/main" val="18713269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Losses</a:t>
            </a:r>
          </a:p>
        </p:txBody>
      </p:sp>
      <p:pic>
        <p:nvPicPr>
          <p:cNvPr id="2" name="Picture 2" descr="equation ">
            <a:extLst>
              <a:ext uri="{FF2B5EF4-FFF2-40B4-BE49-F238E27FC236}">
                <a16:creationId xmlns:a16="http://schemas.microsoft.com/office/drawing/2014/main" id="{D68EB52A-CEDB-A34D-1BD3-9521160205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81550" y="1690688"/>
            <a:ext cx="2628900" cy="3810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820A7B5-540A-E866-E1F3-453C80A5D422}"/>
              </a:ext>
            </a:extLst>
          </p:cNvPr>
          <p:cNvSpPr txBox="1"/>
          <p:nvPr/>
        </p:nvSpPr>
        <p:spPr>
          <a:xfrm>
            <a:off x="5229225" y="2092762"/>
            <a:ext cx="1733550" cy="369332"/>
          </a:xfrm>
          <a:prstGeom prst="rect">
            <a:avLst/>
          </a:prstGeom>
          <a:noFill/>
        </p:spPr>
        <p:txBody>
          <a:bodyPr wrap="square">
            <a:spAutoFit/>
          </a:bodyPr>
          <a:lstStyle/>
          <a:p>
            <a:r>
              <a:rPr lang="fr-FR" dirty="0">
                <a:solidFill>
                  <a:schemeClr val="bg1"/>
                </a:solidFill>
                <a:highlight>
                  <a:srgbClr val="000000"/>
                </a:highlight>
              </a:rPr>
              <a:t>torch.nn.L1Loss</a:t>
            </a:r>
          </a:p>
        </p:txBody>
      </p:sp>
      <p:pic>
        <p:nvPicPr>
          <p:cNvPr id="1029" name="Picture 5" descr="equation">
            <a:extLst>
              <a:ext uri="{FF2B5EF4-FFF2-40B4-BE49-F238E27FC236}">
                <a16:creationId xmlns:a16="http://schemas.microsoft.com/office/drawing/2014/main" id="{F44832C7-4007-01E9-3556-01CF36003AE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810125" y="3025140"/>
            <a:ext cx="2571750" cy="4572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4BE71FDB-4B68-BE54-C264-9F201199579E}"/>
              </a:ext>
            </a:extLst>
          </p:cNvPr>
          <p:cNvSpPr txBox="1"/>
          <p:nvPr/>
        </p:nvSpPr>
        <p:spPr>
          <a:xfrm>
            <a:off x="3048000" y="3482340"/>
            <a:ext cx="6096000" cy="369332"/>
          </a:xfrm>
          <a:prstGeom prst="rect">
            <a:avLst/>
          </a:prstGeom>
          <a:noFill/>
        </p:spPr>
        <p:txBody>
          <a:bodyPr wrap="square">
            <a:spAutoFit/>
          </a:bodyPr>
          <a:lstStyle/>
          <a:p>
            <a:pPr algn="ctr"/>
            <a:r>
              <a:rPr lang="fr-FR" dirty="0" err="1">
                <a:solidFill>
                  <a:schemeClr val="bg1"/>
                </a:solidFill>
                <a:highlight>
                  <a:srgbClr val="000000"/>
                </a:highlight>
              </a:rPr>
              <a:t>torch.nn.MSELoss</a:t>
            </a:r>
            <a:endParaRPr lang="fr-FR" dirty="0">
              <a:solidFill>
                <a:schemeClr val="bg1"/>
              </a:solidFill>
              <a:highlight>
                <a:srgbClr val="000000"/>
              </a:highlight>
            </a:endParaRPr>
          </a:p>
        </p:txBody>
      </p:sp>
      <p:sp>
        <p:nvSpPr>
          <p:cNvPr id="10" name="TextBox 9">
            <a:extLst>
              <a:ext uri="{FF2B5EF4-FFF2-40B4-BE49-F238E27FC236}">
                <a16:creationId xmlns:a16="http://schemas.microsoft.com/office/drawing/2014/main" id="{4BD0586E-1D11-D41F-03F6-4DA9B2D886BE}"/>
              </a:ext>
            </a:extLst>
          </p:cNvPr>
          <p:cNvSpPr txBox="1"/>
          <p:nvPr/>
        </p:nvSpPr>
        <p:spPr>
          <a:xfrm>
            <a:off x="2170021" y="4705647"/>
            <a:ext cx="7851958" cy="461665"/>
          </a:xfrm>
          <a:prstGeom prst="rect">
            <a:avLst/>
          </a:prstGeom>
          <a:noFill/>
        </p:spPr>
        <p:txBody>
          <a:bodyPr wrap="none" rtlCol="0">
            <a:spAutoFit/>
          </a:bodyPr>
          <a:lstStyle/>
          <a:p>
            <a:pPr algn="ctr"/>
            <a:r>
              <a:rPr lang="en-US" sz="2400" dirty="0"/>
              <a:t>In the case of categorical output, what should be considered?</a:t>
            </a:r>
            <a:endParaRPr lang="fr-FR" sz="2400" dirty="0"/>
          </a:p>
        </p:txBody>
      </p:sp>
    </p:spTree>
    <p:extLst>
      <p:ext uri="{BB962C8B-B14F-4D97-AF65-F5344CB8AC3E}">
        <p14:creationId xmlns:p14="http://schemas.microsoft.com/office/powerpoint/2010/main" val="2404773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1029"/>
                                        </p:tgtEl>
                                        <p:attrNameLst>
                                          <p:attrName>style.visibility</p:attrName>
                                        </p:attrNameLst>
                                      </p:cBhvr>
                                      <p:to>
                                        <p:strVal val="visible"/>
                                      </p:to>
                                    </p:set>
                                    <p:animEffect transition="in" filter="fade">
                                      <p:cBhvr>
                                        <p:cTn id="11" dur="500"/>
                                        <p:tgtEl>
                                          <p:spTgt spid="1029"/>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Losses</a:t>
            </a:r>
          </a:p>
        </p:txBody>
      </p:sp>
      <p:pic>
        <p:nvPicPr>
          <p:cNvPr id="4" name="Picture 3">
            <a:extLst>
              <a:ext uri="{FF2B5EF4-FFF2-40B4-BE49-F238E27FC236}">
                <a16:creationId xmlns:a16="http://schemas.microsoft.com/office/drawing/2014/main" id="{0E375790-08E1-063C-5C75-3082B3BB17C5}"/>
              </a:ext>
            </a:extLst>
          </p:cNvPr>
          <p:cNvPicPr>
            <a:picLocks noChangeAspect="1"/>
          </p:cNvPicPr>
          <p:nvPr/>
        </p:nvPicPr>
        <p:blipFill>
          <a:blip r:embed="rId3"/>
          <a:stretch>
            <a:fillRect/>
          </a:stretch>
        </p:blipFill>
        <p:spPr>
          <a:xfrm>
            <a:off x="2712309" y="1690688"/>
            <a:ext cx="6767382" cy="2712863"/>
          </a:xfrm>
          <a:prstGeom prst="rect">
            <a:avLst/>
          </a:prstGeom>
        </p:spPr>
      </p:pic>
      <p:sp>
        <p:nvSpPr>
          <p:cNvPr id="6" name="TextBox 5">
            <a:extLst>
              <a:ext uri="{FF2B5EF4-FFF2-40B4-BE49-F238E27FC236}">
                <a16:creationId xmlns:a16="http://schemas.microsoft.com/office/drawing/2014/main" id="{7536C4E8-E674-EE2E-F4C4-F6C8FCE59DF2}"/>
              </a:ext>
            </a:extLst>
          </p:cNvPr>
          <p:cNvSpPr txBox="1"/>
          <p:nvPr/>
        </p:nvSpPr>
        <p:spPr>
          <a:xfrm>
            <a:off x="2680866" y="4528785"/>
            <a:ext cx="6988965" cy="1200329"/>
          </a:xfrm>
          <a:prstGeom prst="rect">
            <a:avLst/>
          </a:prstGeom>
          <a:noFill/>
        </p:spPr>
        <p:txBody>
          <a:bodyPr wrap="none" rtlCol="0">
            <a:spAutoFit/>
          </a:bodyPr>
          <a:lstStyle/>
          <a:p>
            <a:r>
              <a:rPr lang="en-GB" sz="2400" dirty="0"/>
              <a:t>- </a:t>
            </a:r>
            <a:r>
              <a:rPr lang="en-GB" sz="2400" b="1" dirty="0"/>
              <a:t>i:</a:t>
            </a:r>
            <a:r>
              <a:rPr lang="en-GB" sz="2400" dirty="0"/>
              <a:t> input</a:t>
            </a:r>
          </a:p>
          <a:p>
            <a:r>
              <a:rPr lang="en-GB" sz="2400" dirty="0"/>
              <a:t>- </a:t>
            </a:r>
            <a:r>
              <a:rPr lang="en-GB" sz="2400" b="1" dirty="0"/>
              <a:t>P*:</a:t>
            </a:r>
            <a:r>
              <a:rPr lang="en-GB" sz="2400" dirty="0"/>
              <a:t> true probability (P*(</a:t>
            </a:r>
            <a:r>
              <a:rPr lang="en-GB" sz="2400" dirty="0" err="1"/>
              <a:t>i</a:t>
            </a:r>
            <a:r>
              <a:rPr lang="en-GB" sz="2400" dirty="0"/>
              <a:t>) is either going to be 0 or 1)</a:t>
            </a:r>
          </a:p>
          <a:p>
            <a:r>
              <a:rPr lang="en-GB" sz="2400" dirty="0"/>
              <a:t>- </a:t>
            </a:r>
            <a:r>
              <a:rPr lang="en-GB" sz="2400" b="1" dirty="0"/>
              <a:t>P:</a:t>
            </a:r>
            <a:r>
              <a:rPr lang="en-GB" sz="2400" dirty="0"/>
              <a:t> predicted probability</a:t>
            </a:r>
          </a:p>
        </p:txBody>
      </p:sp>
    </p:spTree>
    <p:extLst>
      <p:ext uri="{BB962C8B-B14F-4D97-AF65-F5344CB8AC3E}">
        <p14:creationId xmlns:p14="http://schemas.microsoft.com/office/powerpoint/2010/main" val="16727717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Losses</a:t>
            </a:r>
          </a:p>
        </p:txBody>
      </p:sp>
      <p:sp>
        <p:nvSpPr>
          <p:cNvPr id="7" name="TextBox 6">
            <a:extLst>
              <a:ext uri="{FF2B5EF4-FFF2-40B4-BE49-F238E27FC236}">
                <a16:creationId xmlns:a16="http://schemas.microsoft.com/office/drawing/2014/main" id="{B820A7B5-540A-E866-E1F3-453C80A5D422}"/>
              </a:ext>
            </a:extLst>
          </p:cNvPr>
          <p:cNvSpPr txBox="1"/>
          <p:nvPr/>
        </p:nvSpPr>
        <p:spPr>
          <a:xfrm>
            <a:off x="5201601" y="5936558"/>
            <a:ext cx="1788795" cy="369332"/>
          </a:xfrm>
          <a:prstGeom prst="rect">
            <a:avLst/>
          </a:prstGeom>
          <a:noFill/>
        </p:spPr>
        <p:txBody>
          <a:bodyPr wrap="square">
            <a:spAutoFit/>
          </a:bodyPr>
          <a:lstStyle/>
          <a:p>
            <a:r>
              <a:rPr lang="fr-FR" dirty="0" err="1">
                <a:solidFill>
                  <a:schemeClr val="bg1"/>
                </a:solidFill>
                <a:highlight>
                  <a:srgbClr val="000000"/>
                </a:highlight>
              </a:rPr>
              <a:t>torch.nn.NLLLoss</a:t>
            </a:r>
            <a:endParaRPr lang="fr-FR" dirty="0">
              <a:solidFill>
                <a:schemeClr val="bg1"/>
              </a:solidFill>
              <a:highlight>
                <a:srgbClr val="000000"/>
              </a:highlight>
            </a:endParaRPr>
          </a:p>
        </p:txBody>
      </p:sp>
      <p:pic>
        <p:nvPicPr>
          <p:cNvPr id="8" name="Picture 7">
            <a:extLst>
              <a:ext uri="{FF2B5EF4-FFF2-40B4-BE49-F238E27FC236}">
                <a16:creationId xmlns:a16="http://schemas.microsoft.com/office/drawing/2014/main" id="{07AE5D7C-10EA-D99B-20C6-B8507F587AE8}"/>
              </a:ext>
            </a:extLst>
          </p:cNvPr>
          <p:cNvPicPr>
            <a:picLocks noChangeAspect="1"/>
          </p:cNvPicPr>
          <p:nvPr/>
        </p:nvPicPr>
        <p:blipFill>
          <a:blip r:embed="rId3"/>
          <a:stretch>
            <a:fillRect/>
          </a:stretch>
        </p:blipFill>
        <p:spPr>
          <a:xfrm>
            <a:off x="5029145" y="1502182"/>
            <a:ext cx="2133710" cy="590580"/>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FCC075F3-CCA7-BE86-8213-73C16D81926C}"/>
                  </a:ext>
                </a:extLst>
              </p:cNvPr>
              <p:cNvSpPr txBox="1"/>
              <p:nvPr/>
            </p:nvSpPr>
            <p:spPr>
              <a:xfrm>
                <a:off x="2397281" y="2092762"/>
                <a:ext cx="8395696" cy="1527726"/>
              </a:xfrm>
              <a:prstGeom prst="rect">
                <a:avLst/>
              </a:prstGeom>
              <a:noFill/>
            </p:spPr>
            <p:txBody>
              <a:bodyPr wrap="none" rtlCol="0">
                <a:spAutoFit/>
              </a:bodyPr>
              <a:lstStyle/>
              <a:p>
                <a:r>
                  <a:rPr lang="fr-FR" b="0" dirty="0"/>
                  <a:t>- </a:t>
                </a:r>
                <a14:m>
                  <m:oMath xmlns:m="http://schemas.openxmlformats.org/officeDocument/2006/math">
                    <m:r>
                      <a:rPr lang="fr-FR" b="0" i="1" smtClean="0">
                        <a:latin typeface="Cambria Math" panose="02040503050406030204" pitchFamily="18" charset="0"/>
                      </a:rPr>
                      <m:t>𝑛</m:t>
                    </m:r>
                    <m:r>
                      <a:rPr lang="fr-FR" b="0" i="1" smtClean="0">
                        <a:latin typeface="Cambria Math" panose="02040503050406030204" pitchFamily="18" charset="0"/>
                      </a:rPr>
                      <m:t>∈</m:t>
                    </m:r>
                    <m:r>
                      <a:rPr lang="fr-FR" b="0" i="1" smtClean="0">
                        <a:latin typeface="Cambria Math" panose="02040503050406030204" pitchFamily="18" charset="0"/>
                        <a:ea typeface="Cambria Math" panose="02040503050406030204" pitchFamily="18" charset="0"/>
                      </a:rPr>
                      <m:t>ℕ</m:t>
                    </m:r>
                  </m:oMath>
                </a14:m>
                <a:r>
                  <a:rPr lang="fr-FR" dirty="0"/>
                  <a:t> the </a:t>
                </a:r>
                <a14:m>
                  <m:oMath xmlns:m="http://schemas.openxmlformats.org/officeDocument/2006/math">
                    <m:r>
                      <a:rPr lang="fr-FR" b="0" i="1" smtClean="0">
                        <a:latin typeface="Cambria Math" panose="02040503050406030204" pitchFamily="18" charset="0"/>
                      </a:rPr>
                      <m:t>𝑛</m:t>
                    </m:r>
                    <m:r>
                      <m:rPr>
                        <m:sty m:val="p"/>
                      </m:rPr>
                      <a:rPr lang="fr-FR" b="0" i="0" baseline="30000" smtClean="0">
                        <a:latin typeface="Cambria Math" panose="02040503050406030204" pitchFamily="18" charset="0"/>
                      </a:rPr>
                      <m:t>nth</m:t>
                    </m:r>
                  </m:oMath>
                </a14:m>
                <a:r>
                  <a:rPr lang="fr-FR" dirty="0"/>
                  <a:t> </a:t>
                </a:r>
                <a:r>
                  <a:rPr lang="fr-FR" dirty="0" err="1"/>
                  <a:t>element</a:t>
                </a:r>
                <a:r>
                  <a:rPr lang="fr-FR" dirty="0"/>
                  <a:t> of the </a:t>
                </a:r>
                <a:r>
                  <a:rPr lang="fr-FR" dirty="0" err="1"/>
                  <a:t>current</a:t>
                </a:r>
                <a:r>
                  <a:rPr lang="fr-FR" dirty="0"/>
                  <a:t> batch</a:t>
                </a:r>
              </a:p>
              <a:p>
                <a:r>
                  <a:rPr lang="fr-FR" b="0" dirty="0"/>
                  <a:t>-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𝑤</m:t>
                        </m:r>
                      </m:e>
                      <m:sub>
                        <m:sSub>
                          <m:sSubPr>
                            <m:ctrlPr>
                              <a:rPr lang="fr-FR" b="0" i="1" smtClean="0">
                                <a:latin typeface="Cambria Math" panose="02040503050406030204" pitchFamily="18" charset="0"/>
                              </a:rPr>
                            </m:ctrlPr>
                          </m:sSubPr>
                          <m:e>
                            <m:r>
                              <a:rPr lang="fr-FR" b="0" i="1" smtClean="0">
                                <a:latin typeface="Cambria Math" panose="02040503050406030204" pitchFamily="18" charset="0"/>
                              </a:rPr>
                              <m:t>𝑦</m:t>
                            </m:r>
                          </m:e>
                          <m:sub>
                            <m:r>
                              <a:rPr lang="fr-FR" b="0" i="1" smtClean="0">
                                <a:latin typeface="Cambria Math" panose="02040503050406030204" pitchFamily="18" charset="0"/>
                              </a:rPr>
                              <m:t>𝑛</m:t>
                            </m:r>
                          </m:sub>
                        </m:sSub>
                      </m:sub>
                    </m:sSub>
                  </m:oMath>
                </a14:m>
                <a:r>
                  <a:rPr lang="fr-FR" dirty="0"/>
                  <a:t> a </a:t>
                </a:r>
                <a:r>
                  <a:rPr lang="fr-FR" dirty="0" err="1"/>
                  <a:t>weight</a:t>
                </a:r>
                <a:r>
                  <a:rPr lang="fr-FR" dirty="0"/>
                  <a:t> in case </a:t>
                </a:r>
                <a:r>
                  <a:rPr lang="fr-FR" dirty="0" err="1"/>
                  <a:t>some</a:t>
                </a:r>
                <a:r>
                  <a:rPr lang="fr-FR" dirty="0"/>
                  <a:t> classes have more importance </a:t>
                </a:r>
                <a:r>
                  <a:rPr lang="fr-FR" dirty="0" err="1"/>
                  <a:t>than</a:t>
                </a:r>
                <a:r>
                  <a:rPr lang="fr-FR" dirty="0"/>
                  <a:t> </a:t>
                </a:r>
                <a:r>
                  <a:rPr lang="fr-FR" dirty="0" err="1"/>
                  <a:t>other</a:t>
                </a:r>
                <a:r>
                  <a:rPr lang="fr-FR" dirty="0"/>
                  <a:t>. P</a:t>
                </a:r>
                <a:r>
                  <a:rPr lang="en-US" dirty="0" err="1"/>
                  <a:t>articularly</a:t>
                </a:r>
                <a:r>
                  <a:rPr lang="en-US" dirty="0"/>
                  <a:t> </a:t>
                </a:r>
              </a:p>
              <a:p>
                <a:r>
                  <a:rPr lang="en-US" dirty="0"/>
                  <a:t>useful when you have an unbalanced training set (… later lectures ...)</a:t>
                </a:r>
              </a:p>
              <a:p>
                <a:r>
                  <a:rPr lang="fr-FR" b="0" dirty="0"/>
                  <a:t>-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𝑥</m:t>
                        </m:r>
                      </m:e>
                      <m:sub>
                        <m:r>
                          <a:rPr lang="fr-FR" b="0" i="1" smtClean="0">
                            <a:latin typeface="Cambria Math" panose="02040503050406030204" pitchFamily="18" charset="0"/>
                          </a:rPr>
                          <m:t>𝑛</m:t>
                        </m:r>
                        <m:r>
                          <a:rPr lang="fr-FR" b="0" i="1" smtClean="0">
                            <a:latin typeface="Cambria Math" panose="02040503050406030204" pitchFamily="18" charset="0"/>
                          </a:rPr>
                          <m:t>, </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𝑦</m:t>
                            </m:r>
                          </m:e>
                          <m:sub>
                            <m:r>
                              <a:rPr lang="fr-FR" b="0" i="1" smtClean="0">
                                <a:latin typeface="Cambria Math" panose="02040503050406030204" pitchFamily="18" charset="0"/>
                              </a:rPr>
                              <m:t>𝑛</m:t>
                            </m:r>
                          </m:sub>
                        </m:sSub>
                      </m:sub>
                    </m:sSub>
                  </m:oMath>
                </a14:m>
                <a:r>
                  <a:rPr lang="fr-FR" dirty="0"/>
                  <a:t> the log-</a:t>
                </a:r>
                <a:r>
                  <a:rPr lang="fr-FR" dirty="0" err="1"/>
                  <a:t>probabilities</a:t>
                </a:r>
                <a:r>
                  <a:rPr lang="fr-FR" dirty="0"/>
                  <a:t> of the </a:t>
                </a:r>
                <a:r>
                  <a:rPr lang="fr-FR" dirty="0" err="1"/>
                  <a:t>predicted</a:t>
                </a:r>
                <a:r>
                  <a:rPr lang="fr-FR" dirty="0"/>
                  <a:t> value of the class y. </a:t>
                </a:r>
                <a:r>
                  <a:rPr lang="fr-FR" b="1" dirty="0"/>
                  <a:t>No log </a:t>
                </a:r>
                <a:r>
                  <a:rPr lang="fr-FR" b="1" dirty="0" err="1"/>
                  <a:t>because</a:t>
                </a:r>
                <a:r>
                  <a:rPr lang="fr-FR" b="1" dirty="0"/>
                  <a:t> if </a:t>
                </a:r>
                <a:r>
                  <a:rPr lang="fr-FR" b="1" dirty="0" err="1"/>
                  <a:t>we</a:t>
                </a:r>
                <a:r>
                  <a:rPr lang="fr-FR" b="1" dirty="0"/>
                  <a:t> </a:t>
                </a:r>
              </a:p>
              <a:p>
                <a:r>
                  <a:rPr lang="fr-FR" b="1" dirty="0"/>
                  <a:t>use </a:t>
                </a:r>
                <a:r>
                  <a:rPr lang="fr-FR" b="1" dirty="0" err="1"/>
                  <a:t>NLLLoss</a:t>
                </a:r>
                <a:r>
                  <a:rPr lang="fr-FR" b="1" dirty="0"/>
                  <a:t>, </a:t>
                </a:r>
                <a:r>
                  <a:rPr lang="fr-FR" b="1" dirty="0" err="1"/>
                  <a:t>there</a:t>
                </a:r>
                <a:r>
                  <a:rPr lang="fr-FR" b="1" dirty="0"/>
                  <a:t> has to </a:t>
                </a:r>
                <a:r>
                  <a:rPr lang="fr-FR" b="1" dirty="0" err="1"/>
                  <a:t>be</a:t>
                </a:r>
                <a:r>
                  <a:rPr lang="fr-FR" b="1" dirty="0"/>
                  <a:t> </a:t>
                </a:r>
                <a:r>
                  <a:rPr lang="en-US" b="1" i="1" dirty="0" err="1">
                    <a:solidFill>
                      <a:srgbClr val="262626"/>
                    </a:solidFill>
                    <a:effectLst/>
                    <a:latin typeface="FreightSans"/>
                  </a:rPr>
                  <a:t>LogSoftmax</a:t>
                </a:r>
                <a:r>
                  <a:rPr lang="en-US" b="1" i="0" dirty="0">
                    <a:solidFill>
                      <a:srgbClr val="262626"/>
                    </a:solidFill>
                    <a:effectLst/>
                    <a:latin typeface="FreightSans"/>
                  </a:rPr>
                  <a:t> layer in the last layer of your network.</a:t>
                </a:r>
                <a:endParaRPr lang="fr-FR" b="1" dirty="0"/>
              </a:p>
            </p:txBody>
          </p:sp>
        </mc:Choice>
        <mc:Fallback xmlns="">
          <p:sp>
            <p:nvSpPr>
              <p:cNvPr id="11" name="TextBox 10">
                <a:extLst>
                  <a:ext uri="{FF2B5EF4-FFF2-40B4-BE49-F238E27FC236}">
                    <a16:creationId xmlns:a16="http://schemas.microsoft.com/office/drawing/2014/main" id="{FCC075F3-CCA7-BE86-8213-73C16D81926C}"/>
                  </a:ext>
                </a:extLst>
              </p:cNvPr>
              <p:cNvSpPr txBox="1">
                <a:spLocks noRot="1" noChangeAspect="1" noMove="1" noResize="1" noEditPoints="1" noAdjustHandles="1" noChangeArrowheads="1" noChangeShapeType="1" noTextEdit="1"/>
              </p:cNvSpPr>
              <p:nvPr/>
            </p:nvSpPr>
            <p:spPr>
              <a:xfrm>
                <a:off x="2397281" y="2092762"/>
                <a:ext cx="8395696" cy="1527726"/>
              </a:xfrm>
              <a:prstGeom prst="rect">
                <a:avLst/>
              </a:prstGeom>
              <a:blipFill>
                <a:blip r:embed="rId4"/>
                <a:stretch>
                  <a:fillRect l="-581" t="-1992" b="-5179"/>
                </a:stretch>
              </a:blipFill>
            </p:spPr>
            <p:txBody>
              <a:bodyPr/>
              <a:lstStyle/>
              <a:p>
                <a:r>
                  <a:rPr lang="fr-FR">
                    <a:noFill/>
                  </a:rPr>
                  <a:t> </a:t>
                </a:r>
              </a:p>
            </p:txBody>
          </p:sp>
        </mc:Fallback>
      </mc:AlternateContent>
      <p:pic>
        <p:nvPicPr>
          <p:cNvPr id="13" name="Picture 12">
            <a:extLst>
              <a:ext uri="{FF2B5EF4-FFF2-40B4-BE49-F238E27FC236}">
                <a16:creationId xmlns:a16="http://schemas.microsoft.com/office/drawing/2014/main" id="{8F04CC6F-6170-26EA-BD8C-E8D2A833C12E}"/>
              </a:ext>
            </a:extLst>
          </p:cNvPr>
          <p:cNvPicPr>
            <a:picLocks noChangeAspect="1"/>
          </p:cNvPicPr>
          <p:nvPr/>
        </p:nvPicPr>
        <p:blipFill>
          <a:blip r:embed="rId5"/>
          <a:stretch>
            <a:fillRect/>
          </a:stretch>
        </p:blipFill>
        <p:spPr>
          <a:xfrm>
            <a:off x="2266752" y="4441546"/>
            <a:ext cx="7658494" cy="1251014"/>
          </a:xfrm>
          <a:prstGeom prst="rect">
            <a:avLst/>
          </a:prstGeom>
        </p:spPr>
      </p:pic>
      <p:sp>
        <p:nvSpPr>
          <p:cNvPr id="16" name="TextBox 15">
            <a:extLst>
              <a:ext uri="{FF2B5EF4-FFF2-40B4-BE49-F238E27FC236}">
                <a16:creationId xmlns:a16="http://schemas.microsoft.com/office/drawing/2014/main" id="{2876B192-0B3E-1E7E-585C-9C406DEC9D3A}"/>
              </a:ext>
            </a:extLst>
          </p:cNvPr>
          <p:cNvSpPr txBox="1"/>
          <p:nvPr/>
        </p:nvSpPr>
        <p:spPr>
          <a:xfrm>
            <a:off x="2397281" y="4196722"/>
            <a:ext cx="6096000" cy="369332"/>
          </a:xfrm>
          <a:prstGeom prst="rect">
            <a:avLst/>
          </a:prstGeom>
          <a:noFill/>
        </p:spPr>
        <p:txBody>
          <a:bodyPr wrap="square">
            <a:spAutoFit/>
          </a:bodyPr>
          <a:lstStyle/>
          <a:p>
            <a:r>
              <a:rPr lang="fr-FR" dirty="0"/>
              <a:t>And </a:t>
            </a:r>
            <a:r>
              <a:rPr lang="fr-FR" dirty="0" err="1"/>
              <a:t>then</a:t>
            </a:r>
            <a:r>
              <a:rPr lang="fr-FR" dirty="0"/>
              <a:t> </a:t>
            </a:r>
            <a:r>
              <a:rPr lang="fr-FR" dirty="0" err="1"/>
              <a:t>we</a:t>
            </a:r>
            <a:r>
              <a:rPr lang="fr-FR" dirty="0"/>
              <a:t> </a:t>
            </a:r>
            <a:r>
              <a:rPr lang="fr-FR" dirty="0" err="1"/>
              <a:t>sum</a:t>
            </a:r>
            <a:r>
              <a:rPr lang="fr-FR" dirty="0"/>
              <a:t> / </a:t>
            </a:r>
            <a:r>
              <a:rPr lang="fr-FR" dirty="0" err="1"/>
              <a:t>mean</a:t>
            </a:r>
            <a:r>
              <a:rPr lang="fr-FR" dirty="0"/>
              <a:t> </a:t>
            </a:r>
            <a:r>
              <a:rPr lang="fr-FR" dirty="0" err="1"/>
              <a:t>across</a:t>
            </a:r>
            <a:r>
              <a:rPr lang="fr-FR" dirty="0"/>
              <a:t> the batch :</a:t>
            </a:r>
          </a:p>
        </p:txBody>
      </p:sp>
    </p:spTree>
    <p:extLst>
      <p:ext uri="{BB962C8B-B14F-4D97-AF65-F5344CB8AC3E}">
        <p14:creationId xmlns:p14="http://schemas.microsoft.com/office/powerpoint/2010/main" val="14489409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Losses</a:t>
            </a:r>
          </a:p>
        </p:txBody>
      </p:sp>
      <p:pic>
        <p:nvPicPr>
          <p:cNvPr id="10" name="Picture 9">
            <a:extLst>
              <a:ext uri="{FF2B5EF4-FFF2-40B4-BE49-F238E27FC236}">
                <a16:creationId xmlns:a16="http://schemas.microsoft.com/office/drawing/2014/main" id="{4D8B3B35-A43F-882F-9435-D08CAF68EC93}"/>
              </a:ext>
            </a:extLst>
          </p:cNvPr>
          <p:cNvPicPr>
            <a:picLocks noChangeAspect="1"/>
          </p:cNvPicPr>
          <p:nvPr/>
        </p:nvPicPr>
        <p:blipFill>
          <a:blip r:embed="rId3"/>
          <a:stretch>
            <a:fillRect/>
          </a:stretch>
        </p:blipFill>
        <p:spPr>
          <a:xfrm>
            <a:off x="1814286" y="1412219"/>
            <a:ext cx="8563428" cy="4599620"/>
          </a:xfrm>
          <a:prstGeom prst="rect">
            <a:avLst/>
          </a:prstGeom>
        </p:spPr>
      </p:pic>
      <p:grpSp>
        <p:nvGrpSpPr>
          <p:cNvPr id="17" name="Group 16">
            <a:extLst>
              <a:ext uri="{FF2B5EF4-FFF2-40B4-BE49-F238E27FC236}">
                <a16:creationId xmlns:a16="http://schemas.microsoft.com/office/drawing/2014/main" id="{A258755D-EC78-C535-0C77-D0C7A2FBB2CB}"/>
              </a:ext>
            </a:extLst>
          </p:cNvPr>
          <p:cNvGrpSpPr/>
          <p:nvPr/>
        </p:nvGrpSpPr>
        <p:grpSpPr>
          <a:xfrm>
            <a:off x="3729971" y="4934514"/>
            <a:ext cx="6753960" cy="1299960"/>
            <a:chOff x="3729971" y="4934514"/>
            <a:chExt cx="6753960" cy="1299960"/>
          </a:xfrm>
        </p:grpSpPr>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3D9EB2D4-6E99-84E3-6C56-1FD3D18004D0}"/>
                    </a:ext>
                  </a:extLst>
                </p14:cNvPr>
                <p14:cNvContentPartPr/>
                <p14:nvPr/>
              </p14:nvContentPartPr>
              <p14:xfrm>
                <a:off x="3773171" y="5108754"/>
                <a:ext cx="4952880" cy="175320"/>
              </p14:xfrm>
            </p:contentPart>
          </mc:Choice>
          <mc:Fallback xmlns="">
            <p:pic>
              <p:nvPicPr>
                <p:cNvPr id="12" name="Ink 11">
                  <a:extLst>
                    <a:ext uri="{FF2B5EF4-FFF2-40B4-BE49-F238E27FC236}">
                      <a16:creationId xmlns:a16="http://schemas.microsoft.com/office/drawing/2014/main" id="{3D9EB2D4-6E99-84E3-6C56-1FD3D18004D0}"/>
                    </a:ext>
                  </a:extLst>
                </p:cNvPr>
                <p:cNvPicPr/>
                <p:nvPr/>
              </p:nvPicPr>
              <p:blipFill>
                <a:blip r:embed="rId5"/>
                <a:stretch>
                  <a:fillRect/>
                </a:stretch>
              </p:blipFill>
              <p:spPr>
                <a:xfrm>
                  <a:off x="3737531" y="5072754"/>
                  <a:ext cx="5024520" cy="2469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4" name="Ink 13">
                  <a:extLst>
                    <a:ext uri="{FF2B5EF4-FFF2-40B4-BE49-F238E27FC236}">
                      <a16:creationId xmlns:a16="http://schemas.microsoft.com/office/drawing/2014/main" id="{14C82ECF-3047-2B1F-1480-5147411DF743}"/>
                    </a:ext>
                  </a:extLst>
                </p14:cNvPr>
                <p14:cNvContentPartPr/>
                <p14:nvPr/>
              </p14:nvContentPartPr>
              <p14:xfrm>
                <a:off x="3729971" y="5297394"/>
                <a:ext cx="6632640" cy="937080"/>
              </p14:xfrm>
            </p:contentPart>
          </mc:Choice>
          <mc:Fallback xmlns="">
            <p:pic>
              <p:nvPicPr>
                <p:cNvPr id="14" name="Ink 13">
                  <a:extLst>
                    <a:ext uri="{FF2B5EF4-FFF2-40B4-BE49-F238E27FC236}">
                      <a16:creationId xmlns:a16="http://schemas.microsoft.com/office/drawing/2014/main" id="{14C82ECF-3047-2B1F-1480-5147411DF743}"/>
                    </a:ext>
                  </a:extLst>
                </p:cNvPr>
                <p:cNvPicPr/>
                <p:nvPr/>
              </p:nvPicPr>
              <p:blipFill>
                <a:blip r:embed="rId7"/>
                <a:stretch>
                  <a:fillRect/>
                </a:stretch>
              </p:blipFill>
              <p:spPr>
                <a:xfrm>
                  <a:off x="3693971" y="5261754"/>
                  <a:ext cx="6704280" cy="10087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5" name="Ink 14">
                  <a:extLst>
                    <a:ext uri="{FF2B5EF4-FFF2-40B4-BE49-F238E27FC236}">
                      <a16:creationId xmlns:a16="http://schemas.microsoft.com/office/drawing/2014/main" id="{45E1D33A-F1EA-408F-F94A-5F2DC908DFF4}"/>
                    </a:ext>
                  </a:extLst>
                </p14:cNvPr>
                <p14:cNvContentPartPr/>
                <p14:nvPr/>
              </p14:nvContentPartPr>
              <p14:xfrm>
                <a:off x="9296291" y="4934514"/>
                <a:ext cx="1187640" cy="842760"/>
              </p14:xfrm>
            </p:contentPart>
          </mc:Choice>
          <mc:Fallback xmlns="">
            <p:pic>
              <p:nvPicPr>
                <p:cNvPr id="15" name="Ink 14">
                  <a:extLst>
                    <a:ext uri="{FF2B5EF4-FFF2-40B4-BE49-F238E27FC236}">
                      <a16:creationId xmlns:a16="http://schemas.microsoft.com/office/drawing/2014/main" id="{45E1D33A-F1EA-408F-F94A-5F2DC908DFF4}"/>
                    </a:ext>
                  </a:extLst>
                </p:cNvPr>
                <p:cNvPicPr/>
                <p:nvPr/>
              </p:nvPicPr>
              <p:blipFill>
                <a:blip r:embed="rId9"/>
                <a:stretch>
                  <a:fillRect/>
                </a:stretch>
              </p:blipFill>
              <p:spPr>
                <a:xfrm>
                  <a:off x="9260651" y="4898874"/>
                  <a:ext cx="1259280" cy="914400"/>
                </a:xfrm>
                <a:prstGeom prst="rect">
                  <a:avLst/>
                </a:prstGeom>
              </p:spPr>
            </p:pic>
          </mc:Fallback>
        </mc:AlternateContent>
      </p:grpSp>
    </p:spTree>
    <p:extLst>
      <p:ext uri="{BB962C8B-B14F-4D97-AF65-F5344CB8AC3E}">
        <p14:creationId xmlns:p14="http://schemas.microsoft.com/office/powerpoint/2010/main" val="9320300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 calcmode="lin" valueType="num">
                                      <p:cBhvr>
                                        <p:cTn id="7" dur="1000" fill="hold"/>
                                        <p:tgtEl>
                                          <p:spTgt spid="17"/>
                                        </p:tgtEl>
                                        <p:attrNameLst>
                                          <p:attrName>drawProgress</p:attrName>
                                        </p:attrNameLst>
                                      </p:cBhvr>
                                      <p:tavLst>
                                        <p:tav tm="0">
                                          <p:val>
                                            <p:fltVal val="0"/>
                                          </p:val>
                                        </p:tav>
                                        <p:tav tm="100000">
                                          <p:val>
                                            <p:fltVal val="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Losses</a:t>
            </a:r>
          </a:p>
        </p:txBody>
      </p:sp>
      <p:sp>
        <p:nvSpPr>
          <p:cNvPr id="7" name="TextBox 6">
            <a:extLst>
              <a:ext uri="{FF2B5EF4-FFF2-40B4-BE49-F238E27FC236}">
                <a16:creationId xmlns:a16="http://schemas.microsoft.com/office/drawing/2014/main" id="{B820A7B5-540A-E866-E1F3-453C80A5D422}"/>
              </a:ext>
            </a:extLst>
          </p:cNvPr>
          <p:cNvSpPr txBox="1"/>
          <p:nvPr/>
        </p:nvSpPr>
        <p:spPr>
          <a:xfrm>
            <a:off x="4860392" y="5937384"/>
            <a:ext cx="2991713" cy="369332"/>
          </a:xfrm>
          <a:prstGeom prst="rect">
            <a:avLst/>
          </a:prstGeom>
          <a:noFill/>
        </p:spPr>
        <p:txBody>
          <a:bodyPr wrap="square">
            <a:spAutoFit/>
          </a:bodyPr>
          <a:lstStyle/>
          <a:p>
            <a:pPr algn="ctr"/>
            <a:r>
              <a:rPr lang="fr-FR" dirty="0" err="1">
                <a:solidFill>
                  <a:schemeClr val="bg1"/>
                </a:solidFill>
                <a:highlight>
                  <a:srgbClr val="000000"/>
                </a:highlight>
              </a:rPr>
              <a:t>torch.nn.CrossEntropyLoss</a:t>
            </a:r>
            <a:endParaRPr lang="fr-FR" dirty="0">
              <a:solidFill>
                <a:schemeClr val="bg1"/>
              </a:solidFill>
              <a:highlight>
                <a:srgbClr val="000000"/>
              </a:highlight>
            </a:endParaRP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FCC075F3-CCA7-BE86-8213-73C16D81926C}"/>
                  </a:ext>
                </a:extLst>
              </p:cNvPr>
              <p:cNvSpPr txBox="1"/>
              <p:nvPr/>
            </p:nvSpPr>
            <p:spPr>
              <a:xfrm>
                <a:off x="2397281" y="2176055"/>
                <a:ext cx="7917937" cy="1250727"/>
              </a:xfrm>
              <a:prstGeom prst="rect">
                <a:avLst/>
              </a:prstGeom>
              <a:noFill/>
            </p:spPr>
            <p:txBody>
              <a:bodyPr wrap="none" rtlCol="0">
                <a:spAutoFit/>
              </a:bodyPr>
              <a:lstStyle/>
              <a:p>
                <a:r>
                  <a:rPr lang="fr-FR" b="0" dirty="0"/>
                  <a:t>- </a:t>
                </a:r>
                <a14:m>
                  <m:oMath xmlns:m="http://schemas.openxmlformats.org/officeDocument/2006/math">
                    <m:r>
                      <a:rPr lang="fr-FR" b="0" i="1" smtClean="0">
                        <a:latin typeface="Cambria Math" panose="02040503050406030204" pitchFamily="18" charset="0"/>
                      </a:rPr>
                      <m:t>𝑛</m:t>
                    </m:r>
                    <m:r>
                      <a:rPr lang="fr-FR" b="0" i="1" smtClean="0">
                        <a:latin typeface="Cambria Math" panose="02040503050406030204" pitchFamily="18" charset="0"/>
                      </a:rPr>
                      <m:t>∈</m:t>
                    </m:r>
                    <m:r>
                      <a:rPr lang="fr-FR" b="0" i="1" smtClean="0">
                        <a:latin typeface="Cambria Math" panose="02040503050406030204" pitchFamily="18" charset="0"/>
                        <a:ea typeface="Cambria Math" panose="02040503050406030204" pitchFamily="18" charset="0"/>
                      </a:rPr>
                      <m:t>ℕ</m:t>
                    </m:r>
                  </m:oMath>
                </a14:m>
                <a:r>
                  <a:rPr lang="fr-FR" dirty="0"/>
                  <a:t> the </a:t>
                </a:r>
                <a14:m>
                  <m:oMath xmlns:m="http://schemas.openxmlformats.org/officeDocument/2006/math">
                    <m:r>
                      <a:rPr lang="fr-FR" b="0" i="1" smtClean="0">
                        <a:latin typeface="Cambria Math" panose="02040503050406030204" pitchFamily="18" charset="0"/>
                      </a:rPr>
                      <m:t>𝑛</m:t>
                    </m:r>
                    <m:r>
                      <m:rPr>
                        <m:sty m:val="p"/>
                      </m:rPr>
                      <a:rPr lang="fr-FR" b="0" i="0" baseline="30000" smtClean="0">
                        <a:latin typeface="Cambria Math" panose="02040503050406030204" pitchFamily="18" charset="0"/>
                      </a:rPr>
                      <m:t>nth</m:t>
                    </m:r>
                  </m:oMath>
                </a14:m>
                <a:r>
                  <a:rPr lang="fr-FR" dirty="0"/>
                  <a:t> </a:t>
                </a:r>
                <a:r>
                  <a:rPr lang="fr-FR" dirty="0" err="1"/>
                  <a:t>element</a:t>
                </a:r>
                <a:r>
                  <a:rPr lang="fr-FR" dirty="0"/>
                  <a:t> of the </a:t>
                </a:r>
                <a:r>
                  <a:rPr lang="fr-FR" dirty="0" err="1"/>
                  <a:t>current</a:t>
                </a:r>
                <a:r>
                  <a:rPr lang="fr-FR" dirty="0"/>
                  <a:t> batch</a:t>
                </a:r>
              </a:p>
              <a:p>
                <a:r>
                  <a:rPr lang="fr-FR" b="0" dirty="0"/>
                  <a:t>-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𝑤</m:t>
                        </m:r>
                      </m:e>
                      <m:sub>
                        <m:sSub>
                          <m:sSubPr>
                            <m:ctrlPr>
                              <a:rPr lang="fr-FR" b="0" i="1" smtClean="0">
                                <a:latin typeface="Cambria Math" panose="02040503050406030204" pitchFamily="18" charset="0"/>
                              </a:rPr>
                            </m:ctrlPr>
                          </m:sSubPr>
                          <m:e>
                            <m:r>
                              <a:rPr lang="fr-FR" b="0" i="1" smtClean="0">
                                <a:latin typeface="Cambria Math" panose="02040503050406030204" pitchFamily="18" charset="0"/>
                              </a:rPr>
                              <m:t>𝑦</m:t>
                            </m:r>
                          </m:e>
                          <m:sub>
                            <m:r>
                              <a:rPr lang="fr-FR" b="0" i="1" smtClean="0">
                                <a:latin typeface="Cambria Math" panose="02040503050406030204" pitchFamily="18" charset="0"/>
                              </a:rPr>
                              <m:t>𝑛</m:t>
                            </m:r>
                          </m:sub>
                        </m:sSub>
                      </m:sub>
                    </m:sSub>
                  </m:oMath>
                </a14:m>
                <a:r>
                  <a:rPr lang="fr-FR" dirty="0"/>
                  <a:t> a </a:t>
                </a:r>
                <a:r>
                  <a:rPr lang="fr-FR" dirty="0" err="1"/>
                  <a:t>weight</a:t>
                </a:r>
                <a:r>
                  <a:rPr lang="fr-FR" dirty="0"/>
                  <a:t> in case </a:t>
                </a:r>
                <a:r>
                  <a:rPr lang="fr-FR" dirty="0" err="1"/>
                  <a:t>some</a:t>
                </a:r>
                <a:r>
                  <a:rPr lang="fr-FR" dirty="0"/>
                  <a:t> classes have more importance </a:t>
                </a:r>
                <a:r>
                  <a:rPr lang="fr-FR" dirty="0" err="1"/>
                  <a:t>than</a:t>
                </a:r>
                <a:r>
                  <a:rPr lang="fr-FR" dirty="0"/>
                  <a:t> </a:t>
                </a:r>
                <a:r>
                  <a:rPr lang="fr-FR" dirty="0" err="1"/>
                  <a:t>other</a:t>
                </a:r>
                <a:r>
                  <a:rPr lang="fr-FR" dirty="0"/>
                  <a:t>. P</a:t>
                </a:r>
                <a:r>
                  <a:rPr lang="en-US" dirty="0" err="1"/>
                  <a:t>articularly</a:t>
                </a:r>
                <a:r>
                  <a:rPr lang="en-US" dirty="0"/>
                  <a:t> </a:t>
                </a:r>
              </a:p>
              <a:p>
                <a:r>
                  <a:rPr lang="en-US" dirty="0"/>
                  <a:t>useful when you have an unbalanced training set (… later lectures ...)</a:t>
                </a:r>
              </a:p>
              <a:p>
                <a:r>
                  <a:rPr lang="fr-FR" b="0" dirty="0"/>
                  <a:t>- </a:t>
                </a:r>
                <a14:m>
                  <m:oMath xmlns:m="http://schemas.openxmlformats.org/officeDocument/2006/math">
                    <m:sSub>
                      <m:sSubPr>
                        <m:ctrlPr>
                          <a:rPr lang="fr-FR" b="0" i="1" smtClean="0">
                            <a:latin typeface="Cambria Math" panose="02040503050406030204" pitchFamily="18" charset="0"/>
                          </a:rPr>
                        </m:ctrlPr>
                      </m:sSubPr>
                      <m:e>
                        <m:r>
                          <a:rPr lang="fr-FR" b="0" i="1" smtClean="0">
                            <a:latin typeface="Cambria Math" panose="02040503050406030204" pitchFamily="18" charset="0"/>
                          </a:rPr>
                          <m:t>𝑥</m:t>
                        </m:r>
                      </m:e>
                      <m:sub>
                        <m:r>
                          <a:rPr lang="fr-FR" b="0" i="1" smtClean="0">
                            <a:latin typeface="Cambria Math" panose="02040503050406030204" pitchFamily="18" charset="0"/>
                          </a:rPr>
                          <m:t>𝑛</m:t>
                        </m:r>
                        <m:r>
                          <a:rPr lang="fr-FR" b="0" i="1" smtClean="0">
                            <a:latin typeface="Cambria Math" panose="02040503050406030204" pitchFamily="18" charset="0"/>
                          </a:rPr>
                          <m:t>, </m:t>
                        </m:r>
                        <m:sSub>
                          <m:sSubPr>
                            <m:ctrlPr>
                              <a:rPr lang="fr-FR" b="0" i="1" smtClean="0">
                                <a:latin typeface="Cambria Math" panose="02040503050406030204" pitchFamily="18" charset="0"/>
                              </a:rPr>
                            </m:ctrlPr>
                          </m:sSubPr>
                          <m:e>
                            <m:r>
                              <a:rPr lang="fr-FR" b="0" i="1" smtClean="0">
                                <a:latin typeface="Cambria Math" panose="02040503050406030204" pitchFamily="18" charset="0"/>
                              </a:rPr>
                              <m:t>𝑦</m:t>
                            </m:r>
                          </m:e>
                          <m:sub>
                            <m:r>
                              <a:rPr lang="fr-FR" b="0" i="1" smtClean="0">
                                <a:latin typeface="Cambria Math" panose="02040503050406030204" pitchFamily="18" charset="0"/>
                              </a:rPr>
                              <m:t>𝑛</m:t>
                            </m:r>
                          </m:sub>
                        </m:sSub>
                      </m:sub>
                    </m:sSub>
                  </m:oMath>
                </a14:m>
                <a:r>
                  <a:rPr lang="fr-FR" dirty="0"/>
                  <a:t> the log-</a:t>
                </a:r>
                <a:r>
                  <a:rPr lang="fr-FR" dirty="0" err="1"/>
                  <a:t>probabilities</a:t>
                </a:r>
                <a:r>
                  <a:rPr lang="fr-FR" dirty="0"/>
                  <a:t> of the </a:t>
                </a:r>
                <a:r>
                  <a:rPr lang="fr-FR" dirty="0" err="1"/>
                  <a:t>predicted</a:t>
                </a:r>
                <a:r>
                  <a:rPr lang="fr-FR" dirty="0"/>
                  <a:t> value of the class y.</a:t>
                </a:r>
                <a:endParaRPr lang="fr-FR" b="1" dirty="0"/>
              </a:p>
            </p:txBody>
          </p:sp>
        </mc:Choice>
        <mc:Fallback xmlns="">
          <p:sp>
            <p:nvSpPr>
              <p:cNvPr id="11" name="TextBox 10">
                <a:extLst>
                  <a:ext uri="{FF2B5EF4-FFF2-40B4-BE49-F238E27FC236}">
                    <a16:creationId xmlns:a16="http://schemas.microsoft.com/office/drawing/2014/main" id="{FCC075F3-CCA7-BE86-8213-73C16D81926C}"/>
                  </a:ext>
                </a:extLst>
              </p:cNvPr>
              <p:cNvSpPr txBox="1">
                <a:spLocks noRot="1" noChangeAspect="1" noMove="1" noResize="1" noEditPoints="1" noAdjustHandles="1" noChangeArrowheads="1" noChangeShapeType="1" noTextEdit="1"/>
              </p:cNvSpPr>
              <p:nvPr/>
            </p:nvSpPr>
            <p:spPr>
              <a:xfrm>
                <a:off x="2397281" y="2176055"/>
                <a:ext cx="7917937" cy="1250727"/>
              </a:xfrm>
              <a:prstGeom prst="rect">
                <a:avLst/>
              </a:prstGeom>
              <a:blipFill>
                <a:blip r:embed="rId3"/>
                <a:stretch>
                  <a:fillRect l="-616" t="-2927" b="-5366"/>
                </a:stretch>
              </a:blipFill>
            </p:spPr>
            <p:txBody>
              <a:bodyPr/>
              <a:lstStyle/>
              <a:p>
                <a:r>
                  <a:rPr lang="fr-FR">
                    <a:noFill/>
                  </a:rPr>
                  <a:t> </a:t>
                </a:r>
              </a:p>
            </p:txBody>
          </p:sp>
        </mc:Fallback>
      </mc:AlternateContent>
      <p:pic>
        <p:nvPicPr>
          <p:cNvPr id="13" name="Picture 12">
            <a:extLst>
              <a:ext uri="{FF2B5EF4-FFF2-40B4-BE49-F238E27FC236}">
                <a16:creationId xmlns:a16="http://schemas.microsoft.com/office/drawing/2014/main" id="{8F04CC6F-6170-26EA-BD8C-E8D2A833C12E}"/>
              </a:ext>
            </a:extLst>
          </p:cNvPr>
          <p:cNvPicPr>
            <a:picLocks noChangeAspect="1"/>
          </p:cNvPicPr>
          <p:nvPr/>
        </p:nvPicPr>
        <p:blipFill>
          <a:blip r:embed="rId4"/>
          <a:stretch>
            <a:fillRect/>
          </a:stretch>
        </p:blipFill>
        <p:spPr>
          <a:xfrm>
            <a:off x="2266752" y="4441546"/>
            <a:ext cx="7658494" cy="1251014"/>
          </a:xfrm>
          <a:prstGeom prst="rect">
            <a:avLst/>
          </a:prstGeom>
        </p:spPr>
      </p:pic>
      <p:sp>
        <p:nvSpPr>
          <p:cNvPr id="16" name="TextBox 15">
            <a:extLst>
              <a:ext uri="{FF2B5EF4-FFF2-40B4-BE49-F238E27FC236}">
                <a16:creationId xmlns:a16="http://schemas.microsoft.com/office/drawing/2014/main" id="{2876B192-0B3E-1E7E-585C-9C406DEC9D3A}"/>
              </a:ext>
            </a:extLst>
          </p:cNvPr>
          <p:cNvSpPr txBox="1"/>
          <p:nvPr/>
        </p:nvSpPr>
        <p:spPr>
          <a:xfrm>
            <a:off x="2397281" y="4196722"/>
            <a:ext cx="6096000" cy="369332"/>
          </a:xfrm>
          <a:prstGeom prst="rect">
            <a:avLst/>
          </a:prstGeom>
          <a:noFill/>
        </p:spPr>
        <p:txBody>
          <a:bodyPr wrap="square">
            <a:spAutoFit/>
          </a:bodyPr>
          <a:lstStyle/>
          <a:p>
            <a:r>
              <a:rPr lang="fr-FR" dirty="0"/>
              <a:t>And </a:t>
            </a:r>
            <a:r>
              <a:rPr lang="fr-FR" dirty="0" err="1"/>
              <a:t>then</a:t>
            </a:r>
            <a:r>
              <a:rPr lang="fr-FR" dirty="0"/>
              <a:t> </a:t>
            </a:r>
            <a:r>
              <a:rPr lang="fr-FR" dirty="0" err="1"/>
              <a:t>we</a:t>
            </a:r>
            <a:r>
              <a:rPr lang="fr-FR" dirty="0"/>
              <a:t> </a:t>
            </a:r>
            <a:r>
              <a:rPr lang="fr-FR" dirty="0" err="1"/>
              <a:t>sum</a:t>
            </a:r>
            <a:r>
              <a:rPr lang="fr-FR" dirty="0"/>
              <a:t> / </a:t>
            </a:r>
            <a:r>
              <a:rPr lang="fr-FR" dirty="0" err="1"/>
              <a:t>mean</a:t>
            </a:r>
            <a:r>
              <a:rPr lang="fr-FR" dirty="0"/>
              <a:t> </a:t>
            </a:r>
            <a:r>
              <a:rPr lang="fr-FR" dirty="0" err="1"/>
              <a:t>across</a:t>
            </a:r>
            <a:r>
              <a:rPr lang="fr-FR" dirty="0"/>
              <a:t> the batch :</a:t>
            </a:r>
          </a:p>
        </p:txBody>
      </p:sp>
      <p:pic>
        <p:nvPicPr>
          <p:cNvPr id="3" name="Picture 2">
            <a:extLst>
              <a:ext uri="{FF2B5EF4-FFF2-40B4-BE49-F238E27FC236}">
                <a16:creationId xmlns:a16="http://schemas.microsoft.com/office/drawing/2014/main" id="{091CC8AF-6BAA-E47D-FB9D-17827DE870DC}"/>
              </a:ext>
            </a:extLst>
          </p:cNvPr>
          <p:cNvPicPr>
            <a:picLocks noChangeAspect="1"/>
          </p:cNvPicPr>
          <p:nvPr/>
        </p:nvPicPr>
        <p:blipFill>
          <a:blip r:embed="rId5"/>
          <a:stretch>
            <a:fillRect/>
          </a:stretch>
        </p:blipFill>
        <p:spPr>
          <a:xfrm>
            <a:off x="4587795" y="1294863"/>
            <a:ext cx="3016405" cy="774740"/>
          </a:xfrm>
          <a:prstGeom prst="rect">
            <a:avLst/>
          </a:prstGeom>
        </p:spPr>
      </p:pic>
      <p:grpSp>
        <p:nvGrpSpPr>
          <p:cNvPr id="9" name="Group 8">
            <a:extLst>
              <a:ext uri="{FF2B5EF4-FFF2-40B4-BE49-F238E27FC236}">
                <a16:creationId xmlns:a16="http://schemas.microsoft.com/office/drawing/2014/main" id="{8791C780-B3E2-87E5-F773-14433222B314}"/>
              </a:ext>
            </a:extLst>
          </p:cNvPr>
          <p:cNvGrpSpPr/>
          <p:nvPr/>
        </p:nvGrpSpPr>
        <p:grpSpPr>
          <a:xfrm>
            <a:off x="5707811" y="709515"/>
            <a:ext cx="624600" cy="726480"/>
            <a:chOff x="5707811" y="709515"/>
            <a:chExt cx="624600" cy="726480"/>
          </a:xfrm>
        </p:grpSpPr>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54CD1CA0-E5B2-5660-7896-115B4679439E}"/>
                    </a:ext>
                  </a:extLst>
                </p14:cNvPr>
                <p14:cNvContentPartPr/>
                <p14:nvPr/>
              </p14:nvContentPartPr>
              <p14:xfrm>
                <a:off x="5850371" y="709515"/>
                <a:ext cx="482040" cy="705240"/>
              </p14:xfrm>
            </p:contentPart>
          </mc:Choice>
          <mc:Fallback xmlns="">
            <p:pic>
              <p:nvPicPr>
                <p:cNvPr id="4" name="Ink 3">
                  <a:extLst>
                    <a:ext uri="{FF2B5EF4-FFF2-40B4-BE49-F238E27FC236}">
                      <a16:creationId xmlns:a16="http://schemas.microsoft.com/office/drawing/2014/main" id="{54CD1CA0-E5B2-5660-7896-115B4679439E}"/>
                    </a:ext>
                  </a:extLst>
                </p:cNvPr>
                <p:cNvPicPr/>
                <p:nvPr/>
              </p:nvPicPr>
              <p:blipFill>
                <a:blip r:embed="rId7"/>
                <a:stretch>
                  <a:fillRect/>
                </a:stretch>
              </p:blipFill>
              <p:spPr>
                <a:xfrm>
                  <a:off x="5814731" y="673875"/>
                  <a:ext cx="553680" cy="7768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C54309C5-8C65-247A-1FCE-BDB123D92062}"/>
                    </a:ext>
                  </a:extLst>
                </p14:cNvPr>
                <p14:cNvContentPartPr/>
                <p14:nvPr/>
              </p14:nvContentPartPr>
              <p14:xfrm>
                <a:off x="5707811" y="1142595"/>
                <a:ext cx="367560" cy="293400"/>
              </p14:xfrm>
            </p:contentPart>
          </mc:Choice>
          <mc:Fallback xmlns="">
            <p:pic>
              <p:nvPicPr>
                <p:cNvPr id="6" name="Ink 5">
                  <a:extLst>
                    <a:ext uri="{FF2B5EF4-FFF2-40B4-BE49-F238E27FC236}">
                      <a16:creationId xmlns:a16="http://schemas.microsoft.com/office/drawing/2014/main" id="{C54309C5-8C65-247A-1FCE-BDB123D92062}"/>
                    </a:ext>
                  </a:extLst>
                </p:cNvPr>
                <p:cNvPicPr/>
                <p:nvPr/>
              </p:nvPicPr>
              <p:blipFill>
                <a:blip r:embed="rId9"/>
                <a:stretch>
                  <a:fillRect/>
                </a:stretch>
              </p:blipFill>
              <p:spPr>
                <a:xfrm>
                  <a:off x="5672171" y="1106955"/>
                  <a:ext cx="439200" cy="365040"/>
                </a:xfrm>
                <a:prstGeom prst="rect">
                  <a:avLst/>
                </a:prstGeom>
              </p:spPr>
            </p:pic>
          </mc:Fallback>
        </mc:AlternateContent>
      </p:grpSp>
      <p:grpSp>
        <p:nvGrpSpPr>
          <p:cNvPr id="17" name="Group 16">
            <a:extLst>
              <a:ext uri="{FF2B5EF4-FFF2-40B4-BE49-F238E27FC236}">
                <a16:creationId xmlns:a16="http://schemas.microsoft.com/office/drawing/2014/main" id="{765BD0FD-CC5A-86D3-0007-2D413775D312}"/>
              </a:ext>
            </a:extLst>
          </p:cNvPr>
          <p:cNvGrpSpPr/>
          <p:nvPr/>
        </p:nvGrpSpPr>
        <p:grpSpPr>
          <a:xfrm>
            <a:off x="7679531" y="978795"/>
            <a:ext cx="1334160" cy="1050480"/>
            <a:chOff x="7679531" y="978795"/>
            <a:chExt cx="1334160" cy="1050480"/>
          </a:xfrm>
        </p:grpSpPr>
        <mc:AlternateContent xmlns:mc="http://schemas.openxmlformats.org/markup-compatibility/2006" xmlns:p14="http://schemas.microsoft.com/office/powerpoint/2010/main">
          <mc:Choice Requires="p14">
            <p:contentPart p14:bwMode="auto" r:id="rId10">
              <p14:nvContentPartPr>
                <p14:cNvPr id="10" name="Ink 9">
                  <a:extLst>
                    <a:ext uri="{FF2B5EF4-FFF2-40B4-BE49-F238E27FC236}">
                      <a16:creationId xmlns:a16="http://schemas.microsoft.com/office/drawing/2014/main" id="{291EBD70-0845-D8AE-E092-447695844F14}"/>
                    </a:ext>
                  </a:extLst>
                </p14:cNvPr>
                <p14:cNvContentPartPr/>
                <p14:nvPr/>
              </p14:nvContentPartPr>
              <p14:xfrm>
                <a:off x="7679531" y="1385595"/>
                <a:ext cx="143640" cy="643680"/>
              </p14:xfrm>
            </p:contentPart>
          </mc:Choice>
          <mc:Fallback xmlns="">
            <p:pic>
              <p:nvPicPr>
                <p:cNvPr id="10" name="Ink 9">
                  <a:extLst>
                    <a:ext uri="{FF2B5EF4-FFF2-40B4-BE49-F238E27FC236}">
                      <a16:creationId xmlns:a16="http://schemas.microsoft.com/office/drawing/2014/main" id="{291EBD70-0845-D8AE-E092-447695844F14}"/>
                    </a:ext>
                  </a:extLst>
                </p:cNvPr>
                <p:cNvPicPr/>
                <p:nvPr/>
              </p:nvPicPr>
              <p:blipFill>
                <a:blip r:embed="rId11"/>
                <a:stretch>
                  <a:fillRect/>
                </a:stretch>
              </p:blipFill>
              <p:spPr>
                <a:xfrm>
                  <a:off x="7643531" y="1349955"/>
                  <a:ext cx="215280" cy="7153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2" name="Ink 11">
                  <a:extLst>
                    <a:ext uri="{FF2B5EF4-FFF2-40B4-BE49-F238E27FC236}">
                      <a16:creationId xmlns:a16="http://schemas.microsoft.com/office/drawing/2014/main" id="{E4C40830-AFB4-9B5D-B9F6-C22C8F968DCB}"/>
                    </a:ext>
                  </a:extLst>
                </p14:cNvPr>
                <p14:cNvContentPartPr/>
                <p14:nvPr/>
              </p14:nvContentPartPr>
              <p14:xfrm>
                <a:off x="7836491" y="1083555"/>
                <a:ext cx="1089360" cy="559800"/>
              </p14:xfrm>
            </p:contentPart>
          </mc:Choice>
          <mc:Fallback xmlns="">
            <p:pic>
              <p:nvPicPr>
                <p:cNvPr id="12" name="Ink 11">
                  <a:extLst>
                    <a:ext uri="{FF2B5EF4-FFF2-40B4-BE49-F238E27FC236}">
                      <a16:creationId xmlns:a16="http://schemas.microsoft.com/office/drawing/2014/main" id="{E4C40830-AFB4-9B5D-B9F6-C22C8F968DCB}"/>
                    </a:ext>
                  </a:extLst>
                </p:cNvPr>
                <p:cNvPicPr/>
                <p:nvPr/>
              </p:nvPicPr>
              <p:blipFill>
                <a:blip r:embed="rId13"/>
                <a:stretch>
                  <a:fillRect/>
                </a:stretch>
              </p:blipFill>
              <p:spPr>
                <a:xfrm>
                  <a:off x="7800851" y="1047555"/>
                  <a:ext cx="1161000" cy="6314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5" name="Ink 14">
                  <a:extLst>
                    <a:ext uri="{FF2B5EF4-FFF2-40B4-BE49-F238E27FC236}">
                      <a16:creationId xmlns:a16="http://schemas.microsoft.com/office/drawing/2014/main" id="{97E98D99-F319-D54F-2969-4F5E90DF0C28}"/>
                    </a:ext>
                  </a:extLst>
                </p14:cNvPr>
                <p14:cNvContentPartPr/>
                <p14:nvPr/>
              </p14:nvContentPartPr>
              <p14:xfrm>
                <a:off x="8629571" y="978795"/>
                <a:ext cx="384120" cy="334440"/>
              </p14:xfrm>
            </p:contentPart>
          </mc:Choice>
          <mc:Fallback xmlns="">
            <p:pic>
              <p:nvPicPr>
                <p:cNvPr id="15" name="Ink 14">
                  <a:extLst>
                    <a:ext uri="{FF2B5EF4-FFF2-40B4-BE49-F238E27FC236}">
                      <a16:creationId xmlns:a16="http://schemas.microsoft.com/office/drawing/2014/main" id="{97E98D99-F319-D54F-2969-4F5E90DF0C28}"/>
                    </a:ext>
                  </a:extLst>
                </p:cNvPr>
                <p:cNvPicPr/>
                <p:nvPr/>
              </p:nvPicPr>
              <p:blipFill>
                <a:blip r:embed="rId15"/>
                <a:stretch>
                  <a:fillRect/>
                </a:stretch>
              </p:blipFill>
              <p:spPr>
                <a:xfrm>
                  <a:off x="8593571" y="942795"/>
                  <a:ext cx="455760" cy="406080"/>
                </a:xfrm>
                <a:prstGeom prst="rect">
                  <a:avLst/>
                </a:prstGeom>
              </p:spPr>
            </p:pic>
          </mc:Fallback>
        </mc:AlternateContent>
      </p:grpSp>
      <p:sp>
        <p:nvSpPr>
          <p:cNvPr id="18" name="TextBox 17">
            <a:extLst>
              <a:ext uri="{FF2B5EF4-FFF2-40B4-BE49-F238E27FC236}">
                <a16:creationId xmlns:a16="http://schemas.microsoft.com/office/drawing/2014/main" id="{56078016-99D0-BFF0-054E-1E37F594D33B}"/>
              </a:ext>
            </a:extLst>
          </p:cNvPr>
          <p:cNvSpPr txBox="1"/>
          <p:nvPr/>
        </p:nvSpPr>
        <p:spPr>
          <a:xfrm>
            <a:off x="6415088" y="421481"/>
            <a:ext cx="1295035" cy="369332"/>
          </a:xfrm>
          <a:prstGeom prst="rect">
            <a:avLst/>
          </a:prstGeom>
          <a:noFill/>
        </p:spPr>
        <p:txBody>
          <a:bodyPr wrap="none" rtlCol="0">
            <a:spAutoFit/>
          </a:bodyPr>
          <a:lstStyle/>
          <a:p>
            <a:r>
              <a:rPr lang="fr-FR" b="1" dirty="0" err="1"/>
              <a:t>Log</a:t>
            </a:r>
            <a:r>
              <a:rPr lang="fr-FR" dirty="0" err="1"/>
              <a:t>SoftMax</a:t>
            </a:r>
            <a:endParaRPr lang="fr-FR" dirty="0"/>
          </a:p>
        </p:txBody>
      </p:sp>
      <p:sp>
        <p:nvSpPr>
          <p:cNvPr id="19" name="TextBox 18">
            <a:extLst>
              <a:ext uri="{FF2B5EF4-FFF2-40B4-BE49-F238E27FC236}">
                <a16:creationId xmlns:a16="http://schemas.microsoft.com/office/drawing/2014/main" id="{F3D4C484-FE6D-61CF-E936-8CC25BFA99FB}"/>
              </a:ext>
            </a:extLst>
          </p:cNvPr>
          <p:cNvSpPr txBox="1"/>
          <p:nvPr/>
        </p:nvSpPr>
        <p:spPr>
          <a:xfrm>
            <a:off x="9165545" y="599493"/>
            <a:ext cx="1319079" cy="369332"/>
          </a:xfrm>
          <a:prstGeom prst="rect">
            <a:avLst/>
          </a:prstGeom>
          <a:noFill/>
        </p:spPr>
        <p:txBody>
          <a:bodyPr wrap="none" rtlCol="0">
            <a:spAutoFit/>
          </a:bodyPr>
          <a:lstStyle/>
          <a:p>
            <a:r>
              <a:rPr lang="fr-FR" dirty="0" err="1"/>
              <a:t>Log</a:t>
            </a:r>
            <a:r>
              <a:rPr lang="fr-FR" b="1" dirty="0" err="1"/>
              <a:t>SoftMax</a:t>
            </a:r>
            <a:endParaRPr lang="fr-FR" b="1" dirty="0"/>
          </a:p>
        </p:txBody>
      </p:sp>
    </p:spTree>
    <p:extLst>
      <p:ext uri="{BB962C8B-B14F-4D97-AF65-F5344CB8AC3E}">
        <p14:creationId xmlns:p14="http://schemas.microsoft.com/office/powerpoint/2010/main" val="2924753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Why SoftMax?</a:t>
            </a:r>
          </a:p>
        </p:txBody>
      </p:sp>
      <p:pic>
        <p:nvPicPr>
          <p:cNvPr id="8" name="Picture 7">
            <a:extLst>
              <a:ext uri="{FF2B5EF4-FFF2-40B4-BE49-F238E27FC236}">
                <a16:creationId xmlns:a16="http://schemas.microsoft.com/office/drawing/2014/main" id="{1C784F72-ABB9-6954-7273-41629449F3CD}"/>
              </a:ext>
            </a:extLst>
          </p:cNvPr>
          <p:cNvPicPr>
            <a:picLocks noChangeAspect="1"/>
          </p:cNvPicPr>
          <p:nvPr/>
        </p:nvPicPr>
        <p:blipFill>
          <a:blip r:embed="rId3"/>
          <a:stretch>
            <a:fillRect/>
          </a:stretch>
        </p:blipFill>
        <p:spPr>
          <a:xfrm>
            <a:off x="904150" y="1690688"/>
            <a:ext cx="10528841" cy="4191215"/>
          </a:xfrm>
          <a:prstGeom prst="rect">
            <a:avLst/>
          </a:prstGeom>
        </p:spPr>
      </p:pic>
      <p:sp>
        <p:nvSpPr>
          <p:cNvPr id="14" name="TextBox 13">
            <a:extLst>
              <a:ext uri="{FF2B5EF4-FFF2-40B4-BE49-F238E27FC236}">
                <a16:creationId xmlns:a16="http://schemas.microsoft.com/office/drawing/2014/main" id="{03D26BCF-AFB6-9D1A-37AF-F350AB7BBCF7}"/>
              </a:ext>
            </a:extLst>
          </p:cNvPr>
          <p:cNvSpPr txBox="1"/>
          <p:nvPr/>
        </p:nvSpPr>
        <p:spPr>
          <a:xfrm>
            <a:off x="6371771" y="6154057"/>
            <a:ext cx="5341014" cy="923330"/>
          </a:xfrm>
          <a:prstGeom prst="rect">
            <a:avLst/>
          </a:prstGeom>
          <a:noFill/>
        </p:spPr>
        <p:txBody>
          <a:bodyPr wrap="none" rtlCol="0">
            <a:spAutoFit/>
          </a:bodyPr>
          <a:lstStyle/>
          <a:p>
            <a:pPr algn="l"/>
            <a:r>
              <a:rPr lang="fr-FR" dirty="0" err="1"/>
              <a:t>From</a:t>
            </a:r>
            <a:r>
              <a:rPr lang="fr-FR" dirty="0"/>
              <a:t> </a:t>
            </a:r>
            <a:r>
              <a:rPr lang="en-US" i="1" dirty="0"/>
              <a:t>Intuitively Understanding the Cross Entropy Loss</a:t>
            </a:r>
          </a:p>
          <a:p>
            <a:r>
              <a:rPr lang="en-US" dirty="0" err="1"/>
              <a:t>Adian</a:t>
            </a:r>
            <a:r>
              <a:rPr lang="en-US" dirty="0"/>
              <a:t> </a:t>
            </a:r>
            <a:r>
              <a:rPr lang="en-US" dirty="0" err="1"/>
              <a:t>Liusie</a:t>
            </a:r>
            <a:r>
              <a:rPr lang="en-US" dirty="0"/>
              <a:t> 2021</a:t>
            </a:r>
            <a:br>
              <a:rPr lang="en-US" dirty="0"/>
            </a:br>
            <a:endParaRPr lang="fr-FR" dirty="0"/>
          </a:p>
        </p:txBody>
      </p:sp>
    </p:spTree>
    <p:extLst>
      <p:ext uri="{BB962C8B-B14F-4D97-AF65-F5344CB8AC3E}">
        <p14:creationId xmlns:p14="http://schemas.microsoft.com/office/powerpoint/2010/main" val="1799763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213D2F-A106-3319-AA98-37F0C11F906C}"/>
              </a:ext>
            </a:extLst>
          </p:cNvPr>
          <p:cNvSpPr>
            <a:spLocks noGrp="1"/>
          </p:cNvSpPr>
          <p:nvPr>
            <p:ph type="title"/>
          </p:nvPr>
        </p:nvSpPr>
        <p:spPr/>
        <p:txBody>
          <a:bodyPr/>
          <a:lstStyle/>
          <a:p>
            <a:r>
              <a:rPr lang="en-US" dirty="0"/>
              <a:t>Losses</a:t>
            </a:r>
          </a:p>
        </p:txBody>
      </p:sp>
      <p:pic>
        <p:nvPicPr>
          <p:cNvPr id="2" name="Picture 2" descr="equation ">
            <a:extLst>
              <a:ext uri="{FF2B5EF4-FFF2-40B4-BE49-F238E27FC236}">
                <a16:creationId xmlns:a16="http://schemas.microsoft.com/office/drawing/2014/main" id="{D68EB52A-CEDB-A34D-1BD3-9521160205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81550" y="1690688"/>
            <a:ext cx="2628900" cy="3810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820A7B5-540A-E866-E1F3-453C80A5D422}"/>
              </a:ext>
            </a:extLst>
          </p:cNvPr>
          <p:cNvSpPr txBox="1"/>
          <p:nvPr/>
        </p:nvSpPr>
        <p:spPr>
          <a:xfrm>
            <a:off x="5229225" y="2092762"/>
            <a:ext cx="1733550" cy="369332"/>
          </a:xfrm>
          <a:prstGeom prst="rect">
            <a:avLst/>
          </a:prstGeom>
          <a:noFill/>
        </p:spPr>
        <p:txBody>
          <a:bodyPr wrap="square">
            <a:spAutoFit/>
          </a:bodyPr>
          <a:lstStyle/>
          <a:p>
            <a:r>
              <a:rPr lang="fr-FR" dirty="0">
                <a:solidFill>
                  <a:schemeClr val="bg1"/>
                </a:solidFill>
                <a:highlight>
                  <a:srgbClr val="000000"/>
                </a:highlight>
              </a:rPr>
              <a:t>torch.nn.L1Loss</a:t>
            </a:r>
          </a:p>
        </p:txBody>
      </p:sp>
      <p:pic>
        <p:nvPicPr>
          <p:cNvPr id="1029" name="Picture 5" descr="equation">
            <a:extLst>
              <a:ext uri="{FF2B5EF4-FFF2-40B4-BE49-F238E27FC236}">
                <a16:creationId xmlns:a16="http://schemas.microsoft.com/office/drawing/2014/main" id="{F44832C7-4007-01E9-3556-01CF36003AE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810125" y="3025140"/>
            <a:ext cx="2571750" cy="4572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4BE71FDB-4B68-BE54-C264-9F201199579E}"/>
              </a:ext>
            </a:extLst>
          </p:cNvPr>
          <p:cNvSpPr txBox="1"/>
          <p:nvPr/>
        </p:nvSpPr>
        <p:spPr>
          <a:xfrm>
            <a:off x="3048000" y="3482340"/>
            <a:ext cx="6096000" cy="369332"/>
          </a:xfrm>
          <a:prstGeom prst="rect">
            <a:avLst/>
          </a:prstGeom>
          <a:noFill/>
        </p:spPr>
        <p:txBody>
          <a:bodyPr wrap="square">
            <a:spAutoFit/>
          </a:bodyPr>
          <a:lstStyle/>
          <a:p>
            <a:pPr algn="ctr"/>
            <a:r>
              <a:rPr lang="fr-FR" dirty="0" err="1">
                <a:solidFill>
                  <a:schemeClr val="bg1"/>
                </a:solidFill>
                <a:highlight>
                  <a:srgbClr val="000000"/>
                </a:highlight>
              </a:rPr>
              <a:t>torch.nn.MSELoss</a:t>
            </a:r>
            <a:endParaRPr lang="fr-FR" dirty="0">
              <a:solidFill>
                <a:schemeClr val="bg1"/>
              </a:solidFill>
              <a:highlight>
                <a:srgbClr val="000000"/>
              </a:highlight>
            </a:endParaRPr>
          </a:p>
        </p:txBody>
      </p:sp>
      <p:pic>
        <p:nvPicPr>
          <p:cNvPr id="4" name="Picture 3">
            <a:extLst>
              <a:ext uri="{FF2B5EF4-FFF2-40B4-BE49-F238E27FC236}">
                <a16:creationId xmlns:a16="http://schemas.microsoft.com/office/drawing/2014/main" id="{61094542-D845-1E4A-FE59-FB1D36660A5A}"/>
              </a:ext>
            </a:extLst>
          </p:cNvPr>
          <p:cNvPicPr>
            <a:picLocks noChangeAspect="1"/>
          </p:cNvPicPr>
          <p:nvPr/>
        </p:nvPicPr>
        <p:blipFill>
          <a:blip r:embed="rId5"/>
          <a:stretch>
            <a:fillRect/>
          </a:stretch>
        </p:blipFill>
        <p:spPr>
          <a:xfrm>
            <a:off x="4534894" y="4375119"/>
            <a:ext cx="3233532" cy="1197604"/>
          </a:xfrm>
          <a:prstGeom prst="rect">
            <a:avLst/>
          </a:prstGeom>
        </p:spPr>
      </p:pic>
      <p:sp>
        <p:nvSpPr>
          <p:cNvPr id="8" name="TextBox 7">
            <a:extLst>
              <a:ext uri="{FF2B5EF4-FFF2-40B4-BE49-F238E27FC236}">
                <a16:creationId xmlns:a16="http://schemas.microsoft.com/office/drawing/2014/main" id="{484F88F5-7534-568C-818F-4F00F995B7A5}"/>
              </a:ext>
            </a:extLst>
          </p:cNvPr>
          <p:cNvSpPr txBox="1"/>
          <p:nvPr/>
        </p:nvSpPr>
        <p:spPr>
          <a:xfrm>
            <a:off x="3104323" y="5643324"/>
            <a:ext cx="6094674" cy="369332"/>
          </a:xfrm>
          <a:prstGeom prst="rect">
            <a:avLst/>
          </a:prstGeom>
          <a:noFill/>
        </p:spPr>
        <p:txBody>
          <a:bodyPr wrap="square">
            <a:spAutoFit/>
          </a:bodyPr>
          <a:lstStyle/>
          <a:p>
            <a:pPr algn="ctr"/>
            <a:r>
              <a:rPr lang="fr-FR" dirty="0" err="1">
                <a:solidFill>
                  <a:schemeClr val="bg1"/>
                </a:solidFill>
                <a:highlight>
                  <a:srgbClr val="000000"/>
                </a:highlight>
              </a:rPr>
              <a:t>LogSoftmax</a:t>
            </a:r>
            <a:r>
              <a:rPr lang="fr-FR" dirty="0">
                <a:solidFill>
                  <a:schemeClr val="bg1"/>
                </a:solidFill>
                <a:highlight>
                  <a:srgbClr val="000000"/>
                </a:highlight>
              </a:rPr>
              <a:t> + </a:t>
            </a:r>
            <a:r>
              <a:rPr lang="fr-FR" dirty="0" err="1">
                <a:solidFill>
                  <a:schemeClr val="bg1"/>
                </a:solidFill>
                <a:highlight>
                  <a:srgbClr val="000000"/>
                </a:highlight>
              </a:rPr>
              <a:t>torch.nn.NLLLoss</a:t>
            </a:r>
            <a:r>
              <a:rPr lang="fr-FR" dirty="0">
                <a:solidFill>
                  <a:schemeClr val="bg1"/>
                </a:solidFill>
              </a:rPr>
              <a:t> </a:t>
            </a:r>
            <a:r>
              <a:rPr lang="fr-FR" dirty="0"/>
              <a:t>or</a:t>
            </a:r>
            <a:r>
              <a:rPr lang="fr-FR" dirty="0">
                <a:solidFill>
                  <a:schemeClr val="bg1"/>
                </a:solidFill>
              </a:rPr>
              <a:t> </a:t>
            </a:r>
            <a:r>
              <a:rPr lang="fr-FR" dirty="0" err="1">
                <a:solidFill>
                  <a:schemeClr val="bg1"/>
                </a:solidFill>
                <a:highlight>
                  <a:srgbClr val="000000"/>
                </a:highlight>
              </a:rPr>
              <a:t>torch.nn.CrossEntropyLoss</a:t>
            </a:r>
            <a:endParaRPr lang="fr-FR" dirty="0">
              <a:solidFill>
                <a:schemeClr val="bg1"/>
              </a:solidFill>
              <a:highlight>
                <a:srgbClr val="000000"/>
              </a:highlight>
            </a:endParaRPr>
          </a:p>
        </p:txBody>
      </p:sp>
    </p:spTree>
    <p:extLst>
      <p:ext uri="{BB962C8B-B14F-4D97-AF65-F5344CB8AC3E}">
        <p14:creationId xmlns:p14="http://schemas.microsoft.com/office/powerpoint/2010/main" val="13962635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3979</TotalTime>
  <Words>2028</Words>
  <Application>Microsoft Office PowerPoint</Application>
  <PresentationFormat>Widescreen</PresentationFormat>
  <Paragraphs>153</Paragraphs>
  <Slides>25</Slides>
  <Notes>21</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25</vt:i4>
      </vt:variant>
    </vt:vector>
  </HeadingPairs>
  <TitlesOfParts>
    <vt:vector size="36" baseType="lpstr">
      <vt:lpstr>-apple-system</vt:lpstr>
      <vt:lpstr>Arial</vt:lpstr>
      <vt:lpstr>Arial</vt:lpstr>
      <vt:lpstr>Calibri</vt:lpstr>
      <vt:lpstr>Calibri Light</vt:lpstr>
      <vt:lpstr>Cambria Math</vt:lpstr>
      <vt:lpstr>Courier New</vt:lpstr>
      <vt:lpstr>FreightSans</vt:lpstr>
      <vt:lpstr>MathJax_Math-italic</vt:lpstr>
      <vt:lpstr>ui-monospace</vt:lpstr>
      <vt:lpstr>Office Theme</vt:lpstr>
      <vt:lpstr>Optimizers’ review and different techniques to improve your Neural Network</vt:lpstr>
      <vt:lpstr>Outline of the class</vt:lpstr>
      <vt:lpstr>Optimizers’ review</vt:lpstr>
      <vt:lpstr>Optimizers’ review</vt:lpstr>
      <vt:lpstr>SGD</vt:lpstr>
      <vt:lpstr>SGD</vt:lpstr>
      <vt:lpstr>SGD</vt:lpstr>
      <vt:lpstr>Momentum</vt:lpstr>
      <vt:lpstr>Learning rate per parameter</vt:lpstr>
      <vt:lpstr>Learning rate scheduling</vt:lpstr>
      <vt:lpstr>Learning rate scheduling</vt:lpstr>
      <vt:lpstr>Learning rate scheduling</vt:lpstr>
      <vt:lpstr>We will explore different optimizers, different learning rates schedulers in TD no worries!</vt:lpstr>
      <vt:lpstr>Gradient clipping</vt:lpstr>
      <vt:lpstr>Gradient clipping</vt:lpstr>
      <vt:lpstr>Batch normalization</vt:lpstr>
      <vt:lpstr>Batch normalization</vt:lpstr>
      <vt:lpstr>Dropout</vt:lpstr>
      <vt:lpstr>Losses</vt:lpstr>
      <vt:lpstr>Losses</vt:lpstr>
      <vt:lpstr>Losses</vt:lpstr>
      <vt:lpstr>Losses</vt:lpstr>
      <vt:lpstr>Losses</vt:lpstr>
      <vt:lpstr>Why SoftMax?</vt:lpstr>
      <vt:lpstr>Losses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PyTorch</dc:title>
  <dc:creator>Paul Dubois</dc:creator>
  <cp:lastModifiedBy>Romain Lhotte</cp:lastModifiedBy>
  <cp:revision>160</cp:revision>
  <dcterms:created xsi:type="dcterms:W3CDTF">2023-01-03T10:31:33Z</dcterms:created>
  <dcterms:modified xsi:type="dcterms:W3CDTF">2026-01-09T19:05:28Z</dcterms:modified>
</cp:coreProperties>
</file>